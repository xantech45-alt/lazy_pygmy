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sldIdLst>
    <p:sldId id="399" r:id="rId6"/>
    <p:sldId id="335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393" r:id="rId15"/>
    <p:sldId id="394" r:id="rId16"/>
    <p:sldId id="395" r:id="rId17"/>
    <p:sldId id="396" r:id="rId18"/>
    <p:sldId id="397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422" r:id="rId34"/>
    <p:sldId id="42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Revenue</c:v>
          </c:tx>
          <c:spPr>
            <a:ln w="22225" cap="rnd">
              <a:solidFill>
                <a:srgbClr val="2559A8"/>
              </a:solidFill>
              <a:round/>
            </a:ln>
          </c:spPr>
          <c:marker>
            <c:symbol val="circle"/>
            <c:size val="4"/>
            <c:spPr>
              <a:solidFill>
                <a:srgbClr val="2559A8"/>
              </a:solidFill>
              <a:ln>
                <a:solidFill>
                  <a:srgbClr val="FFFFFF"/>
                </a:solidFill>
              </a:ln>
            </c:spPr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#,##0</c:formatCode>
              <c:ptCount val="12"/>
              <c:pt idx="0">
                <c:v>12400</c:v>
              </c:pt>
              <c:pt idx="1">
                <c:v>13150</c:v>
              </c:pt>
              <c:pt idx="2">
                <c:v>14980</c:v>
              </c:pt>
              <c:pt idx="3">
                <c:v>12720</c:v>
              </c:pt>
              <c:pt idx="4">
                <c:v>15340</c:v>
              </c:pt>
              <c:pt idx="5">
                <c:v>11890</c:v>
              </c:pt>
              <c:pt idx="6">
                <c:v>9640</c:v>
              </c:pt>
              <c:pt idx="7">
                <c:v>16720</c:v>
              </c:pt>
              <c:pt idx="8">
                <c:v>21480</c:v>
              </c:pt>
              <c:pt idx="9">
                <c:v>17950</c:v>
              </c:pt>
              <c:pt idx="10">
                <c:v>16240</c:v>
              </c:pt>
              <c:pt idx="11">
                <c:v>18640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793-46FC-8C6B-490E0A802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"/>
        <c:axId val="102"/>
      </c:lineChart>
      <c:catAx>
        <c:axId val="1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C9CFD8"/>
            </a:solidFill>
          </a:ln>
        </c:spPr>
        <c:txPr>
          <a:bodyPr/>
          <a:lstStyle/>
          <a:p>
            <a:pPr>
              <a:defRPr sz="90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>
          <c:spPr>
            <a:ln w="6350">
              <a:solidFill>
                <a:srgbClr val="E3E6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1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Sales</c:v>
          </c:tx>
          <c:invertIfNegative val="1"/>
          <c:dPt>
            <c:idx val="0"/>
            <c:invertIfNegative val="0"/>
            <c:bubble3D val="0"/>
            <c:spPr>
              <a:solidFill>
                <a:srgbClr val="255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52F-4B3B-963A-0175A96BBE4F}"/>
              </c:ext>
            </c:extLst>
          </c:dPt>
          <c:dPt>
            <c:idx val="1"/>
            <c:invertIfNegative val="0"/>
            <c:bubble3D val="0"/>
            <c:spPr>
              <a:solidFill>
                <a:srgbClr val="24AA9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52F-4B3B-963A-0175A96BBE4F}"/>
              </c:ext>
            </c:extLst>
          </c:dPt>
          <c:dPt>
            <c:idx val="2"/>
            <c:invertIfNegative val="0"/>
            <c:bubble3D val="0"/>
            <c:spPr>
              <a:solidFill>
                <a:srgbClr val="65C1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52F-4B3B-963A-0175A96BBE4F}"/>
              </c:ext>
            </c:extLst>
          </c:dPt>
          <c:dPt>
            <c:idx val="3"/>
            <c:invertIfNegative val="0"/>
            <c:bubble3D val="0"/>
            <c:spPr>
              <a:solidFill>
                <a:srgbClr val="D087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52F-4B3B-963A-0175A96BBE4F}"/>
              </c:ext>
            </c:extLst>
          </c:dPt>
          <c:dPt>
            <c:idx val="4"/>
            <c:invertIfNegative val="0"/>
            <c:bubble3D val="0"/>
            <c:spPr>
              <a:solidFill>
                <a:srgbClr val="B3261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52F-4B3B-963A-0175A96BBE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1014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Books</c:v>
              </c:pt>
              <c:pt idx="1">
                <c:v>Puzzles</c:v>
              </c:pt>
              <c:pt idx="2">
                <c:v>Alpha Cards</c:v>
              </c:pt>
              <c:pt idx="3">
                <c:v>Game Cards</c:v>
              </c:pt>
              <c:pt idx="4">
                <c:v>Copybooks</c:v>
              </c:pt>
            </c:strLit>
          </c:cat>
          <c:val>
            <c:numLit>
              <c:formatCode>#,##0</c:formatCode>
              <c:ptCount val="5"/>
              <c:pt idx="0">
                <c:v>7420</c:v>
              </c:pt>
              <c:pt idx="1">
                <c:v>3880</c:v>
              </c:pt>
              <c:pt idx="2">
                <c:v>2650</c:v>
              </c:pt>
              <c:pt idx="3">
                <c:v>2410</c:v>
              </c:pt>
              <c:pt idx="4">
                <c:v>2280</c:v>
              </c:pt>
            </c:numLit>
          </c:val>
          <c:extLst>
            <c:ext xmlns:c16="http://schemas.microsoft.com/office/drawing/2014/chart" uri="{C3380CC4-5D6E-409C-BE32-E72D297353CC}">
              <c16:uniqueId val="{0000000A-A52F-4B3B-963A-0175A96BBE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1"/>
        <c:axId val="202"/>
      </c:barChart>
      <c:catAx>
        <c:axId val="2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C9CFD8"/>
            </a:solidFill>
          </a:ln>
        </c:spPr>
        <c:txPr>
          <a:bodyPr/>
          <a:lstStyle/>
          <a:p>
            <a:pPr>
              <a:defRPr sz="85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202"/>
        <c:crosses val="autoZero"/>
        <c:auto val="1"/>
        <c:lblAlgn val="ctr"/>
        <c:lblOffset val="100"/>
        <c:noMultiLvlLbl val="0"/>
      </c:catAx>
      <c:valAx>
        <c:axId val="202"/>
        <c:scaling>
          <c:orientation val="minMax"/>
        </c:scaling>
        <c:delete val="0"/>
        <c:axPos val="l"/>
        <c:majorGridlines>
          <c:spPr>
            <a:ln w="6350">
              <a:solidFill>
                <a:srgbClr val="E3E6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2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Units</c:v>
          </c:tx>
          <c:dPt>
            <c:idx val="0"/>
            <c:bubble3D val="0"/>
            <c:spPr>
              <a:solidFill>
                <a:srgbClr val="255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A3-4DFD-9EED-3325E394D7DF}"/>
              </c:ext>
            </c:extLst>
          </c:dPt>
          <c:dPt>
            <c:idx val="1"/>
            <c:bubble3D val="0"/>
            <c:spPr>
              <a:solidFill>
                <a:srgbClr val="24AA9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A3-4DFD-9EED-3325E394D7DF}"/>
              </c:ext>
            </c:extLst>
          </c:dPt>
          <c:dPt>
            <c:idx val="2"/>
            <c:bubble3D val="0"/>
            <c:spPr>
              <a:solidFill>
                <a:srgbClr val="65C1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A3-4DFD-9EED-3325E394D7DF}"/>
              </c:ext>
            </c:extLst>
          </c:dPt>
          <c:dPt>
            <c:idx val="3"/>
            <c:bubble3D val="0"/>
            <c:spPr>
              <a:solidFill>
                <a:srgbClr val="D087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A3-4DFD-9EED-3325E394D7DF}"/>
              </c:ext>
            </c:extLst>
          </c:dPt>
          <c:dPt>
            <c:idx val="4"/>
            <c:bubble3D val="0"/>
            <c:spPr>
              <a:solidFill>
                <a:srgbClr val="B3261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1A3-4DFD-9EED-3325E394D7DF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850" b="1">
                      <a:solidFill>
                        <a:srgbClr val="1014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F1A3-4DFD-9EED-3325E394D7DF}"/>
                </c:ext>
              </c:extLst>
            </c:dLbl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5"/>
              <c:pt idx="0">
                <c:v>Books</c:v>
              </c:pt>
              <c:pt idx="1">
                <c:v>Puzzles</c:v>
              </c:pt>
              <c:pt idx="2">
                <c:v>Alphabet Cards</c:v>
              </c:pt>
              <c:pt idx="3">
                <c:v>Game Cards</c:v>
              </c:pt>
              <c:pt idx="4">
                <c:v>Copybooks</c:v>
              </c:pt>
            </c:strLit>
          </c:cat>
          <c:val>
            <c:numLit>
              <c:formatCode>#,##0</c:formatCode>
              <c:ptCount val="5"/>
              <c:pt idx="0">
                <c:v>6240</c:v>
              </c:pt>
              <c:pt idx="1">
                <c:v>3180</c:v>
              </c:pt>
              <c:pt idx="2">
                <c:v>2930</c:v>
              </c:pt>
              <c:pt idx="3">
                <c:v>2610</c:v>
              </c:pt>
              <c:pt idx="4">
                <c:v>3490</c:v>
              </c:pt>
            </c:numLit>
          </c:val>
          <c:extLst>
            <c:ext xmlns:c16="http://schemas.microsoft.com/office/drawing/2014/chart" uri="{C3380CC4-5D6E-409C-BE32-E72D297353CC}">
              <c16:uniqueId val="{0000000A-F1A3-4DFD-9EED-3325E394D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legend>
      <c:legendPos val="r"/>
      <c:overlay val="0"/>
      <c:txPr>
        <a:bodyPr/>
        <a:lstStyle/>
        <a:p>
          <a:pPr>
            <a:defRPr sz="850">
              <a:solidFill>
                <a:srgbClr val="5B6572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Units</c:v>
          </c:tx>
          <c:invertIfNegative val="1"/>
          <c:dPt>
            <c:idx val="0"/>
            <c:invertIfNegative val="0"/>
            <c:bubble3D val="0"/>
            <c:spPr>
              <a:solidFill>
                <a:srgbClr val="255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6AF-4F03-BE60-2A91B42422B3}"/>
              </c:ext>
            </c:extLst>
          </c:dPt>
          <c:dPt>
            <c:idx val="1"/>
            <c:invertIfNegative val="0"/>
            <c:bubble3D val="0"/>
            <c:spPr>
              <a:solidFill>
                <a:srgbClr val="24AA9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6AF-4F03-BE60-2A91B42422B3}"/>
              </c:ext>
            </c:extLst>
          </c:dPt>
          <c:dPt>
            <c:idx val="2"/>
            <c:invertIfNegative val="0"/>
            <c:bubble3D val="0"/>
            <c:spPr>
              <a:solidFill>
                <a:srgbClr val="65C1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6AF-4F03-BE60-2A91B42422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WH-01 Central</c:v>
              </c:pt>
              <c:pt idx="1">
                <c:v>WH-02 Paynesville</c:v>
              </c:pt>
              <c:pt idx="2">
                <c:v>WH-03 Gbarnga</c:v>
              </c:pt>
            </c:strLit>
          </c:cat>
          <c:val>
            <c:numLit>
              <c:formatCode>#,##0</c:formatCode>
              <c:ptCount val="3"/>
              <c:pt idx="0">
                <c:v>8940</c:v>
              </c:pt>
              <c:pt idx="1">
                <c:v>5720</c:v>
              </c:pt>
              <c:pt idx="2">
                <c:v>3790</c:v>
              </c:pt>
            </c:numLit>
          </c:val>
          <c:extLst>
            <c:ext xmlns:c16="http://schemas.microsoft.com/office/drawing/2014/chart" uri="{C3380CC4-5D6E-409C-BE32-E72D297353CC}">
              <c16:uniqueId val="{00000006-06AF-4F03-BE60-2A91B4242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301"/>
        <c:axId val="302"/>
      </c:barChart>
      <c:catAx>
        <c:axId val="3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350">
            <a:solidFill>
              <a:srgbClr val="C9CFD8"/>
            </a:solidFill>
          </a:ln>
        </c:spPr>
        <c:txPr>
          <a:bodyPr/>
          <a:lstStyle/>
          <a:p>
            <a:pPr>
              <a:defRPr sz="85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302"/>
        <c:crosses val="autoZero"/>
        <c:auto val="1"/>
        <c:lblAlgn val="ctr"/>
        <c:lblOffset val="100"/>
        <c:noMultiLvlLbl val="0"/>
      </c:catAx>
      <c:valAx>
        <c:axId val="302"/>
        <c:scaling>
          <c:orientation val="minMax"/>
        </c:scaling>
        <c:delete val="1"/>
        <c:axPos val="b"/>
        <c:majorGridlines>
          <c:spPr>
            <a:ln w="6350">
              <a:solidFill>
                <a:srgbClr val="E3E6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3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Units</c:v>
          </c:tx>
          <c:invertIfNegative val="1"/>
          <c:dPt>
            <c:idx val="0"/>
            <c:invertIfNegative val="0"/>
            <c:bubble3D val="0"/>
            <c:spPr>
              <a:solidFill>
                <a:srgbClr val="255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65A-4C1C-9655-6109D473FB19}"/>
              </c:ext>
            </c:extLst>
          </c:dPt>
          <c:dPt>
            <c:idx val="1"/>
            <c:invertIfNegative val="0"/>
            <c:bubble3D val="0"/>
            <c:spPr>
              <a:solidFill>
                <a:srgbClr val="255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65A-4C1C-9655-6109D473FB19}"/>
              </c:ext>
            </c:extLst>
          </c:dPt>
          <c:dPt>
            <c:idx val="2"/>
            <c:invertIfNegative val="0"/>
            <c:bubble3D val="0"/>
            <c:spPr>
              <a:solidFill>
                <a:srgbClr val="24AA9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65A-4C1C-9655-6109D473FB19}"/>
              </c:ext>
            </c:extLst>
          </c:dPt>
          <c:dPt>
            <c:idx val="3"/>
            <c:invertIfNegative val="0"/>
            <c:bubble3D val="0"/>
            <c:spPr>
              <a:solidFill>
                <a:srgbClr val="24AA9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65A-4C1C-9655-6109D473FB19}"/>
              </c:ext>
            </c:extLst>
          </c:dPt>
          <c:dPt>
            <c:idx val="4"/>
            <c:invertIfNegative val="0"/>
            <c:bubble3D val="0"/>
            <c:spPr>
              <a:solidFill>
                <a:srgbClr val="65C1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165A-4C1C-9655-6109D473FB1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ABC Beginner Book</c:v>
              </c:pt>
              <c:pt idx="1">
                <c:v>Handwriting Copybook</c:v>
              </c:pt>
              <c:pt idx="2">
                <c:v>Animal Puzzle</c:v>
              </c:pt>
              <c:pt idx="3">
                <c:v>Memory Match Cards</c:v>
              </c:pt>
              <c:pt idx="4">
                <c:v>Alphabet Flashcards</c:v>
              </c:pt>
            </c:strLit>
          </c:cat>
          <c:val>
            <c:numLit>
              <c:formatCode>#,##0</c:formatCode>
              <c:ptCount val="5"/>
              <c:pt idx="0">
                <c:v>1240</c:v>
              </c:pt>
              <c:pt idx="1">
                <c:v>980</c:v>
              </c:pt>
              <c:pt idx="2">
                <c:v>860</c:v>
              </c:pt>
              <c:pt idx="3">
                <c:v>740</c:v>
              </c:pt>
              <c:pt idx="4">
                <c:v>620</c:v>
              </c:pt>
            </c:numLit>
          </c:val>
          <c:extLst>
            <c:ext xmlns:c16="http://schemas.microsoft.com/office/drawing/2014/chart" uri="{C3380CC4-5D6E-409C-BE32-E72D297353CC}">
              <c16:uniqueId val="{0000000A-165A-4C1C-9655-6109D473FB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401"/>
        <c:axId val="402"/>
      </c:barChart>
      <c:catAx>
        <c:axId val="4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350">
            <a:solidFill>
              <a:srgbClr val="C9CFD8"/>
            </a:solidFill>
          </a:ln>
        </c:spPr>
        <c:txPr>
          <a:bodyPr/>
          <a:lstStyle/>
          <a:p>
            <a:pPr>
              <a:defRPr sz="85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402"/>
        <c:crosses val="autoZero"/>
        <c:auto val="1"/>
        <c:lblAlgn val="ctr"/>
        <c:lblOffset val="100"/>
        <c:noMultiLvlLbl val="0"/>
      </c:catAx>
      <c:valAx>
        <c:axId val="402"/>
        <c:scaling>
          <c:orientation val="minMax"/>
        </c:scaling>
        <c:delete val="1"/>
        <c:axPos val="b"/>
        <c:majorGridlines>
          <c:spPr>
            <a:ln w="6350">
              <a:solidFill>
                <a:srgbClr val="E3E6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4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Orders</c:v>
          </c:tx>
          <c:dPt>
            <c:idx val="0"/>
            <c:bubble3D val="0"/>
            <c:spPr>
              <a:solidFill>
                <a:srgbClr val="1E8E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B31-4BD7-9DA3-EE1C84DAF883}"/>
              </c:ext>
            </c:extLst>
          </c:dPt>
          <c:dPt>
            <c:idx val="1"/>
            <c:bubble3D val="0"/>
            <c:spPr>
              <a:solidFill>
                <a:srgbClr val="D087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B31-4BD7-9DA3-EE1C84DAF883}"/>
              </c:ext>
            </c:extLst>
          </c:dPt>
          <c:dPt>
            <c:idx val="2"/>
            <c:bubble3D val="0"/>
            <c:spPr>
              <a:solidFill>
                <a:srgbClr val="2C6EC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B31-4BD7-9DA3-EE1C84DAF883}"/>
              </c:ext>
            </c:extLst>
          </c:dPt>
          <c:dPt>
            <c:idx val="3"/>
            <c:bubble3D val="0"/>
            <c:spPr>
              <a:solidFill>
                <a:srgbClr val="B3261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B31-4BD7-9DA3-EE1C84DAF88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4"/>
              <c:pt idx="0">
                <c:v>Delivered</c:v>
              </c:pt>
              <c:pt idx="1">
                <c:v>Packed / Dispatched</c:v>
              </c:pt>
              <c:pt idx="2">
                <c:v>Processing</c:v>
              </c:pt>
              <c:pt idx="3">
                <c:v>Cancelled</c:v>
              </c:pt>
            </c:strLit>
          </c:cat>
          <c:val>
            <c:numLit>
              <c:formatCode>#,##0</c:formatCode>
              <c:ptCount val="4"/>
              <c:pt idx="0">
                <c:v>168</c:v>
              </c:pt>
              <c:pt idx="1">
                <c:v>60</c:v>
              </c:pt>
              <c:pt idx="2">
                <c:v>42</c:v>
              </c:pt>
              <c:pt idx="3">
                <c:v>16</c:v>
              </c:pt>
            </c:numLit>
          </c:val>
          <c:extLst>
            <c:ext xmlns:c16="http://schemas.microsoft.com/office/drawing/2014/chart" uri="{C3380CC4-5D6E-409C-BE32-E72D297353CC}">
              <c16:uniqueId val="{00000008-7B31-4BD7-9DA3-EE1C84DAF8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572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Units received</c:v>
          </c:tx>
          <c:spPr>
            <a:solidFill>
              <a:srgbClr val="2559A8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1014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Aug</c:v>
              </c:pt>
              <c:pt idx="1">
                <c:v>Sep</c:v>
              </c:pt>
              <c:pt idx="2">
                <c:v>Oct</c:v>
              </c:pt>
              <c:pt idx="3">
                <c:v>Nov</c:v>
              </c:pt>
              <c:pt idx="4">
                <c:v>Dec</c:v>
              </c:pt>
              <c:pt idx="5">
                <c:v>Jan</c:v>
              </c:pt>
            </c:strLit>
          </c:cat>
          <c:val>
            <c:numLit>
              <c:formatCode>#,##0</c:formatCode>
              <c:ptCount val="6"/>
              <c:pt idx="0">
                <c:v>180</c:v>
              </c:pt>
              <c:pt idx="1">
                <c:v>420</c:v>
              </c:pt>
              <c:pt idx="2">
                <c:v>280</c:v>
              </c:pt>
              <c:pt idx="3">
                <c:v>1420</c:v>
              </c:pt>
              <c:pt idx="4">
                <c:v>1440</c:v>
              </c:pt>
              <c:pt idx="5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B94-48D9-BED5-440C9D756B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301"/>
        <c:axId val="302"/>
      </c:barChart>
      <c:catAx>
        <c:axId val="3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C9CFD8"/>
            </a:solidFill>
          </a:ln>
        </c:spPr>
        <c:txPr>
          <a:bodyPr/>
          <a:lstStyle/>
          <a:p>
            <a:pPr>
              <a:defRPr sz="90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302"/>
        <c:crosses val="autoZero"/>
        <c:auto val="1"/>
        <c:lblAlgn val="ctr"/>
        <c:lblOffset val="100"/>
        <c:noMultiLvlLbl val="0"/>
      </c:catAx>
      <c:valAx>
        <c:axId val="302"/>
        <c:scaling>
          <c:orientation val="minMax"/>
        </c:scaling>
        <c:delete val="0"/>
        <c:axPos val="l"/>
        <c:majorGridlines>
          <c:spPr>
            <a:ln w="6350">
              <a:solidFill>
                <a:srgbClr val="E3E6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3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Lead time</c:v>
          </c:tx>
          <c:spPr>
            <a:ln w="22225" cap="rnd">
              <a:solidFill>
                <a:srgbClr val="24AA9D"/>
              </a:solidFill>
              <a:round/>
            </a:ln>
          </c:spPr>
          <c:marker>
            <c:symbol val="circle"/>
            <c:size val="4"/>
            <c:spPr>
              <a:solidFill>
                <a:srgbClr val="24AA9D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1014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Aug</c:v>
              </c:pt>
              <c:pt idx="1">
                <c:v>Sep</c:v>
              </c:pt>
              <c:pt idx="2">
                <c:v>Oct</c:v>
              </c:pt>
              <c:pt idx="3">
                <c:v>Nov</c:v>
              </c:pt>
              <c:pt idx="4">
                <c:v>Dec</c:v>
              </c:pt>
              <c:pt idx="5">
                <c:v>Jan</c:v>
              </c:pt>
            </c:strLit>
          </c:cat>
          <c:val>
            <c:numLit>
              <c:formatCode>0</c:formatCode>
              <c:ptCount val="6"/>
              <c:pt idx="0">
                <c:v>11</c:v>
              </c:pt>
              <c:pt idx="1">
                <c:v>16</c:v>
              </c:pt>
              <c:pt idx="2">
                <c:v>12</c:v>
              </c:pt>
              <c:pt idx="3">
                <c:v>13</c:v>
              </c:pt>
              <c:pt idx="4">
                <c:v>11</c:v>
              </c:pt>
              <c:pt idx="5">
                <c:v>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BAC-4525-8C2E-DFEB693BD1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1"/>
        <c:axId val="312"/>
      </c:lineChart>
      <c:catAx>
        <c:axId val="3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C9CFD8"/>
            </a:solidFill>
          </a:ln>
        </c:spPr>
        <c:txPr>
          <a:bodyPr/>
          <a:lstStyle/>
          <a:p>
            <a:pPr>
              <a:defRPr sz="85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312"/>
        <c:crosses val="autoZero"/>
        <c:auto val="1"/>
        <c:lblAlgn val="ctr"/>
        <c:lblOffset val="100"/>
        <c:noMultiLvlLbl val="0"/>
      </c:catAx>
      <c:valAx>
        <c:axId val="312"/>
        <c:scaling>
          <c:orientation val="minMax"/>
        </c:scaling>
        <c:delete val="1"/>
        <c:axPos val="l"/>
        <c:majorGridlines>
          <c:spPr>
            <a:ln w="6350">
              <a:solidFill>
                <a:srgbClr val="E3E6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3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On-time</c:v>
          </c:tx>
          <c:invertIfNegative val="1"/>
          <c:dPt>
            <c:idx val="0"/>
            <c:invertIfNegative val="0"/>
            <c:bubble3D val="0"/>
            <c:spPr>
              <a:solidFill>
                <a:srgbClr val="24AA9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A9C-4F62-8F77-345F49E3888A}"/>
              </c:ext>
            </c:extLst>
          </c:dPt>
          <c:dPt>
            <c:idx val="1"/>
            <c:invertIfNegative val="0"/>
            <c:bubble3D val="0"/>
            <c:spPr>
              <a:solidFill>
                <a:srgbClr val="255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A9C-4F62-8F77-345F49E3888A}"/>
              </c:ext>
            </c:extLst>
          </c:dPt>
          <c:dPt>
            <c:idx val="2"/>
            <c:invertIfNegative val="0"/>
            <c:bubble3D val="0"/>
            <c:spPr>
              <a:solidFill>
                <a:srgbClr val="65C1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3A9C-4F62-8F77-345F49E3888A}"/>
              </c:ext>
            </c:extLst>
          </c:dPt>
          <c:dPt>
            <c:idx val="3"/>
            <c:invertIfNegative val="0"/>
            <c:bubble3D val="0"/>
            <c:spPr>
              <a:solidFill>
                <a:srgbClr val="D087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3A9C-4F62-8F77-345F49E3888A}"/>
              </c:ext>
            </c:extLst>
          </c:dPt>
          <c:dPt>
            <c:idx val="4"/>
            <c:invertIfNegative val="0"/>
            <c:bubble3D val="0"/>
            <c:spPr>
              <a:solidFill>
                <a:srgbClr val="B3261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3A9C-4F62-8F77-345F49E3888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1014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Monrovia Print Works</c:v>
              </c:pt>
              <c:pt idx="1">
                <c:v>Kakata Paper Mills</c:v>
              </c:pt>
              <c:pt idx="2">
                <c:v>Buchanan Craft</c:v>
              </c:pt>
              <c:pt idx="3">
                <c:v>Gbarnga Stationers</c:v>
              </c:pt>
              <c:pt idx="4">
                <c:v>Atlantic Educational</c:v>
              </c:pt>
            </c:strLit>
          </c:cat>
          <c:val>
            <c:numLit>
              <c:formatCode>0</c:formatCode>
              <c:ptCount val="5"/>
              <c:pt idx="0">
                <c:v>96</c:v>
              </c:pt>
              <c:pt idx="1">
                <c:v>91</c:v>
              </c:pt>
              <c:pt idx="2">
                <c:v>89</c:v>
              </c:pt>
              <c:pt idx="3">
                <c:v>84</c:v>
              </c:pt>
              <c:pt idx="4">
                <c:v>62</c:v>
              </c:pt>
            </c:numLit>
          </c:val>
          <c:extLst>
            <c:ext xmlns:c16="http://schemas.microsoft.com/office/drawing/2014/chart" uri="{C3380CC4-5D6E-409C-BE32-E72D297353CC}">
              <c16:uniqueId val="{0000000A-3A9C-4F62-8F77-345F49E388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321"/>
        <c:axId val="322"/>
      </c:barChart>
      <c:catAx>
        <c:axId val="32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6350">
            <a:solidFill>
              <a:srgbClr val="C9CFD8"/>
            </a:solidFill>
          </a:ln>
        </c:spPr>
        <c:txPr>
          <a:bodyPr/>
          <a:lstStyle/>
          <a:p>
            <a:pPr>
              <a:defRPr sz="800">
                <a:solidFill>
                  <a:srgbClr val="5B6572"/>
                </a:solidFill>
                <a:latin typeface="Calibri"/>
              </a:defRPr>
            </a:pPr>
            <a:endParaRPr lang="en-US"/>
          </a:p>
        </c:txPr>
        <c:crossAx val="322"/>
        <c:crosses val="autoZero"/>
        <c:auto val="1"/>
        <c:lblAlgn val="ctr"/>
        <c:lblOffset val="100"/>
        <c:noMultiLvlLbl val="0"/>
      </c:catAx>
      <c:valAx>
        <c:axId val="322"/>
        <c:scaling>
          <c:orientation val="minMax"/>
        </c:scaling>
        <c:delete val="1"/>
        <c:axPos val="b"/>
        <c:majorGridlines>
          <c:spPr>
            <a:ln w="6350">
              <a:solidFill>
                <a:srgbClr val="E3E6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32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5AD9-B7AC-E7FA-7463-17A69AA5E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F4860-830E-B13D-80C7-7D65F43DD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FAC8F-7331-F853-AC4F-68DE4CCD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77DB-7603-D0DD-C5D1-F9002983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D3B3-F862-4F40-7490-B06D613C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0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AEA0-0125-71CF-2811-B530C00F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E6340-E57E-09CC-0DEF-630E183FA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756A6-B294-5EE0-B5DE-C2057416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021FA-CA79-606E-814B-9B745E254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FBBD9-A48B-0CF3-6F84-7622293C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3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993F-BB1A-D624-0EC0-5DBA932D6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6044F-6AA3-6700-7105-85E3AC679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CD80-3C91-BA15-166A-C6906FC6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07EC-A6D8-72BA-01CC-F7E50FD9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1861F-6E87-E2B9-2339-EEE101E6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0BA3-B4AF-7E9C-03D7-7297B48A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2DE1C-EC8E-8BC6-4D0C-FFD6FD1ED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0F0C-7AF4-87B5-86AD-4E2753465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D4350-4CB1-09AC-6167-DBBC1ABC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6F2BC-D246-6285-5D8D-CD762583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B6544-C40D-2E36-BBFB-04B69A0D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1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91EE-2048-C681-70D9-1D027452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41265-2B50-CCE7-F9E0-AD28709B8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76258-9904-0A87-C211-FB93B13A6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37C6-9045-760D-F66D-0FF1C8F49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87376-F44D-8101-B825-03BF10BF6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836EB-7AC7-EB7A-E0F1-08798D3C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9259-0EA1-02D0-A8CB-0FCBFAB2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D8B62-E657-65E5-E554-FB5855AB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60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BEA8-C3B6-8761-B72B-7FB161CE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2BDBB-2E03-F178-3405-FD865952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2F407-0670-19C2-46A4-31940741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4E426-2A2E-5FB4-D512-E0FC6B0C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20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48924-E588-79D2-90DC-3F173EEF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8C79B-3FDC-67A3-990D-0D9E09C3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C0FC4-B5E0-532E-FC17-D61FD1D8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1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ADE3-63B4-00E1-A650-ED217090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8C22-D7C7-4E3A-B6B9-165287247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3C0FA-68BC-3F77-130A-899F27A0E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8DFEE-7B0A-39AF-9F09-5DF862C7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39113-0583-7EB9-DEA5-B1E4E0F9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3AB72-AFAF-F701-19FB-3114F30D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2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BE37-9AE7-61F1-B480-2CBFBB2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9C3DE-BE26-60C6-0AFC-6A29DB144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234C2-4581-66D9-6AE0-7FF7074D4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D0E4C-D5DD-CF36-97F9-AA9775AF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71FCC-DDA6-1C98-18CA-EBE803E6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FAC6B-51A0-7DBE-86C2-FDE47E58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1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7F39-8EE1-0B4B-CA9F-0182F10E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6EB09-56F3-E346-B8BC-5F1F0B6CD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47578-E612-3E18-B7E7-38834305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49834-76B8-CE79-4477-CC14A9B7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09CED-075D-B92E-9C72-24E778AF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8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605AA3-00E6-F2EC-9297-BD3E4BDBD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191257-D8BF-7CFC-4AAB-643BD5D8D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28F0-4F5A-A1D2-0CA6-3F38FFB3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2E359-8FBA-A1D9-3947-E3D58BFE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EE122-BB9C-585D-346C-FAE9BE33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6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5AD9-B7AC-E7FA-7463-17A69AA5E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F4860-830E-B13D-80C7-7D65F43DD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FAC8F-7331-F853-AC4F-68DE4CCD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77DB-7603-D0DD-C5D1-F9002983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D3B3-F862-4F40-7490-B06D613C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06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AEA0-0125-71CF-2811-B530C00F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E6340-E57E-09CC-0DEF-630E183FA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756A6-B294-5EE0-B5DE-C2057416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021FA-CA79-606E-814B-9B745E254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FBBD9-A48B-0CF3-6F84-7622293C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38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993F-BB1A-D624-0EC0-5DBA932D6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6044F-6AA3-6700-7105-85E3AC679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CD80-3C91-BA15-166A-C6906FC6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07EC-A6D8-72BA-01CC-F7E50FD9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1861F-6E87-E2B9-2339-EEE101E6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08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0BA3-B4AF-7E9C-03D7-7297B48A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2DE1C-EC8E-8BC6-4D0C-FFD6FD1ED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0F0C-7AF4-87B5-86AD-4E2753465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D4350-4CB1-09AC-6167-DBBC1ABC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6F2BC-D246-6285-5D8D-CD762583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B6544-C40D-2E36-BBFB-04B69A0D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17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91EE-2048-C681-70D9-1D027452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41265-2B50-CCE7-F9E0-AD28709B8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76258-9904-0A87-C211-FB93B13A6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37C6-9045-760D-F66D-0FF1C8F49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87376-F44D-8101-B825-03BF10BF6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836EB-7AC7-EB7A-E0F1-08798D3C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9259-0EA1-02D0-A8CB-0FCBFAB2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D8B62-E657-65E5-E554-FB5855AB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60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BEA8-C3B6-8761-B72B-7FB161CE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2BDBB-2E03-F178-3405-FD865952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2F407-0670-19C2-46A4-31940741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4E426-2A2E-5FB4-D512-E0FC6B0C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20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48924-E588-79D2-90DC-3F173EEF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8C79B-3FDC-67A3-990D-0D9E09C3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C0FC4-B5E0-532E-FC17-D61FD1D8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18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ADE3-63B4-00E1-A650-ED217090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8C22-D7C7-4E3A-B6B9-165287247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3C0FA-68BC-3F77-130A-899F27A0E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8DFEE-7B0A-39AF-9F09-5DF862C7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39113-0583-7EB9-DEA5-B1E4E0F9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3AB72-AFAF-F701-19FB-3114F30D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25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BE37-9AE7-61F1-B480-2CBFBB2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9C3DE-BE26-60C6-0AFC-6A29DB144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234C2-4581-66D9-6AE0-7FF7074D4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D0E4C-D5DD-CF36-97F9-AA9775AF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71FCC-DDA6-1C98-18CA-EBE803E6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FAC6B-51A0-7DBE-86C2-FDE47E58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17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7F39-8EE1-0B4B-CA9F-0182F10E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6EB09-56F3-E346-B8BC-5F1F0B6CD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47578-E612-3E18-B7E7-38834305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49834-76B8-CE79-4477-CC14A9B7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09CED-075D-B92E-9C72-24E778AF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871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605AA3-00E6-F2EC-9297-BD3E4BDBD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191257-D8BF-7CFC-4AAB-643BD5D8D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28F0-4F5A-A1D2-0CA6-3F38FFB3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2E359-8FBA-A1D9-3947-E3D58BFE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EE122-BB9C-585D-346C-FAE9BE33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67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5AD9-B7AC-E7FA-7463-17A69AA5E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F4860-830E-B13D-80C7-7D65F43DD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FAC8F-7331-F853-AC4F-68DE4CCD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77DB-7603-D0DD-C5D1-F9002983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D3B3-F862-4F40-7490-B06D613C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06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AEA0-0125-71CF-2811-B530C00F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E6340-E57E-09CC-0DEF-630E183FA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756A6-B294-5EE0-B5DE-C2057416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021FA-CA79-606E-814B-9B745E254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FBBD9-A48B-0CF3-6F84-7622293C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386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993F-BB1A-D624-0EC0-5DBA932D6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6044F-6AA3-6700-7105-85E3AC679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CD80-3C91-BA15-166A-C6906FC6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07EC-A6D8-72BA-01CC-F7E50FD9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1861F-6E87-E2B9-2339-EEE101E6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081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0BA3-B4AF-7E9C-03D7-7297B48A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2DE1C-EC8E-8BC6-4D0C-FFD6FD1ED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0F0C-7AF4-87B5-86AD-4E2753465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D4350-4CB1-09AC-6167-DBBC1ABC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6F2BC-D246-6285-5D8D-CD762583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B6544-C40D-2E36-BBFB-04B69A0D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176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91EE-2048-C681-70D9-1D027452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41265-2B50-CCE7-F9E0-AD28709B8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76258-9904-0A87-C211-FB93B13A6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37C6-9045-760D-F66D-0FF1C8F49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87376-F44D-8101-B825-03BF10BF6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836EB-7AC7-EB7A-E0F1-08798D3C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9259-0EA1-02D0-A8CB-0FCBFAB2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D8B62-E657-65E5-E554-FB5855AB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60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BEA8-C3B6-8761-B72B-7FB161CE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2BDBB-2E03-F178-3405-FD865952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2F407-0670-19C2-46A4-31940741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4E426-2A2E-5FB4-D512-E0FC6B0C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202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48924-E588-79D2-90DC-3F173EEF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8C79B-3FDC-67A3-990D-0D9E09C3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C0FC4-B5E0-532E-FC17-D61FD1D8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185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ADE3-63B4-00E1-A650-ED217090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8C22-D7C7-4E3A-B6B9-165287247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3C0FA-68BC-3F77-130A-899F27A0E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8DFEE-7B0A-39AF-9F09-5DF862C7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39113-0583-7EB9-DEA5-B1E4E0F9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3AB72-AFAF-F701-19FB-3114F30D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25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BE37-9AE7-61F1-B480-2CBFBB2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9C3DE-BE26-60C6-0AFC-6A29DB144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234C2-4581-66D9-6AE0-7FF7074D4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D0E4C-D5DD-CF36-97F9-AA9775AF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71FCC-DDA6-1C98-18CA-EBE803E6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FAC6B-51A0-7DBE-86C2-FDE47E58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173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7F39-8EE1-0B4B-CA9F-0182F10E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6EB09-56F3-E346-B8BC-5F1F0B6CD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47578-E612-3E18-B7E7-38834305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49834-76B8-CE79-4477-CC14A9B7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09CED-075D-B92E-9C72-24E778AF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871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605AA3-00E6-F2EC-9297-BD3E4BDBD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191257-D8BF-7CFC-4AAB-643BD5D8D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28F0-4F5A-A1D2-0CA6-3F38FFB3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2E359-8FBA-A1D9-3947-E3D58BFE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EE122-BB9C-585D-346C-FAE9BE33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67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5AD9-B7AC-E7FA-7463-17A69AA5E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F4860-830E-B13D-80C7-7D65F43DD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FAC8F-7331-F853-AC4F-68DE4CCD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77DB-7603-D0DD-C5D1-F9002983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D3B3-F862-4F40-7490-B06D613C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061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AEA0-0125-71CF-2811-B530C00F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E6340-E57E-09CC-0DEF-630E183FA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756A6-B294-5EE0-B5DE-C2057416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021FA-CA79-606E-814B-9B745E254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FBBD9-A48B-0CF3-6F84-7622293C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386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993F-BB1A-D624-0EC0-5DBA932D6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6044F-6AA3-6700-7105-85E3AC679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CD80-3C91-BA15-166A-C6906FC6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07EC-A6D8-72BA-01CC-F7E50FD9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1861F-6E87-E2B9-2339-EEE101E6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081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0BA3-B4AF-7E9C-03D7-7297B48A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2DE1C-EC8E-8BC6-4D0C-FFD6FD1ED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0F0C-7AF4-87B5-86AD-4E2753465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D4350-4CB1-09AC-6167-DBBC1ABC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6F2BC-D246-6285-5D8D-CD762583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B6544-C40D-2E36-BBFB-04B69A0D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176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91EE-2048-C681-70D9-1D027452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41265-2B50-CCE7-F9E0-AD28709B8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76258-9904-0A87-C211-FB93B13A6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37C6-9045-760D-F66D-0FF1C8F49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87376-F44D-8101-B825-03BF10BF6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836EB-7AC7-EB7A-E0F1-08798D3C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9259-0EA1-02D0-A8CB-0FCBFAB2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D8B62-E657-65E5-E554-FB5855AB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609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BEA8-C3B6-8761-B72B-7FB161CE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2BDBB-2E03-F178-3405-FD865952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2F407-0670-19C2-46A4-31940741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4E426-2A2E-5FB4-D512-E0FC6B0C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202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48924-E588-79D2-90DC-3F173EEF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8C79B-3FDC-67A3-990D-0D9E09C3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C0FC4-B5E0-532E-FC17-D61FD1D8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185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ADE3-63B4-00E1-A650-ED217090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8C22-D7C7-4E3A-B6B9-165287247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3C0FA-68BC-3F77-130A-899F27A0E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8DFEE-7B0A-39AF-9F09-5DF862C7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39113-0583-7EB9-DEA5-B1E4E0F9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3AB72-AFAF-F701-19FB-3114F30D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257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BE37-9AE7-61F1-B480-2CBFBB2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9C3DE-BE26-60C6-0AFC-6A29DB144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234C2-4581-66D9-6AE0-7FF7074D4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D0E4C-D5DD-CF36-97F9-AA9775AF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71FCC-DDA6-1C98-18CA-EBE803E6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FAC6B-51A0-7DBE-86C2-FDE47E58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173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7F39-8EE1-0B4B-CA9F-0182F10E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6EB09-56F3-E346-B8BC-5F1F0B6CD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47578-E612-3E18-B7E7-38834305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49834-76B8-CE79-4477-CC14A9B7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09CED-075D-B92E-9C72-24E778AF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871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605AA3-00E6-F2EC-9297-BD3E4BDBD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191257-D8BF-7CFC-4AAB-643BD5D8D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28F0-4F5A-A1D2-0CA6-3F38FFB3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2E359-8FBA-A1D9-3947-E3D58BFE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EE122-BB9C-585D-346C-FAE9BE33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67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5AD9-B7AC-E7FA-7463-17A69AA5E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F4860-830E-B13D-80C7-7D65F43DD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FAC8F-7331-F853-AC4F-68DE4CCD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77DB-7603-D0DD-C5D1-F9002983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D3B3-F862-4F40-7490-B06D613C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061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AEA0-0125-71CF-2811-B530C00F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E6340-E57E-09CC-0DEF-630E183FA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756A6-B294-5EE0-B5DE-C2057416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021FA-CA79-606E-814B-9B745E254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FBBD9-A48B-0CF3-6F84-7622293C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386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993F-BB1A-D624-0EC0-5DBA932D6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6044F-6AA3-6700-7105-85E3AC679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CD80-3C91-BA15-166A-C6906FC6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07EC-A6D8-72BA-01CC-F7E50FD9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1861F-6E87-E2B9-2339-EEE101E6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081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0BA3-B4AF-7E9C-03D7-7297B48A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2DE1C-EC8E-8BC6-4D0C-FFD6FD1ED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0F0C-7AF4-87B5-86AD-4E2753465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D4350-4CB1-09AC-6167-DBBC1ABC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6F2BC-D246-6285-5D8D-CD762583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B6544-C40D-2E36-BBFB-04B69A0D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176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91EE-2048-C681-70D9-1D027452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41265-2B50-CCE7-F9E0-AD28709B8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76258-9904-0A87-C211-FB93B13A6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37C6-9045-760D-F66D-0FF1C8F49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87376-F44D-8101-B825-03BF10BF6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836EB-7AC7-EB7A-E0F1-08798D3C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9259-0EA1-02D0-A8CB-0FCBFAB2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D8B62-E657-65E5-E554-FB5855AB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60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BEA8-C3B6-8761-B72B-7FB161CE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2BDBB-2E03-F178-3405-FD865952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2F407-0670-19C2-46A4-31940741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4E426-2A2E-5FB4-D512-E0FC6B0C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202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48924-E588-79D2-90DC-3F173EEF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8C79B-3FDC-67A3-990D-0D9E09C3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C0FC4-B5E0-532E-FC17-D61FD1D8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185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ADE3-63B4-00E1-A650-ED217090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8C22-D7C7-4E3A-B6B9-165287247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3C0FA-68BC-3F77-130A-899F27A0E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8DFEE-7B0A-39AF-9F09-5DF862C7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39113-0583-7EB9-DEA5-B1E4E0F9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3AB72-AFAF-F701-19FB-3114F30D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257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BE37-9AE7-61F1-B480-2CBFBB2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9C3DE-BE26-60C6-0AFC-6A29DB144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234C2-4581-66D9-6AE0-7FF7074D4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D0E4C-D5DD-CF36-97F9-AA9775AF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71FCC-DDA6-1C98-18CA-EBE803E6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FAC6B-51A0-7DBE-86C2-FDE47E58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173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7F39-8EE1-0B4B-CA9F-0182F10E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6EB09-56F3-E346-B8BC-5F1F0B6CD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47578-E612-3E18-B7E7-38834305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49834-76B8-CE79-4477-CC14A9B7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09CED-075D-B92E-9C72-24E778AF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871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605AA3-00E6-F2EC-9297-BD3E4BDBD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191257-D8BF-7CFC-4AAB-643BD5D8D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28F0-4F5A-A1D2-0CA6-3F38FFB3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2E359-8FBA-A1D9-3947-E3D58BFE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EE122-BB9C-585D-346C-FAE9BE33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8EA83-5145-AD5E-18C2-5C20C8A5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29C25-4D9F-FCE5-B42E-89CA9CA83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30A2-5D88-C563-A165-63AD930CA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8A6BE-EA4D-D167-E16A-9F43EE381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2E75-44DD-1B6A-26A8-6845EEB4B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8EA83-5145-AD5E-18C2-5C20C8A5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29C25-4D9F-FCE5-B42E-89CA9CA83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30A2-5D88-C563-A165-63AD930CA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8A6BE-EA4D-D167-E16A-9F43EE381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2E75-44DD-1B6A-26A8-6845EEB4B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chrome200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0E2C2A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01" name="chrome201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12564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02" name="chrome202"/>
          <p:cNvSpPr txBox="1"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EduStock</a:t>
            </a:r>
          </a:p>
        </p:txBody>
      </p:sp>
      <p:sp>
        <p:nvSpPr>
          <p:cNvPr id="203" name="chrome203"/>
          <p:cNvSpPr txBox="1"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A9C0BB"/>
                </a:solidFill>
                <a:latin typeface="Calibri"/>
              </a:rPr>
              <a:t>Inventory Suite</a:t>
            </a:r>
          </a:p>
        </p:txBody>
      </p:sp>
      <p:sp>
        <p:nvSpPr>
          <p:cNvPr id="204" name="chrome204"/>
          <p:cNvSpPr txBox="1"/>
          <p:nvPr/>
        </p:nvSpPr>
        <p:spPr>
          <a:xfrm>
            <a:off x="330200" y="787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Dashboard</a:t>
            </a:r>
          </a:p>
        </p:txBody>
      </p:sp>
      <p:sp>
        <p:nvSpPr>
          <p:cNvPr id="205" name="chrome205"/>
          <p:cNvSpPr txBox="1"/>
          <p:nvPr/>
        </p:nvSpPr>
        <p:spPr>
          <a:xfrm>
            <a:off x="330200" y="1143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Inventory</a:t>
            </a:r>
          </a:p>
        </p:txBody>
      </p:sp>
      <p:sp>
        <p:nvSpPr>
          <p:cNvPr id="206" name="chrome206"/>
          <p:cNvSpPr txBox="1"/>
          <p:nvPr/>
        </p:nvSpPr>
        <p:spPr>
          <a:xfrm>
            <a:off x="330200" y="1498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Products</a:t>
            </a:r>
          </a:p>
        </p:txBody>
      </p:sp>
      <p:sp>
        <p:nvSpPr>
          <p:cNvPr id="207" name="chrome207"/>
          <p:cNvSpPr txBox="1"/>
          <p:nvPr/>
        </p:nvSpPr>
        <p:spPr>
          <a:xfrm>
            <a:off x="330200" y="1854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Orders</a:t>
            </a:r>
          </a:p>
        </p:txBody>
      </p:sp>
      <p:sp>
        <p:nvSpPr>
          <p:cNvPr id="208" name="chrome208"/>
          <p:cNvSpPr txBox="1"/>
          <p:nvPr/>
        </p:nvSpPr>
        <p:spPr>
          <a:xfrm>
            <a:off x="330200" y="2209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Purchase Orders</a:t>
            </a:r>
          </a:p>
        </p:txBody>
      </p:sp>
      <p:sp>
        <p:nvSpPr>
          <p:cNvPr id="209" name="chrome209"/>
          <p:cNvSpPr txBox="1"/>
          <p:nvPr/>
        </p:nvSpPr>
        <p:spPr>
          <a:xfrm>
            <a:off x="330200" y="2565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Schools</a:t>
            </a:r>
          </a:p>
        </p:txBody>
      </p:sp>
      <p:sp>
        <p:nvSpPr>
          <p:cNvPr id="210" name="chrome210"/>
          <p:cNvSpPr txBox="1"/>
          <p:nvPr/>
        </p:nvSpPr>
        <p:spPr>
          <a:xfrm>
            <a:off x="330200" y="2921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Suppliers</a:t>
            </a:r>
          </a:p>
        </p:txBody>
      </p:sp>
      <p:sp>
        <p:nvSpPr>
          <p:cNvPr id="211" name="chrome211"/>
          <p:cNvSpPr txBox="1"/>
          <p:nvPr/>
        </p:nvSpPr>
        <p:spPr>
          <a:xfrm>
            <a:off x="330200" y="3276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Warehouses</a:t>
            </a:r>
          </a:p>
        </p:txBody>
      </p:sp>
      <p:sp>
        <p:nvSpPr>
          <p:cNvPr id="212" name="chrome212"/>
          <p:cNvSpPr txBox="1"/>
          <p:nvPr/>
        </p:nvSpPr>
        <p:spPr>
          <a:xfrm>
            <a:off x="330200" y="3632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Employees</a:t>
            </a:r>
          </a:p>
        </p:txBody>
      </p:sp>
      <p:sp>
        <p:nvSpPr>
          <p:cNvPr id="213" name="chrome213"/>
          <p:cNvSpPr txBox="1"/>
          <p:nvPr/>
        </p:nvSpPr>
        <p:spPr>
          <a:xfrm>
            <a:off x="330200" y="3987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Reports</a:t>
            </a:r>
          </a:p>
        </p:txBody>
      </p:sp>
      <p:sp>
        <p:nvSpPr>
          <p:cNvPr id="214" name="chrome214"/>
          <p:cNvSpPr txBox="1"/>
          <p:nvPr/>
        </p:nvSpPr>
        <p:spPr>
          <a:xfrm>
            <a:off x="330200" y="4343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Analytics</a:t>
            </a:r>
          </a:p>
        </p:txBody>
      </p:sp>
      <p:sp>
        <p:nvSpPr>
          <p:cNvPr id="215" name="chrome215"/>
          <p:cNvSpPr txBox="1"/>
          <p:nvPr/>
        </p:nvSpPr>
        <p:spPr>
          <a:xfrm>
            <a:off x="330200" y="4699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Notifications</a:t>
            </a:r>
          </a:p>
        </p:txBody>
      </p:sp>
      <p:sp>
        <p:nvSpPr>
          <p:cNvPr id="216" name="chrome216"/>
          <p:cNvSpPr txBox="1"/>
          <p:nvPr/>
        </p:nvSpPr>
        <p:spPr>
          <a:xfrm>
            <a:off x="330200" y="5054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Settings</a:t>
            </a:r>
          </a:p>
        </p:txBody>
      </p:sp>
      <p:sp>
        <p:nvSpPr>
          <p:cNvPr id="217" name="chrome217"/>
          <p:cNvSpPr/>
          <p:nvPr/>
        </p:nvSpPr>
        <p:spPr>
          <a:xfrm>
            <a:off x="177800" y="6172200"/>
            <a:ext cx="1518920" cy="9525"/>
          </a:xfrm>
          <a:prstGeom prst="rect">
            <a:avLst/>
          </a:prstGeom>
          <a:solidFill>
            <a:srgbClr val="1C3E3B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18" name="chrome218"/>
          <p:cNvSpPr txBox="1"/>
          <p:nvPr/>
        </p:nvSpPr>
        <p:spPr>
          <a:xfrm>
            <a:off x="330200" y="6324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Log Out</a:t>
            </a:r>
          </a:p>
        </p:txBody>
      </p:sp>
      <p:sp>
        <p:nvSpPr>
          <p:cNvPr id="219" name="chrome219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0" name="chrome220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1" name="chrome221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2" name="chrome222"/>
          <p:cNvSpPr txBox="1"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223" name="chrome223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12564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224" name="chrome224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5" name="chrome225"/>
          <p:cNvSpPr txBox="1"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226" name="chrome226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7" name="chrome227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chrome228"/>
          <p:cNvSpPr txBox="1"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229" name="chrome229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12564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230" name="chrome230"/>
          <p:cNvSpPr txBox="1"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231" name="chrome231"/>
          <p:cNvSpPr txBox="1"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</p:spTree>
    <p:extLst>
      <p:ext uri="{BB962C8B-B14F-4D97-AF65-F5344CB8AC3E}">
        <p14:creationId xmlns:p14="http://schemas.microsoft.com/office/powerpoint/2010/main" val="2342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014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0141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0141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0141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8EA83-5145-AD5E-18C2-5C20C8A5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29C25-4D9F-FCE5-B42E-89CA9CA83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30A2-5D88-C563-A165-63AD930CA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8A6BE-EA4D-D167-E16A-9F43EE381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2E75-44DD-1B6A-26A8-6845EEB4B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8EA83-5145-AD5E-18C2-5C20C8A5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29C25-4D9F-FCE5-B42E-89CA9CA83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30A2-5D88-C563-A165-63AD930CA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8A6BE-EA4D-D167-E16A-9F43EE381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2E75-44DD-1B6A-26A8-6845EEB4B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chrome200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0E2C2A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01" name="chrome201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12564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02" name="chrome202"/>
          <p:cNvSpPr txBox="1"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EduStock</a:t>
            </a:r>
          </a:p>
        </p:txBody>
      </p:sp>
      <p:sp>
        <p:nvSpPr>
          <p:cNvPr id="203" name="chrome203"/>
          <p:cNvSpPr txBox="1"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A9C0BB"/>
                </a:solidFill>
                <a:latin typeface="Calibri"/>
              </a:rPr>
              <a:t>Inventory Suite</a:t>
            </a:r>
          </a:p>
        </p:txBody>
      </p:sp>
      <p:sp>
        <p:nvSpPr>
          <p:cNvPr id="204" name="chrome204"/>
          <p:cNvSpPr txBox="1"/>
          <p:nvPr/>
        </p:nvSpPr>
        <p:spPr>
          <a:xfrm>
            <a:off x="330200" y="787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Dashboard</a:t>
            </a:r>
          </a:p>
        </p:txBody>
      </p:sp>
      <p:sp>
        <p:nvSpPr>
          <p:cNvPr id="205" name="chrome205"/>
          <p:cNvSpPr txBox="1"/>
          <p:nvPr/>
        </p:nvSpPr>
        <p:spPr>
          <a:xfrm>
            <a:off x="330200" y="1143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Inventory</a:t>
            </a:r>
          </a:p>
        </p:txBody>
      </p:sp>
      <p:sp>
        <p:nvSpPr>
          <p:cNvPr id="206" name="chrome206"/>
          <p:cNvSpPr txBox="1"/>
          <p:nvPr/>
        </p:nvSpPr>
        <p:spPr>
          <a:xfrm>
            <a:off x="330200" y="1498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Products</a:t>
            </a:r>
          </a:p>
        </p:txBody>
      </p:sp>
      <p:sp>
        <p:nvSpPr>
          <p:cNvPr id="207" name="chrome207"/>
          <p:cNvSpPr txBox="1"/>
          <p:nvPr/>
        </p:nvSpPr>
        <p:spPr>
          <a:xfrm>
            <a:off x="330200" y="1854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Orders</a:t>
            </a:r>
          </a:p>
        </p:txBody>
      </p:sp>
      <p:sp>
        <p:nvSpPr>
          <p:cNvPr id="208" name="chrome208"/>
          <p:cNvSpPr txBox="1"/>
          <p:nvPr/>
        </p:nvSpPr>
        <p:spPr>
          <a:xfrm>
            <a:off x="330200" y="2209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Purchase Orders</a:t>
            </a:r>
          </a:p>
        </p:txBody>
      </p:sp>
      <p:sp>
        <p:nvSpPr>
          <p:cNvPr id="209" name="chrome209"/>
          <p:cNvSpPr txBox="1"/>
          <p:nvPr/>
        </p:nvSpPr>
        <p:spPr>
          <a:xfrm>
            <a:off x="330200" y="2565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Schools</a:t>
            </a:r>
          </a:p>
        </p:txBody>
      </p:sp>
      <p:sp>
        <p:nvSpPr>
          <p:cNvPr id="210" name="chrome210"/>
          <p:cNvSpPr txBox="1"/>
          <p:nvPr/>
        </p:nvSpPr>
        <p:spPr>
          <a:xfrm>
            <a:off x="330200" y="2921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Suppliers</a:t>
            </a:r>
          </a:p>
        </p:txBody>
      </p:sp>
      <p:sp>
        <p:nvSpPr>
          <p:cNvPr id="211" name="chrome211"/>
          <p:cNvSpPr txBox="1"/>
          <p:nvPr/>
        </p:nvSpPr>
        <p:spPr>
          <a:xfrm>
            <a:off x="330200" y="3276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Warehouses</a:t>
            </a:r>
          </a:p>
        </p:txBody>
      </p:sp>
      <p:sp>
        <p:nvSpPr>
          <p:cNvPr id="212" name="chrome212"/>
          <p:cNvSpPr txBox="1"/>
          <p:nvPr/>
        </p:nvSpPr>
        <p:spPr>
          <a:xfrm>
            <a:off x="330200" y="3632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Employees</a:t>
            </a:r>
          </a:p>
        </p:txBody>
      </p:sp>
      <p:sp>
        <p:nvSpPr>
          <p:cNvPr id="213" name="chrome213"/>
          <p:cNvSpPr txBox="1"/>
          <p:nvPr/>
        </p:nvSpPr>
        <p:spPr>
          <a:xfrm>
            <a:off x="330200" y="3987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Reports</a:t>
            </a:r>
          </a:p>
        </p:txBody>
      </p:sp>
      <p:sp>
        <p:nvSpPr>
          <p:cNvPr id="214" name="chrome214"/>
          <p:cNvSpPr txBox="1"/>
          <p:nvPr/>
        </p:nvSpPr>
        <p:spPr>
          <a:xfrm>
            <a:off x="330200" y="4343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Analytics</a:t>
            </a:r>
          </a:p>
        </p:txBody>
      </p:sp>
      <p:sp>
        <p:nvSpPr>
          <p:cNvPr id="215" name="chrome215"/>
          <p:cNvSpPr txBox="1"/>
          <p:nvPr/>
        </p:nvSpPr>
        <p:spPr>
          <a:xfrm>
            <a:off x="330200" y="4699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Notifications</a:t>
            </a:r>
          </a:p>
        </p:txBody>
      </p:sp>
      <p:sp>
        <p:nvSpPr>
          <p:cNvPr id="216" name="chrome216"/>
          <p:cNvSpPr txBox="1"/>
          <p:nvPr/>
        </p:nvSpPr>
        <p:spPr>
          <a:xfrm>
            <a:off x="330200" y="5054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Settings</a:t>
            </a:r>
          </a:p>
        </p:txBody>
      </p:sp>
      <p:sp>
        <p:nvSpPr>
          <p:cNvPr id="217" name="chrome217"/>
          <p:cNvSpPr/>
          <p:nvPr/>
        </p:nvSpPr>
        <p:spPr>
          <a:xfrm>
            <a:off x="177800" y="6172200"/>
            <a:ext cx="1518920" cy="9525"/>
          </a:xfrm>
          <a:prstGeom prst="rect">
            <a:avLst/>
          </a:prstGeom>
          <a:solidFill>
            <a:srgbClr val="1C3E3B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18" name="chrome218"/>
          <p:cNvSpPr txBox="1"/>
          <p:nvPr/>
        </p:nvSpPr>
        <p:spPr>
          <a:xfrm>
            <a:off x="330200" y="6324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A9C0BB"/>
                </a:solidFill>
                <a:latin typeface="Calibri"/>
              </a:rPr>
              <a:t>Log Out</a:t>
            </a:r>
          </a:p>
        </p:txBody>
      </p:sp>
      <p:sp>
        <p:nvSpPr>
          <p:cNvPr id="219" name="chrome219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0" name="chrome220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1" name="chrome221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2" name="chrome222"/>
          <p:cNvSpPr txBox="1"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223" name="chrome223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12564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224" name="chrome224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5" name="chrome225"/>
          <p:cNvSpPr txBox="1"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226" name="chrome226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7" name="chrome227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chrome228"/>
          <p:cNvSpPr txBox="1"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229" name="chrome229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12564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230" name="chrome230"/>
          <p:cNvSpPr txBox="1"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231" name="chrome231"/>
          <p:cNvSpPr txBox="1"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</p:spTree>
    <p:extLst>
      <p:ext uri="{BB962C8B-B14F-4D97-AF65-F5344CB8AC3E}">
        <p14:creationId xmlns:p14="http://schemas.microsoft.com/office/powerpoint/2010/main" val="2342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014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0141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0141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0141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8EA83-5145-AD5E-18C2-5C20C8A5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29C25-4D9F-FCE5-B42E-89CA9CA83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30A2-5D88-C563-A165-63AD930CA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0BA19-CB54-4915-8BAB-7D59E3272D1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8A6BE-EA4D-D167-E16A-9F43EE381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2E75-44DD-1B6A-26A8-6845EEB4B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9CA36-F11D-4008-8B5A-869597FB8A46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chrome200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01" name="chrome201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02" name="chrome202"/>
          <p:cNvSpPr txBox="1"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203" name="chrome203"/>
          <p:cNvSpPr txBox="1"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204" name="chrome204"/>
          <p:cNvSpPr txBox="1"/>
          <p:nvPr/>
        </p:nvSpPr>
        <p:spPr>
          <a:xfrm>
            <a:off x="330200" y="787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205" name="chrome205"/>
          <p:cNvSpPr txBox="1"/>
          <p:nvPr/>
        </p:nvSpPr>
        <p:spPr>
          <a:xfrm>
            <a:off x="330200" y="1143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206" name="chrome206"/>
          <p:cNvSpPr txBox="1"/>
          <p:nvPr/>
        </p:nvSpPr>
        <p:spPr>
          <a:xfrm>
            <a:off x="330200" y="1498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207" name="chrome207"/>
          <p:cNvSpPr txBox="1"/>
          <p:nvPr/>
        </p:nvSpPr>
        <p:spPr>
          <a:xfrm>
            <a:off x="330200" y="1854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208" name="chrome208"/>
          <p:cNvSpPr txBox="1"/>
          <p:nvPr/>
        </p:nvSpPr>
        <p:spPr>
          <a:xfrm>
            <a:off x="330200" y="2209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209" name="chrome209"/>
          <p:cNvSpPr txBox="1"/>
          <p:nvPr/>
        </p:nvSpPr>
        <p:spPr>
          <a:xfrm>
            <a:off x="330200" y="2565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210" name="chrome210"/>
          <p:cNvSpPr txBox="1"/>
          <p:nvPr/>
        </p:nvSpPr>
        <p:spPr>
          <a:xfrm>
            <a:off x="330200" y="2921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211" name="chrome211"/>
          <p:cNvSpPr txBox="1"/>
          <p:nvPr/>
        </p:nvSpPr>
        <p:spPr>
          <a:xfrm>
            <a:off x="330200" y="3276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212" name="chrome212"/>
          <p:cNvSpPr txBox="1"/>
          <p:nvPr/>
        </p:nvSpPr>
        <p:spPr>
          <a:xfrm>
            <a:off x="330200" y="36322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213" name="chrome213"/>
          <p:cNvSpPr txBox="1"/>
          <p:nvPr/>
        </p:nvSpPr>
        <p:spPr>
          <a:xfrm>
            <a:off x="330200" y="39878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214" name="chrome214"/>
          <p:cNvSpPr txBox="1"/>
          <p:nvPr/>
        </p:nvSpPr>
        <p:spPr>
          <a:xfrm>
            <a:off x="330200" y="43434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215" name="chrome215"/>
          <p:cNvSpPr txBox="1"/>
          <p:nvPr/>
        </p:nvSpPr>
        <p:spPr>
          <a:xfrm>
            <a:off x="330200" y="46990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216" name="chrome216"/>
          <p:cNvSpPr txBox="1"/>
          <p:nvPr/>
        </p:nvSpPr>
        <p:spPr>
          <a:xfrm>
            <a:off x="330200" y="5054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217" name="chrome217"/>
          <p:cNvSpPr/>
          <p:nvPr/>
        </p:nvSpPr>
        <p:spPr>
          <a:xfrm>
            <a:off x="177800" y="61722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18" name="chrome218"/>
          <p:cNvSpPr txBox="1"/>
          <p:nvPr/>
        </p:nvSpPr>
        <p:spPr>
          <a:xfrm>
            <a:off x="330200" y="63246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219" name="chrome219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0" name="chrome220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1" name="chrome221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2" name="chrome222"/>
          <p:cNvSpPr txBox="1"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223" name="chrome223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224" name="chrome224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5" name="chrome225"/>
          <p:cNvSpPr txBox="1"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226" name="chrome226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7" name="chrome227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chrome228"/>
          <p:cNvSpPr txBox="1"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229" name="chrome229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230" name="chrome230"/>
          <p:cNvSpPr txBox="1"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231" name="chrome231"/>
          <p:cNvSpPr txBox="1"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</p:spTree>
    <p:extLst>
      <p:ext uri="{BB962C8B-B14F-4D97-AF65-F5344CB8AC3E}">
        <p14:creationId xmlns:p14="http://schemas.microsoft.com/office/powerpoint/2010/main" val="2342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014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0141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0141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0141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0141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812800" y="152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220" dirty="0">
                <a:solidFill>
                  <a:srgbClr val="65C1BA"/>
                </a:solidFill>
                <a:latin typeface="Calibri"/>
              </a:rPr>
              <a:t>LAZY PYGMY  ·  INVENTORY SUITE</a:t>
            </a:r>
          </a:p>
        </p:txBody>
      </p:sp>
      <p:sp>
        <p:nvSpPr>
          <p:cNvPr id="403" name="s403"/>
          <p:cNvSpPr/>
          <p:nvPr/>
        </p:nvSpPr>
        <p:spPr>
          <a:xfrm>
            <a:off x="812800" y="1854200"/>
            <a:ext cx="5461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4000" b="1" spc="0" dirty="0">
                <a:solidFill>
                  <a:srgbClr val="FFFFFF"/>
                </a:solidFill>
                <a:latin typeface="Cambria"/>
              </a:rPr>
              <a:t>INVENTORY MANAGEMENT SYSTEM</a:t>
            </a:r>
          </a:p>
        </p:txBody>
      </p:sp>
      <p:sp>
        <p:nvSpPr>
          <p:cNvPr id="404" name="s404"/>
          <p:cNvSpPr/>
          <p:nvPr/>
        </p:nvSpPr>
        <p:spPr>
          <a:xfrm>
            <a:off x="812800" y="3403600"/>
            <a:ext cx="812800" cy="381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5" name="s405"/>
          <p:cNvSpPr/>
          <p:nvPr/>
        </p:nvSpPr>
        <p:spPr>
          <a:xfrm>
            <a:off x="812800" y="36322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spc="0" dirty="0">
                <a:solidFill>
                  <a:srgbClr val="D0E6E7"/>
                </a:solidFill>
                <a:latin typeface="Calibri"/>
              </a:rPr>
              <a:t>Products  •  Warehouses  •  Schools  •  Orders  •  Suppliers</a:t>
            </a:r>
          </a:p>
        </p:txBody>
      </p:sp>
      <p:sp>
        <p:nvSpPr>
          <p:cNvPr id="406" name="s406"/>
          <p:cNvSpPr/>
          <p:nvPr/>
        </p:nvSpPr>
        <p:spPr>
          <a:xfrm>
            <a:off x="812800" y="4013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0" spc="0" dirty="0">
                <a:solidFill>
                  <a:srgbClr val="B4CDD2"/>
                </a:solidFill>
                <a:latin typeface="Calibri"/>
              </a:rPr>
              <a:t>A 74-screen interface specification and clickable prototype for an early-childhood learning products manufacturer and distributor.</a:t>
            </a:r>
          </a:p>
        </p:txBody>
      </p:sp>
      <p:sp>
        <p:nvSpPr>
          <p:cNvPr id="407" name="s407"/>
          <p:cNvSpPr/>
          <p:nvPr/>
        </p:nvSpPr>
        <p:spPr>
          <a:xfrm>
            <a:off x="812800" y="49784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FFFFFF"/>
                </a:solidFill>
                <a:latin typeface="Arial"/>
              </a:rPr>
              <a:t>74</a:t>
            </a:r>
          </a:p>
        </p:txBody>
      </p:sp>
      <p:sp>
        <p:nvSpPr>
          <p:cNvPr id="408" name="s408"/>
          <p:cNvSpPr/>
          <p:nvPr/>
        </p:nvSpPr>
        <p:spPr>
          <a:xfrm>
            <a:off x="812800" y="53086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B4CDD2"/>
                </a:solidFill>
                <a:latin typeface="Calibri"/>
              </a:rPr>
              <a:t>Screens</a:t>
            </a:r>
          </a:p>
        </p:txBody>
      </p:sp>
      <p:sp>
        <p:nvSpPr>
          <p:cNvPr id="409" name="s409"/>
          <p:cNvSpPr/>
          <p:nvPr/>
        </p:nvSpPr>
        <p:spPr>
          <a:xfrm>
            <a:off x="1981200" y="49784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FFFFFF"/>
                </a:solidFill>
                <a:latin typeface="Arial"/>
              </a:rPr>
              <a:t>24</a:t>
            </a:r>
          </a:p>
        </p:txBody>
      </p:sp>
      <p:sp>
        <p:nvSpPr>
          <p:cNvPr id="410" name="s410"/>
          <p:cNvSpPr/>
          <p:nvPr/>
        </p:nvSpPr>
        <p:spPr>
          <a:xfrm>
            <a:off x="1981200" y="53086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B4CDD2"/>
                </a:solidFill>
                <a:latin typeface="Calibri"/>
              </a:rPr>
              <a:t>Modules</a:t>
            </a:r>
          </a:p>
        </p:txBody>
      </p:sp>
      <p:sp>
        <p:nvSpPr>
          <p:cNvPr id="411" name="s411"/>
          <p:cNvSpPr/>
          <p:nvPr/>
        </p:nvSpPr>
        <p:spPr>
          <a:xfrm>
            <a:off x="3149600" y="49784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FFFFFF"/>
                </a:solidFill>
                <a:latin typeface="Arial"/>
              </a:rPr>
              <a:t>USD</a:t>
            </a:r>
          </a:p>
        </p:txBody>
      </p:sp>
      <p:sp>
        <p:nvSpPr>
          <p:cNvPr id="412" name="s412"/>
          <p:cNvSpPr/>
          <p:nvPr/>
        </p:nvSpPr>
        <p:spPr>
          <a:xfrm>
            <a:off x="3149600" y="53086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B4CDD2"/>
                </a:solidFill>
                <a:latin typeface="Calibri"/>
              </a:rPr>
              <a:t>Currency</a:t>
            </a:r>
          </a:p>
        </p:txBody>
      </p:sp>
      <p:sp>
        <p:nvSpPr>
          <p:cNvPr id="413" name="s413"/>
          <p:cNvSpPr/>
          <p:nvPr/>
        </p:nvSpPr>
        <p:spPr>
          <a:xfrm>
            <a:off x="4318000" y="49784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414" name="s414"/>
          <p:cNvSpPr/>
          <p:nvPr/>
        </p:nvSpPr>
        <p:spPr>
          <a:xfrm>
            <a:off x="4318000" y="53086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B4CDD2"/>
                </a:solidFill>
                <a:latin typeface="Calibri"/>
              </a:rPr>
              <a:t>Release</a:t>
            </a:r>
          </a:p>
        </p:txBody>
      </p:sp>
      <p:sp>
        <p:nvSpPr>
          <p:cNvPr id="415" name="s415"/>
          <p:cNvSpPr/>
          <p:nvPr/>
        </p:nvSpPr>
        <p:spPr>
          <a:xfrm>
            <a:off x="812800" y="5740400"/>
            <a:ext cx="4673600" cy="9525"/>
          </a:xfrm>
          <a:prstGeom prst="rect">
            <a:avLst/>
          </a:prstGeom>
          <a:solidFill>
            <a:srgbClr val="1172B9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6" name="s416"/>
          <p:cNvSpPr/>
          <p:nvPr/>
        </p:nvSpPr>
        <p:spPr>
          <a:xfrm>
            <a:off x="812800" y="5867400"/>
            <a:ext cx="5334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65C1BA"/>
                </a:solidFill>
                <a:latin typeface="Calibri"/>
              </a:rPr>
              <a:t>Africa/Monrovia  ·  Prepared for the front-end and operations teams</a:t>
            </a:r>
          </a:p>
        </p:txBody>
      </p:sp>
      <p:sp>
        <p:nvSpPr>
          <p:cNvPr id="417" name="s417"/>
          <p:cNvSpPr/>
          <p:nvPr/>
        </p:nvSpPr>
        <p:spPr>
          <a:xfrm>
            <a:off x="6807200" y="1117600"/>
            <a:ext cx="4724400" cy="462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8" name="s418"/>
          <p:cNvSpPr/>
          <p:nvPr/>
        </p:nvSpPr>
        <p:spPr>
          <a:xfrm>
            <a:off x="6807200" y="1117600"/>
            <a:ext cx="4724400" cy="3302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9" name="s419"/>
          <p:cNvSpPr/>
          <p:nvPr/>
        </p:nvSpPr>
        <p:spPr>
          <a:xfrm>
            <a:off x="6807200" y="1117600"/>
            <a:ext cx="38100" cy="330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0" name="s420"/>
          <p:cNvSpPr/>
          <p:nvPr/>
        </p:nvSpPr>
        <p:spPr>
          <a:xfrm>
            <a:off x="6934200" y="11176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B4CDD2"/>
                </a:solidFill>
                <a:latin typeface="Calibri"/>
              </a:rPr>
              <a:t>Lazy Pygmy  ·  Dashboard</a:t>
            </a:r>
          </a:p>
        </p:txBody>
      </p:sp>
      <p:sp>
        <p:nvSpPr>
          <p:cNvPr id="421" name="s421"/>
          <p:cNvSpPr/>
          <p:nvPr/>
        </p:nvSpPr>
        <p:spPr>
          <a:xfrm>
            <a:off x="11328400" y="1244600"/>
            <a:ext cx="76200" cy="762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2" name="s422"/>
          <p:cNvSpPr/>
          <p:nvPr/>
        </p:nvSpPr>
        <p:spPr>
          <a:xfrm>
            <a:off x="11188700" y="1244600"/>
            <a:ext cx="76200" cy="762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3" name="s423"/>
          <p:cNvSpPr/>
          <p:nvPr/>
        </p:nvSpPr>
        <p:spPr>
          <a:xfrm>
            <a:off x="11049000" y="1244600"/>
            <a:ext cx="76200" cy="76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6807200" y="1447800"/>
            <a:ext cx="635000" cy="42926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6908800" y="1625600"/>
            <a:ext cx="4318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6" name="s426"/>
          <p:cNvSpPr/>
          <p:nvPr/>
        </p:nvSpPr>
        <p:spPr>
          <a:xfrm>
            <a:off x="6908800" y="1854200"/>
            <a:ext cx="43180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6908800" y="2082800"/>
            <a:ext cx="43180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8" name="s428"/>
          <p:cNvSpPr/>
          <p:nvPr/>
        </p:nvSpPr>
        <p:spPr>
          <a:xfrm>
            <a:off x="6908800" y="2311400"/>
            <a:ext cx="43180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6908800" y="2540000"/>
            <a:ext cx="43180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6908800" y="2768600"/>
            <a:ext cx="43180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6908800" y="2997200"/>
            <a:ext cx="43180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2" name="s432"/>
          <p:cNvSpPr/>
          <p:nvPr/>
        </p:nvSpPr>
        <p:spPr>
          <a:xfrm>
            <a:off x="6908800" y="3225800"/>
            <a:ext cx="43180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3" name="s433"/>
          <p:cNvSpPr/>
          <p:nvPr/>
        </p:nvSpPr>
        <p:spPr>
          <a:xfrm>
            <a:off x="6908800" y="3454400"/>
            <a:ext cx="43180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7569200" y="1574800"/>
            <a:ext cx="1193800" cy="5842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5" name="s435"/>
          <p:cNvSpPr/>
          <p:nvPr/>
        </p:nvSpPr>
        <p:spPr>
          <a:xfrm>
            <a:off x="7569200" y="1574800"/>
            <a:ext cx="25400" cy="584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6" name="s436"/>
          <p:cNvSpPr/>
          <p:nvPr/>
        </p:nvSpPr>
        <p:spPr>
          <a:xfrm>
            <a:off x="7670800" y="16383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437" name="s437"/>
          <p:cNvSpPr/>
          <p:nvPr/>
        </p:nvSpPr>
        <p:spPr>
          <a:xfrm>
            <a:off x="7670800" y="18161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spc="0" dirty="0">
                <a:solidFill>
                  <a:srgbClr val="10141A"/>
                </a:solidFill>
                <a:latin typeface="Arial"/>
              </a:rPr>
              <a:t>18,450</a:t>
            </a:r>
          </a:p>
        </p:txBody>
      </p:sp>
      <p:sp>
        <p:nvSpPr>
          <p:cNvPr id="438" name="s438"/>
          <p:cNvSpPr/>
          <p:nvPr/>
        </p:nvSpPr>
        <p:spPr>
          <a:xfrm>
            <a:off x="8864600" y="1574800"/>
            <a:ext cx="1193800" cy="5842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9" name="s439"/>
          <p:cNvSpPr/>
          <p:nvPr/>
        </p:nvSpPr>
        <p:spPr>
          <a:xfrm>
            <a:off x="8864600" y="1574800"/>
            <a:ext cx="25400" cy="5842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0" name="s440"/>
          <p:cNvSpPr/>
          <p:nvPr/>
        </p:nvSpPr>
        <p:spPr>
          <a:xfrm>
            <a:off x="8966200" y="16383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441" name="s441"/>
          <p:cNvSpPr/>
          <p:nvPr/>
        </p:nvSpPr>
        <p:spPr>
          <a:xfrm>
            <a:off x="8966200" y="18161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spc="0" dirty="0">
                <a:solidFill>
                  <a:srgbClr val="10141A"/>
                </a:solidFill>
                <a:latin typeface="Arial"/>
              </a:rPr>
              <a:t>$42,850</a:t>
            </a:r>
          </a:p>
        </p:txBody>
      </p:sp>
      <p:sp>
        <p:nvSpPr>
          <p:cNvPr id="442" name="s442"/>
          <p:cNvSpPr/>
          <p:nvPr/>
        </p:nvSpPr>
        <p:spPr>
          <a:xfrm>
            <a:off x="10160000" y="1574800"/>
            <a:ext cx="1193800" cy="5842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3" name="s443"/>
          <p:cNvSpPr/>
          <p:nvPr/>
        </p:nvSpPr>
        <p:spPr>
          <a:xfrm>
            <a:off x="10160000" y="1574800"/>
            <a:ext cx="25400" cy="5842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4" name="s444"/>
          <p:cNvSpPr/>
          <p:nvPr/>
        </p:nvSpPr>
        <p:spPr>
          <a:xfrm>
            <a:off x="10261600" y="16383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Orders</a:t>
            </a:r>
          </a:p>
        </p:txBody>
      </p:sp>
      <p:sp>
        <p:nvSpPr>
          <p:cNvPr id="445" name="s445"/>
          <p:cNvSpPr/>
          <p:nvPr/>
        </p:nvSpPr>
        <p:spPr>
          <a:xfrm>
            <a:off x="10261600" y="1816100"/>
            <a:ext cx="1066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spc="0" dirty="0">
                <a:solidFill>
                  <a:srgbClr val="10141A"/>
                </a:solidFill>
                <a:latin typeface="Arial"/>
              </a:rPr>
              <a:t>286</a:t>
            </a:r>
          </a:p>
        </p:txBody>
      </p:sp>
      <p:sp>
        <p:nvSpPr>
          <p:cNvPr id="446" name="s446"/>
          <p:cNvSpPr/>
          <p:nvPr/>
        </p:nvSpPr>
        <p:spPr>
          <a:xfrm>
            <a:off x="7569200" y="2286000"/>
            <a:ext cx="2514600" cy="147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7670800" y="2349500"/>
            <a:ext cx="203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Monthly Sales Revenue</a:t>
            </a:r>
          </a:p>
        </p:txBody>
      </p:sp>
      <p:sp>
        <p:nvSpPr>
          <p:cNvPr id="448" name="s448"/>
          <p:cNvSpPr/>
          <p:nvPr/>
        </p:nvSpPr>
        <p:spPr>
          <a:xfrm>
            <a:off x="7823200" y="2692400"/>
            <a:ext cx="2133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7823200" y="2971800"/>
            <a:ext cx="2133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0" name="s450"/>
          <p:cNvSpPr/>
          <p:nvPr/>
        </p:nvSpPr>
        <p:spPr>
          <a:xfrm>
            <a:off x="7823200" y="3251200"/>
            <a:ext cx="2133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7848600" y="3225800"/>
            <a:ext cx="10160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8026400" y="3124200"/>
            <a:ext cx="101600" cy="4318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s453"/>
          <p:cNvSpPr/>
          <p:nvPr/>
        </p:nvSpPr>
        <p:spPr>
          <a:xfrm>
            <a:off x="8204200" y="3175000"/>
            <a:ext cx="101600" cy="3810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8382000" y="2997200"/>
            <a:ext cx="101600" cy="5588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8559800" y="3073400"/>
            <a:ext cx="101600" cy="4826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6" name="s456"/>
          <p:cNvSpPr/>
          <p:nvPr/>
        </p:nvSpPr>
        <p:spPr>
          <a:xfrm>
            <a:off x="8737600" y="2895600"/>
            <a:ext cx="101600" cy="6604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8915400" y="2971800"/>
            <a:ext cx="101600" cy="584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9093200" y="2819400"/>
            <a:ext cx="101600" cy="7366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9271000" y="2921000"/>
            <a:ext cx="101600" cy="6350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9448800" y="2743200"/>
            <a:ext cx="101600" cy="8128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9626600" y="2844800"/>
            <a:ext cx="101600" cy="711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9804400" y="2667000"/>
            <a:ext cx="101600" cy="8890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7670800" y="3556000"/>
            <a:ext cx="2311400" cy="9525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7823200" y="2616200"/>
            <a:ext cx="9525" cy="9398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10185400" y="2286000"/>
            <a:ext cx="1168400" cy="147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10287000" y="2349500"/>
            <a:ext cx="965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By Category</a:t>
            </a:r>
          </a:p>
        </p:txBody>
      </p:sp>
      <p:sp>
        <p:nvSpPr>
          <p:cNvPr id="467" name="s467"/>
          <p:cNvSpPr/>
          <p:nvPr/>
        </p:nvSpPr>
        <p:spPr>
          <a:xfrm>
            <a:off x="10490200" y="2565400"/>
            <a:ext cx="558800" cy="5588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8" name="s468"/>
          <p:cNvSpPr/>
          <p:nvPr/>
        </p:nvSpPr>
        <p:spPr>
          <a:xfrm>
            <a:off x="10629900" y="27051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10287000" y="3238500"/>
            <a:ext cx="88900" cy="88900"/>
          </a:xfrm>
          <a:prstGeom prst="ellipse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10426700" y="3200400"/>
            <a:ext cx="889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471" name="s471"/>
          <p:cNvSpPr/>
          <p:nvPr/>
        </p:nvSpPr>
        <p:spPr>
          <a:xfrm>
            <a:off x="10287000" y="3403600"/>
            <a:ext cx="88900" cy="88900"/>
          </a:xfrm>
          <a:prstGeom prst="ellipse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10426700" y="3365500"/>
            <a:ext cx="889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473" name="s473"/>
          <p:cNvSpPr/>
          <p:nvPr/>
        </p:nvSpPr>
        <p:spPr>
          <a:xfrm>
            <a:off x="10287000" y="3568700"/>
            <a:ext cx="88900" cy="889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4" name="s474"/>
          <p:cNvSpPr/>
          <p:nvPr/>
        </p:nvSpPr>
        <p:spPr>
          <a:xfrm>
            <a:off x="10426700" y="3530600"/>
            <a:ext cx="889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Cards</a:t>
            </a:r>
          </a:p>
        </p:txBody>
      </p:sp>
      <p:sp>
        <p:nvSpPr>
          <p:cNvPr id="475" name="s475"/>
          <p:cNvSpPr/>
          <p:nvPr/>
        </p:nvSpPr>
        <p:spPr>
          <a:xfrm>
            <a:off x="7569200" y="3886200"/>
            <a:ext cx="37846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6" name="s476"/>
          <p:cNvSpPr/>
          <p:nvPr/>
        </p:nvSpPr>
        <p:spPr>
          <a:xfrm>
            <a:off x="7569200" y="3886200"/>
            <a:ext cx="3784600" cy="254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7" name="s477"/>
          <p:cNvSpPr/>
          <p:nvPr/>
        </p:nvSpPr>
        <p:spPr>
          <a:xfrm>
            <a:off x="7696200" y="38862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1" spc="6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78" name="s478"/>
          <p:cNvSpPr/>
          <p:nvPr/>
        </p:nvSpPr>
        <p:spPr>
          <a:xfrm>
            <a:off x="8509000" y="38862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1" spc="6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79" name="s479"/>
          <p:cNvSpPr/>
          <p:nvPr/>
        </p:nvSpPr>
        <p:spPr>
          <a:xfrm>
            <a:off x="9702800" y="38862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1" spc="60" dirty="0">
                <a:solidFill>
                  <a:srgbClr val="5B6572"/>
                </a:solidFill>
                <a:latin typeface="Calibri"/>
              </a:rPr>
              <a:t>QTY</a:t>
            </a:r>
          </a:p>
        </p:txBody>
      </p:sp>
      <p:sp>
        <p:nvSpPr>
          <p:cNvPr id="480" name="s480"/>
          <p:cNvSpPr/>
          <p:nvPr/>
        </p:nvSpPr>
        <p:spPr>
          <a:xfrm>
            <a:off x="10312400" y="38862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1" spc="6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81" name="s481"/>
          <p:cNvSpPr/>
          <p:nvPr/>
        </p:nvSpPr>
        <p:spPr>
          <a:xfrm>
            <a:off x="7569200" y="41783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7696200" y="41402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Arial"/>
              </a:rPr>
              <a:t>BK-0142</a:t>
            </a:r>
          </a:p>
        </p:txBody>
      </p:sp>
      <p:sp>
        <p:nvSpPr>
          <p:cNvPr id="483" name="s483"/>
          <p:cNvSpPr/>
          <p:nvPr/>
        </p:nvSpPr>
        <p:spPr>
          <a:xfrm>
            <a:off x="8509000" y="4140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484" name="s484"/>
          <p:cNvSpPr/>
          <p:nvPr/>
        </p:nvSpPr>
        <p:spPr>
          <a:xfrm>
            <a:off x="9702800" y="414020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485" name="s485"/>
          <p:cNvSpPr/>
          <p:nvPr/>
        </p:nvSpPr>
        <p:spPr>
          <a:xfrm>
            <a:off x="10312400" y="4216400"/>
            <a:ext cx="685800" cy="1651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6" name="s486"/>
          <p:cNvSpPr/>
          <p:nvPr/>
        </p:nvSpPr>
        <p:spPr>
          <a:xfrm>
            <a:off x="10312400" y="4216400"/>
            <a:ext cx="685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In Stock</a:t>
            </a:r>
          </a:p>
        </p:txBody>
      </p:sp>
      <p:sp>
        <p:nvSpPr>
          <p:cNvPr id="487" name="s487"/>
          <p:cNvSpPr/>
          <p:nvPr/>
        </p:nvSpPr>
        <p:spPr>
          <a:xfrm>
            <a:off x="7569200" y="4445000"/>
            <a:ext cx="3784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7569200" y="44831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7696200" y="4445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Arial"/>
              </a:rPr>
              <a:t>PZ-0088</a:t>
            </a:r>
          </a:p>
        </p:txBody>
      </p:sp>
      <p:sp>
        <p:nvSpPr>
          <p:cNvPr id="490" name="s490"/>
          <p:cNvSpPr/>
          <p:nvPr/>
        </p:nvSpPr>
        <p:spPr>
          <a:xfrm>
            <a:off x="8509000" y="44450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491" name="s491"/>
          <p:cNvSpPr/>
          <p:nvPr/>
        </p:nvSpPr>
        <p:spPr>
          <a:xfrm>
            <a:off x="9702800" y="444500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492" name="s492"/>
          <p:cNvSpPr/>
          <p:nvPr/>
        </p:nvSpPr>
        <p:spPr>
          <a:xfrm>
            <a:off x="10312400" y="4521200"/>
            <a:ext cx="685800" cy="165100"/>
          </a:xfrm>
          <a:prstGeom prst="roundRect">
            <a:avLst>
              <a:gd name="adj" fmla="val 20000"/>
            </a:avLst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10312400" y="4521200"/>
            <a:ext cx="685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494" name="s494"/>
          <p:cNvSpPr/>
          <p:nvPr/>
        </p:nvSpPr>
        <p:spPr>
          <a:xfrm>
            <a:off x="7569200" y="4749800"/>
            <a:ext cx="3784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7569200" y="47879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7696200" y="47498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Arial"/>
              </a:rPr>
              <a:t>AC-0031</a:t>
            </a:r>
          </a:p>
        </p:txBody>
      </p:sp>
      <p:sp>
        <p:nvSpPr>
          <p:cNvPr id="497" name="s497"/>
          <p:cNvSpPr/>
          <p:nvPr/>
        </p:nvSpPr>
        <p:spPr>
          <a:xfrm>
            <a:off x="8509000" y="47498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Alphabet Flashcards</a:t>
            </a:r>
          </a:p>
        </p:txBody>
      </p:sp>
      <p:sp>
        <p:nvSpPr>
          <p:cNvPr id="498" name="s498"/>
          <p:cNvSpPr/>
          <p:nvPr/>
        </p:nvSpPr>
        <p:spPr>
          <a:xfrm>
            <a:off x="9702800" y="474980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10141A"/>
                </a:solidFill>
                <a:latin typeface="Arial"/>
              </a:rPr>
              <a:t>0</a:t>
            </a:r>
          </a:p>
        </p:txBody>
      </p:sp>
      <p:sp>
        <p:nvSpPr>
          <p:cNvPr id="499" name="s499"/>
          <p:cNvSpPr/>
          <p:nvPr/>
        </p:nvSpPr>
        <p:spPr>
          <a:xfrm>
            <a:off x="10312400" y="4826000"/>
            <a:ext cx="685800" cy="165100"/>
          </a:xfrm>
          <a:prstGeom prst="roundRect">
            <a:avLst>
              <a:gd name="adj" fmla="val 20000"/>
            </a:avLst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0" name="s500"/>
          <p:cNvSpPr/>
          <p:nvPr/>
        </p:nvSpPr>
        <p:spPr>
          <a:xfrm>
            <a:off x="10312400" y="4826000"/>
            <a:ext cx="685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Out</a:t>
            </a:r>
          </a:p>
        </p:txBody>
      </p:sp>
      <p:sp>
        <p:nvSpPr>
          <p:cNvPr id="501" name="s501"/>
          <p:cNvSpPr/>
          <p:nvPr/>
        </p:nvSpPr>
        <p:spPr>
          <a:xfrm>
            <a:off x="7569200" y="5054600"/>
            <a:ext cx="3784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2" name="s502"/>
          <p:cNvSpPr/>
          <p:nvPr/>
        </p:nvSpPr>
        <p:spPr>
          <a:xfrm>
            <a:off x="7569200" y="50927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7696200" y="50546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Arial"/>
              </a:rPr>
              <a:t>CB-0104</a:t>
            </a:r>
          </a:p>
        </p:txBody>
      </p:sp>
      <p:sp>
        <p:nvSpPr>
          <p:cNvPr id="504" name="s504"/>
          <p:cNvSpPr/>
          <p:nvPr/>
        </p:nvSpPr>
        <p:spPr>
          <a:xfrm>
            <a:off x="8509000" y="50546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Handwriting Copybook</a:t>
            </a:r>
          </a:p>
        </p:txBody>
      </p:sp>
      <p:sp>
        <p:nvSpPr>
          <p:cNvPr id="505" name="s505"/>
          <p:cNvSpPr/>
          <p:nvPr/>
        </p:nvSpPr>
        <p:spPr>
          <a:xfrm>
            <a:off x="9702800" y="505460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10141A"/>
                </a:solidFill>
                <a:latin typeface="Arial"/>
              </a:rPr>
              <a:t>940</a:t>
            </a:r>
          </a:p>
        </p:txBody>
      </p:sp>
      <p:sp>
        <p:nvSpPr>
          <p:cNvPr id="506" name="s506"/>
          <p:cNvSpPr/>
          <p:nvPr/>
        </p:nvSpPr>
        <p:spPr>
          <a:xfrm>
            <a:off x="10312400" y="5130800"/>
            <a:ext cx="685800" cy="1651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7" name="s507"/>
          <p:cNvSpPr/>
          <p:nvPr/>
        </p:nvSpPr>
        <p:spPr>
          <a:xfrm>
            <a:off x="10312400" y="5130800"/>
            <a:ext cx="685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In Stock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200BD9-3D1A-A816-57EF-7B7211F2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000" t="5000" r="6000" b="8000"/>
          <a:stretch>
            <a:fillRect/>
          </a:stretch>
        </p:blipFill>
        <p:spPr>
          <a:xfrm>
            <a:off x="660400" y="290206"/>
            <a:ext cx="1752600" cy="9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4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6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1" name="s60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2" name="s602"/>
          <p:cNvSpPr/>
          <p:nvPr/>
        </p:nvSpPr>
        <p:spPr>
          <a:xfrm>
            <a:off x="0" y="828675"/>
            <a:ext cx="1219200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3" name="s603"/>
          <p:cNvSpPr/>
          <p:nvPr/>
        </p:nvSpPr>
        <p:spPr>
          <a:xfrm>
            <a:off x="0" y="0"/>
            <a:ext cx="50800" cy="838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4" name="s604"/>
          <p:cNvSpPr/>
          <p:nvPr/>
        </p:nvSpPr>
        <p:spPr>
          <a:xfrm>
            <a:off x="508000" y="2032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100" dirty="0">
                <a:solidFill>
                  <a:srgbClr val="10141A"/>
                </a:solidFill>
                <a:latin typeface="Cambria"/>
              </a:rPr>
              <a:t>DESIGN SYSTEM</a:t>
            </a:r>
          </a:p>
        </p:txBody>
      </p:sp>
      <p:sp>
        <p:nvSpPr>
          <p:cNvPr id="605" name="s605"/>
          <p:cNvSpPr/>
          <p:nvPr/>
        </p:nvSpPr>
        <p:spPr>
          <a:xfrm>
            <a:off x="508000" y="508000"/>
            <a:ext cx="5969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Tokens, type scale and components — the single source of truth for all 74 screens</a:t>
            </a:r>
          </a:p>
        </p:txBody>
      </p:sp>
      <p:sp>
        <p:nvSpPr>
          <p:cNvPr id="606" name="s606"/>
          <p:cNvSpPr/>
          <p:nvPr/>
        </p:nvSpPr>
        <p:spPr>
          <a:xfrm>
            <a:off x="8128000" y="2540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Lazy Pygmy Inventory Suite</a:t>
            </a:r>
          </a:p>
        </p:txBody>
      </p:sp>
      <p:sp>
        <p:nvSpPr>
          <p:cNvPr id="607" name="s607"/>
          <p:cNvSpPr/>
          <p:nvPr/>
        </p:nvSpPr>
        <p:spPr>
          <a:xfrm>
            <a:off x="8128000" y="457200"/>
            <a:ext cx="3556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Calibri UI  ·  Arial numeric  ·  Cambria display</a:t>
            </a:r>
          </a:p>
        </p:txBody>
      </p:sp>
      <p:sp>
        <p:nvSpPr>
          <p:cNvPr id="608" name="s608"/>
          <p:cNvSpPr/>
          <p:nvPr/>
        </p:nvSpPr>
        <p:spPr>
          <a:xfrm>
            <a:off x="508000" y="1117600"/>
            <a:ext cx="4267200" cy="218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9" name="s609"/>
          <p:cNvSpPr/>
          <p:nvPr/>
        </p:nvSpPr>
        <p:spPr>
          <a:xfrm>
            <a:off x="685800" y="1257300"/>
            <a:ext cx="391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Color Tokens</a:t>
            </a:r>
          </a:p>
        </p:txBody>
      </p:sp>
      <p:sp>
        <p:nvSpPr>
          <p:cNvPr id="610" name="s610"/>
          <p:cNvSpPr/>
          <p:nvPr/>
        </p:nvSpPr>
        <p:spPr>
          <a:xfrm>
            <a:off x="685800" y="1447800"/>
            <a:ext cx="391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Referenced by name, never inlined</a:t>
            </a:r>
          </a:p>
        </p:txBody>
      </p:sp>
      <p:sp>
        <p:nvSpPr>
          <p:cNvPr id="611" name="s611"/>
          <p:cNvSpPr/>
          <p:nvPr/>
        </p:nvSpPr>
        <p:spPr>
          <a:xfrm>
            <a:off x="685800" y="16129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F6F5F1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2" name="s612"/>
          <p:cNvSpPr/>
          <p:nvPr/>
        </p:nvSpPr>
        <p:spPr>
          <a:xfrm>
            <a:off x="876300" y="15748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canvas</a:t>
            </a:r>
          </a:p>
        </p:txBody>
      </p:sp>
      <p:sp>
        <p:nvSpPr>
          <p:cNvPr id="613" name="s613"/>
          <p:cNvSpPr/>
          <p:nvPr/>
        </p:nvSpPr>
        <p:spPr>
          <a:xfrm>
            <a:off x="1498600" y="15748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F6F7F9</a:t>
            </a:r>
          </a:p>
        </p:txBody>
      </p:sp>
      <p:sp>
        <p:nvSpPr>
          <p:cNvPr id="614" name="s614"/>
          <p:cNvSpPr/>
          <p:nvPr/>
        </p:nvSpPr>
        <p:spPr>
          <a:xfrm>
            <a:off x="2019300" y="16129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5" name="s615"/>
          <p:cNvSpPr/>
          <p:nvPr/>
        </p:nvSpPr>
        <p:spPr>
          <a:xfrm>
            <a:off x="2209800" y="15748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surface</a:t>
            </a:r>
          </a:p>
        </p:txBody>
      </p:sp>
      <p:sp>
        <p:nvSpPr>
          <p:cNvPr id="616" name="s616"/>
          <p:cNvSpPr/>
          <p:nvPr/>
        </p:nvSpPr>
        <p:spPr>
          <a:xfrm>
            <a:off x="2832100" y="15748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FFFFFF</a:t>
            </a:r>
          </a:p>
        </p:txBody>
      </p:sp>
      <p:sp>
        <p:nvSpPr>
          <p:cNvPr id="617" name="s617"/>
          <p:cNvSpPr/>
          <p:nvPr/>
        </p:nvSpPr>
        <p:spPr>
          <a:xfrm>
            <a:off x="3352800" y="16129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F0F2F5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8" name="s618"/>
          <p:cNvSpPr/>
          <p:nvPr/>
        </p:nvSpPr>
        <p:spPr>
          <a:xfrm>
            <a:off x="3543300" y="15748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surfaceAlt</a:t>
            </a:r>
          </a:p>
        </p:txBody>
      </p:sp>
      <p:sp>
        <p:nvSpPr>
          <p:cNvPr id="619" name="s619"/>
          <p:cNvSpPr/>
          <p:nvPr/>
        </p:nvSpPr>
        <p:spPr>
          <a:xfrm>
            <a:off x="4165600" y="15748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F0F2F5</a:t>
            </a:r>
          </a:p>
        </p:txBody>
      </p:sp>
      <p:sp>
        <p:nvSpPr>
          <p:cNvPr id="620" name="s620"/>
          <p:cNvSpPr/>
          <p:nvPr/>
        </p:nvSpPr>
        <p:spPr>
          <a:xfrm>
            <a:off x="685800" y="18923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E3E6EB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1" name="s621"/>
          <p:cNvSpPr/>
          <p:nvPr/>
        </p:nvSpPr>
        <p:spPr>
          <a:xfrm>
            <a:off x="876300" y="18542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border</a:t>
            </a:r>
          </a:p>
        </p:txBody>
      </p:sp>
      <p:sp>
        <p:nvSpPr>
          <p:cNvPr id="622" name="s622"/>
          <p:cNvSpPr/>
          <p:nvPr/>
        </p:nvSpPr>
        <p:spPr>
          <a:xfrm>
            <a:off x="1498600" y="18542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E3E6EB</a:t>
            </a:r>
          </a:p>
        </p:txBody>
      </p:sp>
      <p:sp>
        <p:nvSpPr>
          <p:cNvPr id="623" name="s623"/>
          <p:cNvSpPr/>
          <p:nvPr/>
        </p:nvSpPr>
        <p:spPr>
          <a:xfrm>
            <a:off x="2019300" y="18923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C9CFD8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4" name="s624"/>
          <p:cNvSpPr/>
          <p:nvPr/>
        </p:nvSpPr>
        <p:spPr>
          <a:xfrm>
            <a:off x="2209800" y="18542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borderStrong</a:t>
            </a:r>
          </a:p>
        </p:txBody>
      </p:sp>
      <p:sp>
        <p:nvSpPr>
          <p:cNvPr id="625" name="s625"/>
          <p:cNvSpPr/>
          <p:nvPr/>
        </p:nvSpPr>
        <p:spPr>
          <a:xfrm>
            <a:off x="2832100" y="18542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C9CFD8</a:t>
            </a:r>
          </a:p>
        </p:txBody>
      </p:sp>
      <p:sp>
        <p:nvSpPr>
          <p:cNvPr id="626" name="s626"/>
          <p:cNvSpPr/>
          <p:nvPr/>
        </p:nvSpPr>
        <p:spPr>
          <a:xfrm>
            <a:off x="3352800" y="18923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10141A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7" name="s627"/>
          <p:cNvSpPr/>
          <p:nvPr/>
        </p:nvSpPr>
        <p:spPr>
          <a:xfrm>
            <a:off x="3543300" y="18542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text</a:t>
            </a:r>
          </a:p>
        </p:txBody>
      </p:sp>
      <p:sp>
        <p:nvSpPr>
          <p:cNvPr id="628" name="s628"/>
          <p:cNvSpPr/>
          <p:nvPr/>
        </p:nvSpPr>
        <p:spPr>
          <a:xfrm>
            <a:off x="4165600" y="18542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10141A</a:t>
            </a:r>
          </a:p>
        </p:txBody>
      </p:sp>
      <p:sp>
        <p:nvSpPr>
          <p:cNvPr id="629" name="s629"/>
          <p:cNvSpPr/>
          <p:nvPr/>
        </p:nvSpPr>
        <p:spPr>
          <a:xfrm>
            <a:off x="685800" y="21717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5B6572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0" name="s630"/>
          <p:cNvSpPr/>
          <p:nvPr/>
        </p:nvSpPr>
        <p:spPr>
          <a:xfrm>
            <a:off x="876300" y="21336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textMuted</a:t>
            </a:r>
          </a:p>
        </p:txBody>
      </p:sp>
      <p:sp>
        <p:nvSpPr>
          <p:cNvPr id="631" name="s631"/>
          <p:cNvSpPr/>
          <p:nvPr/>
        </p:nvSpPr>
        <p:spPr>
          <a:xfrm>
            <a:off x="1498600" y="21336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5B6572</a:t>
            </a:r>
          </a:p>
        </p:txBody>
      </p:sp>
      <p:sp>
        <p:nvSpPr>
          <p:cNvPr id="632" name="s632"/>
          <p:cNvSpPr/>
          <p:nvPr/>
        </p:nvSpPr>
        <p:spPr>
          <a:xfrm>
            <a:off x="2019300" y="21717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8A93A0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3" name="s633"/>
          <p:cNvSpPr/>
          <p:nvPr/>
        </p:nvSpPr>
        <p:spPr>
          <a:xfrm>
            <a:off x="2209800" y="21336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textFaint</a:t>
            </a:r>
          </a:p>
        </p:txBody>
      </p:sp>
      <p:sp>
        <p:nvSpPr>
          <p:cNvPr id="634" name="s634"/>
          <p:cNvSpPr/>
          <p:nvPr/>
        </p:nvSpPr>
        <p:spPr>
          <a:xfrm>
            <a:off x="2832100" y="21336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8A93A0</a:t>
            </a:r>
          </a:p>
        </p:txBody>
      </p:sp>
      <p:sp>
        <p:nvSpPr>
          <p:cNvPr id="635" name="s635"/>
          <p:cNvSpPr/>
          <p:nvPr/>
        </p:nvSpPr>
        <p:spPr>
          <a:xfrm>
            <a:off x="3352800" y="21717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14304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6" name="s636"/>
          <p:cNvSpPr/>
          <p:nvPr/>
        </p:nvSpPr>
        <p:spPr>
          <a:xfrm>
            <a:off x="3543300" y="21336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sidebarBg</a:t>
            </a:r>
          </a:p>
        </p:txBody>
      </p:sp>
      <p:sp>
        <p:nvSpPr>
          <p:cNvPr id="637" name="s637"/>
          <p:cNvSpPr/>
          <p:nvPr/>
        </p:nvSpPr>
        <p:spPr>
          <a:xfrm>
            <a:off x="4165600" y="21336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0E2C2A</a:t>
            </a:r>
          </a:p>
        </p:txBody>
      </p:sp>
      <p:sp>
        <p:nvSpPr>
          <p:cNvPr id="638" name="s638"/>
          <p:cNvSpPr/>
          <p:nvPr/>
        </p:nvSpPr>
        <p:spPr>
          <a:xfrm>
            <a:off x="685800" y="24511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B4CDD2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9" name="s639"/>
          <p:cNvSpPr/>
          <p:nvPr/>
        </p:nvSpPr>
        <p:spPr>
          <a:xfrm>
            <a:off x="876300" y="24130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sidebarText</a:t>
            </a:r>
          </a:p>
        </p:txBody>
      </p:sp>
      <p:sp>
        <p:nvSpPr>
          <p:cNvPr id="640" name="s640"/>
          <p:cNvSpPr/>
          <p:nvPr/>
        </p:nvSpPr>
        <p:spPr>
          <a:xfrm>
            <a:off x="1498600" y="24130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A9C0BB</a:t>
            </a:r>
          </a:p>
        </p:txBody>
      </p:sp>
      <p:sp>
        <p:nvSpPr>
          <p:cNvPr id="641" name="s641"/>
          <p:cNvSpPr/>
          <p:nvPr/>
        </p:nvSpPr>
        <p:spPr>
          <a:xfrm>
            <a:off x="2019300" y="24511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2559A8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2" name="s642"/>
          <p:cNvSpPr/>
          <p:nvPr/>
        </p:nvSpPr>
        <p:spPr>
          <a:xfrm>
            <a:off x="2209800" y="24130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sidebarActive</a:t>
            </a:r>
          </a:p>
        </p:txBody>
      </p:sp>
      <p:sp>
        <p:nvSpPr>
          <p:cNvPr id="643" name="s643"/>
          <p:cNvSpPr/>
          <p:nvPr/>
        </p:nvSpPr>
        <p:spPr>
          <a:xfrm>
            <a:off x="2832100" y="24130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12564E</a:t>
            </a:r>
          </a:p>
        </p:txBody>
      </p:sp>
      <p:sp>
        <p:nvSpPr>
          <p:cNvPr id="644" name="s644"/>
          <p:cNvSpPr/>
          <p:nvPr/>
        </p:nvSpPr>
        <p:spPr>
          <a:xfrm>
            <a:off x="3352800" y="24511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2559A8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5" name="s645"/>
          <p:cNvSpPr/>
          <p:nvPr/>
        </p:nvSpPr>
        <p:spPr>
          <a:xfrm>
            <a:off x="3543300" y="24130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primary</a:t>
            </a:r>
          </a:p>
        </p:txBody>
      </p:sp>
      <p:sp>
        <p:nvSpPr>
          <p:cNvPr id="646" name="s646"/>
          <p:cNvSpPr/>
          <p:nvPr/>
        </p:nvSpPr>
        <p:spPr>
          <a:xfrm>
            <a:off x="4165600" y="24130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12564E</a:t>
            </a:r>
          </a:p>
        </p:txBody>
      </p:sp>
      <p:sp>
        <p:nvSpPr>
          <p:cNvPr id="647" name="s647"/>
          <p:cNvSpPr/>
          <p:nvPr/>
        </p:nvSpPr>
        <p:spPr>
          <a:xfrm>
            <a:off x="685800" y="27305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143B63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8" name="s648"/>
          <p:cNvSpPr/>
          <p:nvPr/>
        </p:nvSpPr>
        <p:spPr>
          <a:xfrm>
            <a:off x="876300" y="26924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primaryHover</a:t>
            </a:r>
          </a:p>
        </p:txBody>
      </p:sp>
      <p:sp>
        <p:nvSpPr>
          <p:cNvPr id="649" name="s649"/>
          <p:cNvSpPr/>
          <p:nvPr/>
        </p:nvSpPr>
        <p:spPr>
          <a:xfrm>
            <a:off x="1498600" y="26924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0D3F39</a:t>
            </a:r>
          </a:p>
        </p:txBody>
      </p:sp>
      <p:sp>
        <p:nvSpPr>
          <p:cNvPr id="650" name="s650"/>
          <p:cNvSpPr/>
          <p:nvPr/>
        </p:nvSpPr>
        <p:spPr>
          <a:xfrm>
            <a:off x="2019300" y="27305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E6F1F1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1" name="s651"/>
          <p:cNvSpPr/>
          <p:nvPr/>
        </p:nvSpPr>
        <p:spPr>
          <a:xfrm>
            <a:off x="2209800" y="26924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primaryTint</a:t>
            </a:r>
          </a:p>
        </p:txBody>
      </p:sp>
      <p:sp>
        <p:nvSpPr>
          <p:cNvPr id="652" name="s652"/>
          <p:cNvSpPr/>
          <p:nvPr/>
        </p:nvSpPr>
        <p:spPr>
          <a:xfrm>
            <a:off x="2832100" y="26924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E6F0EE</a:t>
            </a:r>
          </a:p>
        </p:txBody>
      </p:sp>
      <p:sp>
        <p:nvSpPr>
          <p:cNvPr id="653" name="s653"/>
          <p:cNvSpPr/>
          <p:nvPr/>
        </p:nvSpPr>
        <p:spPr>
          <a:xfrm>
            <a:off x="3352800" y="27305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1E8E5A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4" name="s654"/>
          <p:cNvSpPr/>
          <p:nvPr/>
        </p:nvSpPr>
        <p:spPr>
          <a:xfrm>
            <a:off x="3543300" y="26924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success</a:t>
            </a:r>
          </a:p>
        </p:txBody>
      </p:sp>
      <p:sp>
        <p:nvSpPr>
          <p:cNvPr id="655" name="s655"/>
          <p:cNvSpPr/>
          <p:nvPr/>
        </p:nvSpPr>
        <p:spPr>
          <a:xfrm>
            <a:off x="4165600" y="26924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1E8E5A</a:t>
            </a:r>
          </a:p>
        </p:txBody>
      </p:sp>
      <p:sp>
        <p:nvSpPr>
          <p:cNvPr id="656" name="s656"/>
          <p:cNvSpPr/>
          <p:nvPr/>
        </p:nvSpPr>
        <p:spPr>
          <a:xfrm>
            <a:off x="685800" y="30099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D08700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7" name="s657"/>
          <p:cNvSpPr/>
          <p:nvPr/>
        </p:nvSpPr>
        <p:spPr>
          <a:xfrm>
            <a:off x="876300" y="29718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warning</a:t>
            </a:r>
          </a:p>
        </p:txBody>
      </p:sp>
      <p:sp>
        <p:nvSpPr>
          <p:cNvPr id="658" name="s658"/>
          <p:cNvSpPr/>
          <p:nvPr/>
        </p:nvSpPr>
        <p:spPr>
          <a:xfrm>
            <a:off x="1498600" y="29718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D08700</a:t>
            </a:r>
          </a:p>
        </p:txBody>
      </p:sp>
      <p:sp>
        <p:nvSpPr>
          <p:cNvPr id="659" name="s659"/>
          <p:cNvSpPr/>
          <p:nvPr/>
        </p:nvSpPr>
        <p:spPr>
          <a:xfrm>
            <a:off x="2019300" y="30099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B3261E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0" name="s660"/>
          <p:cNvSpPr/>
          <p:nvPr/>
        </p:nvSpPr>
        <p:spPr>
          <a:xfrm>
            <a:off x="2209800" y="29718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danger</a:t>
            </a:r>
          </a:p>
        </p:txBody>
      </p:sp>
      <p:sp>
        <p:nvSpPr>
          <p:cNvPr id="661" name="s661"/>
          <p:cNvSpPr/>
          <p:nvPr/>
        </p:nvSpPr>
        <p:spPr>
          <a:xfrm>
            <a:off x="2832100" y="29718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B3261E</a:t>
            </a:r>
          </a:p>
        </p:txBody>
      </p:sp>
      <p:sp>
        <p:nvSpPr>
          <p:cNvPr id="662" name="s662"/>
          <p:cNvSpPr/>
          <p:nvPr/>
        </p:nvSpPr>
        <p:spPr>
          <a:xfrm>
            <a:off x="3352800" y="3009900"/>
            <a:ext cx="139700" cy="139700"/>
          </a:xfrm>
          <a:prstGeom prst="roundRect">
            <a:avLst>
              <a:gd name="adj" fmla="val 18000"/>
            </a:avLst>
          </a:prstGeom>
          <a:solidFill>
            <a:srgbClr val="2C6ECB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3" name="s663"/>
          <p:cNvSpPr/>
          <p:nvPr/>
        </p:nvSpPr>
        <p:spPr>
          <a:xfrm>
            <a:off x="3543300" y="29718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info</a:t>
            </a:r>
          </a:p>
        </p:txBody>
      </p:sp>
      <p:sp>
        <p:nvSpPr>
          <p:cNvPr id="664" name="s664"/>
          <p:cNvSpPr/>
          <p:nvPr/>
        </p:nvSpPr>
        <p:spPr>
          <a:xfrm>
            <a:off x="4165600" y="29718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2C6ECB</a:t>
            </a:r>
          </a:p>
        </p:txBody>
      </p:sp>
      <p:sp>
        <p:nvSpPr>
          <p:cNvPr id="665" name="s665"/>
          <p:cNvSpPr/>
          <p:nvPr/>
        </p:nvSpPr>
        <p:spPr>
          <a:xfrm>
            <a:off x="508000" y="3581400"/>
            <a:ext cx="4267200" cy="63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6" name="s666"/>
          <p:cNvSpPr/>
          <p:nvPr/>
        </p:nvSpPr>
        <p:spPr>
          <a:xfrm>
            <a:off x="685800" y="3670300"/>
            <a:ext cx="3911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Icon Set</a:t>
            </a:r>
          </a:p>
        </p:txBody>
      </p:sp>
      <p:sp>
        <p:nvSpPr>
          <p:cNvPr id="668" name="s668"/>
          <p:cNvSpPr/>
          <p:nvPr/>
        </p:nvSpPr>
        <p:spPr>
          <a:xfrm>
            <a:off x="5054600" y="1117600"/>
            <a:ext cx="3098800" cy="309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9" name="s669"/>
          <p:cNvSpPr/>
          <p:nvPr/>
        </p:nvSpPr>
        <p:spPr>
          <a:xfrm>
            <a:off x="5232400" y="12573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Type Scale</a:t>
            </a:r>
          </a:p>
        </p:txBody>
      </p:sp>
      <p:sp>
        <p:nvSpPr>
          <p:cNvPr id="670" name="s670"/>
          <p:cNvSpPr/>
          <p:nvPr/>
        </p:nvSpPr>
        <p:spPr>
          <a:xfrm>
            <a:off x="5232400" y="144780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UI scale, not presentation scale</a:t>
            </a:r>
          </a:p>
        </p:txBody>
      </p:sp>
      <p:sp>
        <p:nvSpPr>
          <p:cNvPr id="671" name="s671"/>
          <p:cNvSpPr/>
          <p:nvPr/>
        </p:nvSpPr>
        <p:spPr>
          <a:xfrm>
            <a:off x="5232400" y="16764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Page title</a:t>
            </a:r>
          </a:p>
        </p:txBody>
      </p:sp>
      <p:sp>
        <p:nvSpPr>
          <p:cNvPr id="672" name="s672"/>
          <p:cNvSpPr/>
          <p:nvPr/>
        </p:nvSpPr>
        <p:spPr>
          <a:xfrm>
            <a:off x="6172200" y="1676400"/>
            <a:ext cx="1854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Inventory</a:t>
            </a:r>
          </a:p>
        </p:txBody>
      </p:sp>
      <p:sp>
        <p:nvSpPr>
          <p:cNvPr id="673" name="s673"/>
          <p:cNvSpPr/>
          <p:nvPr/>
        </p:nvSpPr>
        <p:spPr>
          <a:xfrm>
            <a:off x="5232400" y="20828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Card heading</a:t>
            </a:r>
          </a:p>
        </p:txBody>
      </p:sp>
      <p:sp>
        <p:nvSpPr>
          <p:cNvPr id="674" name="s674"/>
          <p:cNvSpPr/>
          <p:nvPr/>
        </p:nvSpPr>
        <p:spPr>
          <a:xfrm>
            <a:off x="6172200" y="2082800"/>
            <a:ext cx="1854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Stock by warehouse</a:t>
            </a:r>
          </a:p>
        </p:txBody>
      </p:sp>
      <p:sp>
        <p:nvSpPr>
          <p:cNvPr id="675" name="s675"/>
          <p:cNvSpPr/>
          <p:nvPr/>
        </p:nvSpPr>
        <p:spPr>
          <a:xfrm>
            <a:off x="5232400" y="23876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KPI number</a:t>
            </a:r>
          </a:p>
        </p:txBody>
      </p:sp>
      <p:sp>
        <p:nvSpPr>
          <p:cNvPr id="676" name="s676"/>
          <p:cNvSpPr/>
          <p:nvPr/>
        </p:nvSpPr>
        <p:spPr>
          <a:xfrm>
            <a:off x="6172200" y="2387600"/>
            <a:ext cx="1854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200" b="1" spc="0" dirty="0">
                <a:solidFill>
                  <a:srgbClr val="10141A"/>
                </a:solidFill>
                <a:latin typeface="Arial"/>
              </a:rPr>
              <a:t>18,450</a:t>
            </a:r>
          </a:p>
        </p:txBody>
      </p:sp>
      <p:sp>
        <p:nvSpPr>
          <p:cNvPr id="677" name="s677"/>
          <p:cNvSpPr/>
          <p:nvPr/>
        </p:nvSpPr>
        <p:spPr>
          <a:xfrm>
            <a:off x="5232400" y="28194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Body / value</a:t>
            </a:r>
          </a:p>
        </p:txBody>
      </p:sp>
      <p:sp>
        <p:nvSpPr>
          <p:cNvPr id="678" name="s678"/>
          <p:cNvSpPr/>
          <p:nvPr/>
        </p:nvSpPr>
        <p:spPr>
          <a:xfrm>
            <a:off x="6172200" y="2819400"/>
            <a:ext cx="1854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679" name="s679"/>
          <p:cNvSpPr/>
          <p:nvPr/>
        </p:nvSpPr>
        <p:spPr>
          <a:xfrm>
            <a:off x="5232400" y="3098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Field label</a:t>
            </a:r>
          </a:p>
        </p:txBody>
      </p:sp>
      <p:sp>
        <p:nvSpPr>
          <p:cNvPr id="680" name="s680"/>
          <p:cNvSpPr/>
          <p:nvPr/>
        </p:nvSpPr>
        <p:spPr>
          <a:xfrm>
            <a:off x="6172200" y="3098800"/>
            <a:ext cx="1854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Reorder level</a:t>
            </a:r>
          </a:p>
        </p:txBody>
      </p:sp>
      <p:sp>
        <p:nvSpPr>
          <p:cNvPr id="681" name="s681"/>
          <p:cNvSpPr/>
          <p:nvPr/>
        </p:nvSpPr>
        <p:spPr>
          <a:xfrm>
            <a:off x="5232400" y="3352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Table cell</a:t>
            </a:r>
          </a:p>
        </p:txBody>
      </p:sp>
      <p:sp>
        <p:nvSpPr>
          <p:cNvPr id="682" name="s682"/>
          <p:cNvSpPr/>
          <p:nvPr/>
        </p:nvSpPr>
        <p:spPr>
          <a:xfrm>
            <a:off x="6172200" y="3352800"/>
            <a:ext cx="1854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BK-0142</a:t>
            </a:r>
          </a:p>
        </p:txBody>
      </p:sp>
      <p:sp>
        <p:nvSpPr>
          <p:cNvPr id="683" name="s683"/>
          <p:cNvSpPr/>
          <p:nvPr/>
        </p:nvSpPr>
        <p:spPr>
          <a:xfrm>
            <a:off x="5232400" y="3606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Caption</a:t>
            </a:r>
          </a:p>
        </p:txBody>
      </p:sp>
      <p:sp>
        <p:nvSpPr>
          <p:cNvPr id="684" name="s684"/>
          <p:cNvSpPr/>
          <p:nvPr/>
        </p:nvSpPr>
        <p:spPr>
          <a:xfrm>
            <a:off x="6172200" y="3606800"/>
            <a:ext cx="1854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Updated 2 min ago</a:t>
            </a:r>
          </a:p>
        </p:txBody>
      </p:sp>
      <p:sp>
        <p:nvSpPr>
          <p:cNvPr id="685" name="s685"/>
          <p:cNvSpPr/>
          <p:nvPr/>
        </p:nvSpPr>
        <p:spPr>
          <a:xfrm>
            <a:off x="8432800" y="1117600"/>
            <a:ext cx="3251200" cy="309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86" name="s686"/>
          <p:cNvSpPr/>
          <p:nvPr/>
        </p:nvSpPr>
        <p:spPr>
          <a:xfrm>
            <a:off x="8610600" y="1257300"/>
            <a:ext cx="2895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Buttons &amp; Inputs</a:t>
            </a:r>
          </a:p>
        </p:txBody>
      </p:sp>
      <p:sp>
        <p:nvSpPr>
          <p:cNvPr id="687" name="s687"/>
          <p:cNvSpPr/>
          <p:nvPr/>
        </p:nvSpPr>
        <p:spPr>
          <a:xfrm>
            <a:off x="8610600" y="1447800"/>
            <a:ext cx="289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Default · focus · disabled · error</a:t>
            </a:r>
          </a:p>
        </p:txBody>
      </p:sp>
      <p:sp>
        <p:nvSpPr>
          <p:cNvPr id="688" name="s688"/>
          <p:cNvSpPr/>
          <p:nvPr/>
        </p:nvSpPr>
        <p:spPr>
          <a:xfrm>
            <a:off x="8610600" y="1625600"/>
            <a:ext cx="1371600" cy="30480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89" name="s689"/>
          <p:cNvSpPr/>
          <p:nvPr/>
        </p:nvSpPr>
        <p:spPr>
          <a:xfrm>
            <a:off x="8610600" y="16256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Save Product</a:t>
            </a:r>
          </a:p>
        </p:txBody>
      </p:sp>
      <p:sp>
        <p:nvSpPr>
          <p:cNvPr id="690" name="s690"/>
          <p:cNvSpPr/>
          <p:nvPr/>
        </p:nvSpPr>
        <p:spPr>
          <a:xfrm>
            <a:off x="10134600" y="1625600"/>
            <a:ext cx="1371600" cy="304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91" name="s691"/>
          <p:cNvSpPr/>
          <p:nvPr/>
        </p:nvSpPr>
        <p:spPr>
          <a:xfrm>
            <a:off x="10134600" y="16256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Cancel</a:t>
            </a:r>
          </a:p>
        </p:txBody>
      </p:sp>
      <p:sp>
        <p:nvSpPr>
          <p:cNvPr id="692" name="s692"/>
          <p:cNvSpPr/>
          <p:nvPr/>
        </p:nvSpPr>
        <p:spPr>
          <a:xfrm>
            <a:off x="8610600" y="2006600"/>
            <a:ext cx="1371600" cy="304800"/>
          </a:xfrm>
          <a:prstGeom prst="roundRect">
            <a:avLst>
              <a:gd name="adj" fmla="val 14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93" name="s693"/>
          <p:cNvSpPr/>
          <p:nvPr/>
        </p:nvSpPr>
        <p:spPr>
          <a:xfrm>
            <a:off x="8610600" y="20066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5B6572"/>
                </a:solidFill>
                <a:latin typeface="Calibri"/>
              </a:rPr>
              <a:t>Export</a:t>
            </a:r>
          </a:p>
        </p:txBody>
      </p:sp>
      <p:sp>
        <p:nvSpPr>
          <p:cNvPr id="694" name="s694"/>
          <p:cNvSpPr/>
          <p:nvPr/>
        </p:nvSpPr>
        <p:spPr>
          <a:xfrm>
            <a:off x="10134600" y="2006600"/>
            <a:ext cx="1371600" cy="304800"/>
          </a:xfrm>
          <a:prstGeom prst="roundRect">
            <a:avLst>
              <a:gd name="adj" fmla="val 14000"/>
            </a:avLst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95" name="s695"/>
          <p:cNvSpPr/>
          <p:nvPr/>
        </p:nvSpPr>
        <p:spPr>
          <a:xfrm>
            <a:off x="10134600" y="20066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696" name="s696"/>
          <p:cNvSpPr/>
          <p:nvPr/>
        </p:nvSpPr>
        <p:spPr>
          <a:xfrm>
            <a:off x="8610600" y="2463800"/>
            <a:ext cx="2921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Product name</a:t>
            </a:r>
          </a:p>
        </p:txBody>
      </p:sp>
      <p:sp>
        <p:nvSpPr>
          <p:cNvPr id="697" name="s697"/>
          <p:cNvSpPr/>
          <p:nvPr/>
        </p:nvSpPr>
        <p:spPr>
          <a:xfrm>
            <a:off x="8610600" y="2616200"/>
            <a:ext cx="2921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98" name="s698"/>
          <p:cNvSpPr/>
          <p:nvPr/>
        </p:nvSpPr>
        <p:spPr>
          <a:xfrm>
            <a:off x="8712200" y="26162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699" name="s699"/>
          <p:cNvSpPr/>
          <p:nvPr/>
        </p:nvSpPr>
        <p:spPr>
          <a:xfrm>
            <a:off x="8610600" y="2870200"/>
            <a:ext cx="2921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Reorder level (focus)</a:t>
            </a:r>
          </a:p>
        </p:txBody>
      </p:sp>
      <p:sp>
        <p:nvSpPr>
          <p:cNvPr id="700" name="s700"/>
          <p:cNvSpPr/>
          <p:nvPr/>
        </p:nvSpPr>
        <p:spPr>
          <a:xfrm>
            <a:off x="8610600" y="3022600"/>
            <a:ext cx="2921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01" name="s701"/>
          <p:cNvSpPr/>
          <p:nvPr/>
        </p:nvSpPr>
        <p:spPr>
          <a:xfrm>
            <a:off x="8712200" y="30226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120</a:t>
            </a:r>
          </a:p>
        </p:txBody>
      </p:sp>
      <p:sp>
        <p:nvSpPr>
          <p:cNvPr id="702" name="s702"/>
          <p:cNvSpPr/>
          <p:nvPr/>
        </p:nvSpPr>
        <p:spPr>
          <a:xfrm>
            <a:off x="8610600" y="3276600"/>
            <a:ext cx="2921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SKU (disabled)</a:t>
            </a:r>
          </a:p>
        </p:txBody>
      </p:sp>
      <p:sp>
        <p:nvSpPr>
          <p:cNvPr id="703" name="s703"/>
          <p:cNvSpPr/>
          <p:nvPr/>
        </p:nvSpPr>
        <p:spPr>
          <a:xfrm>
            <a:off x="8610600" y="3429000"/>
            <a:ext cx="2921000" cy="2540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04" name="s704"/>
          <p:cNvSpPr/>
          <p:nvPr/>
        </p:nvSpPr>
        <p:spPr>
          <a:xfrm>
            <a:off x="8712200" y="34290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8A93A0"/>
                </a:solidFill>
                <a:latin typeface="Arial"/>
              </a:rPr>
              <a:t>BK-0142</a:t>
            </a:r>
          </a:p>
        </p:txBody>
      </p:sp>
      <p:sp>
        <p:nvSpPr>
          <p:cNvPr id="705" name="s705"/>
          <p:cNvSpPr/>
          <p:nvPr/>
        </p:nvSpPr>
        <p:spPr>
          <a:xfrm>
            <a:off x="8610600" y="3683000"/>
            <a:ext cx="2921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Cost price (error)</a:t>
            </a:r>
          </a:p>
        </p:txBody>
      </p:sp>
      <p:sp>
        <p:nvSpPr>
          <p:cNvPr id="706" name="s706"/>
          <p:cNvSpPr/>
          <p:nvPr/>
        </p:nvSpPr>
        <p:spPr>
          <a:xfrm>
            <a:off x="8610600" y="3835400"/>
            <a:ext cx="2921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261E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07" name="s707"/>
          <p:cNvSpPr/>
          <p:nvPr/>
        </p:nvSpPr>
        <p:spPr>
          <a:xfrm>
            <a:off x="8712200" y="38354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-4.00</a:t>
            </a:r>
          </a:p>
        </p:txBody>
      </p:sp>
      <p:sp>
        <p:nvSpPr>
          <p:cNvPr id="708" name="s708"/>
          <p:cNvSpPr/>
          <p:nvPr/>
        </p:nvSpPr>
        <p:spPr>
          <a:xfrm>
            <a:off x="8610600" y="4064000"/>
            <a:ext cx="2921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B3261E"/>
                </a:solidFill>
                <a:latin typeface="Calibri"/>
              </a:rPr>
              <a:t>Cost price must be greater than 0</a:t>
            </a:r>
          </a:p>
        </p:txBody>
      </p:sp>
      <p:sp>
        <p:nvSpPr>
          <p:cNvPr id="709" name="s709"/>
          <p:cNvSpPr/>
          <p:nvPr/>
        </p:nvSpPr>
        <p:spPr>
          <a:xfrm>
            <a:off x="508000" y="4495800"/>
            <a:ext cx="4267200" cy="1854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10" name="s710"/>
          <p:cNvSpPr/>
          <p:nvPr/>
        </p:nvSpPr>
        <p:spPr>
          <a:xfrm>
            <a:off x="685800" y="4635500"/>
            <a:ext cx="391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Status Badges</a:t>
            </a:r>
          </a:p>
        </p:txBody>
      </p:sp>
      <p:sp>
        <p:nvSpPr>
          <p:cNvPr id="711" name="s711"/>
          <p:cNvSpPr/>
          <p:nvPr/>
        </p:nvSpPr>
        <p:spPr>
          <a:xfrm>
            <a:off x="685800" y="4826000"/>
            <a:ext cx="391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Text always present — never colour alone</a:t>
            </a:r>
          </a:p>
        </p:txBody>
      </p:sp>
      <p:sp>
        <p:nvSpPr>
          <p:cNvPr id="712" name="s712"/>
          <p:cNvSpPr/>
          <p:nvPr/>
        </p:nvSpPr>
        <p:spPr>
          <a:xfrm>
            <a:off x="685800" y="505460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Stock</a:t>
            </a:r>
          </a:p>
        </p:txBody>
      </p:sp>
      <p:sp>
        <p:nvSpPr>
          <p:cNvPr id="713" name="s713"/>
          <p:cNvSpPr/>
          <p:nvPr/>
        </p:nvSpPr>
        <p:spPr>
          <a:xfrm>
            <a:off x="1320800" y="5054600"/>
            <a:ext cx="68072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14" name="s714"/>
          <p:cNvSpPr/>
          <p:nvPr/>
        </p:nvSpPr>
        <p:spPr>
          <a:xfrm>
            <a:off x="1320800" y="5054600"/>
            <a:ext cx="6807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715" name="s715"/>
          <p:cNvSpPr/>
          <p:nvPr/>
        </p:nvSpPr>
        <p:spPr>
          <a:xfrm>
            <a:off x="2077720" y="5054600"/>
            <a:ext cx="74041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16" name="s716"/>
          <p:cNvSpPr/>
          <p:nvPr/>
        </p:nvSpPr>
        <p:spPr>
          <a:xfrm>
            <a:off x="2077720" y="5054600"/>
            <a:ext cx="74041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717" name="s717"/>
          <p:cNvSpPr/>
          <p:nvPr/>
        </p:nvSpPr>
        <p:spPr>
          <a:xfrm>
            <a:off x="2894330" y="5054600"/>
            <a:ext cx="91948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18" name="s718"/>
          <p:cNvSpPr/>
          <p:nvPr/>
        </p:nvSpPr>
        <p:spPr>
          <a:xfrm>
            <a:off x="2894330" y="5054600"/>
            <a:ext cx="9194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B3261E"/>
                </a:solidFill>
                <a:latin typeface="Calibri"/>
              </a:rPr>
              <a:t>Out of Stock</a:t>
            </a:r>
          </a:p>
        </p:txBody>
      </p:sp>
      <p:sp>
        <p:nvSpPr>
          <p:cNvPr id="719" name="s719"/>
          <p:cNvSpPr/>
          <p:nvPr/>
        </p:nvSpPr>
        <p:spPr>
          <a:xfrm>
            <a:off x="685800" y="546100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Order</a:t>
            </a:r>
          </a:p>
        </p:txBody>
      </p:sp>
      <p:sp>
        <p:nvSpPr>
          <p:cNvPr id="720" name="s720"/>
          <p:cNvSpPr/>
          <p:nvPr/>
        </p:nvSpPr>
        <p:spPr>
          <a:xfrm>
            <a:off x="1320800" y="5461000"/>
            <a:ext cx="74041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1" name="s721"/>
          <p:cNvSpPr/>
          <p:nvPr/>
        </p:nvSpPr>
        <p:spPr>
          <a:xfrm>
            <a:off x="1320800" y="5461000"/>
            <a:ext cx="74041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C6ECB"/>
                </a:solidFill>
                <a:latin typeface="Calibri"/>
              </a:rPr>
              <a:t>Confirmed</a:t>
            </a:r>
          </a:p>
        </p:txBody>
      </p:sp>
      <p:sp>
        <p:nvSpPr>
          <p:cNvPr id="722" name="s722"/>
          <p:cNvSpPr/>
          <p:nvPr/>
        </p:nvSpPr>
        <p:spPr>
          <a:xfrm>
            <a:off x="2137410" y="5461000"/>
            <a:ext cx="56134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3" name="s723"/>
          <p:cNvSpPr/>
          <p:nvPr/>
        </p:nvSpPr>
        <p:spPr>
          <a:xfrm>
            <a:off x="2137410" y="5461000"/>
            <a:ext cx="5613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Packed</a:t>
            </a:r>
          </a:p>
        </p:txBody>
      </p:sp>
      <p:sp>
        <p:nvSpPr>
          <p:cNvPr id="724" name="s724"/>
          <p:cNvSpPr/>
          <p:nvPr/>
        </p:nvSpPr>
        <p:spPr>
          <a:xfrm>
            <a:off x="2774950" y="5461000"/>
            <a:ext cx="74041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5" name="s725"/>
          <p:cNvSpPr/>
          <p:nvPr/>
        </p:nvSpPr>
        <p:spPr>
          <a:xfrm>
            <a:off x="2774950" y="5461000"/>
            <a:ext cx="74041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Delivered</a:t>
            </a:r>
          </a:p>
        </p:txBody>
      </p:sp>
      <p:sp>
        <p:nvSpPr>
          <p:cNvPr id="726" name="s726"/>
          <p:cNvSpPr/>
          <p:nvPr/>
        </p:nvSpPr>
        <p:spPr>
          <a:xfrm>
            <a:off x="685800" y="586740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Payment</a:t>
            </a:r>
          </a:p>
        </p:txBody>
      </p:sp>
      <p:sp>
        <p:nvSpPr>
          <p:cNvPr id="727" name="s727"/>
          <p:cNvSpPr/>
          <p:nvPr/>
        </p:nvSpPr>
        <p:spPr>
          <a:xfrm>
            <a:off x="1320800" y="5867400"/>
            <a:ext cx="56134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8" name="s728"/>
          <p:cNvSpPr/>
          <p:nvPr/>
        </p:nvSpPr>
        <p:spPr>
          <a:xfrm>
            <a:off x="1320800" y="5867400"/>
            <a:ext cx="5613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B3261E"/>
                </a:solidFill>
                <a:latin typeface="Calibri"/>
              </a:rPr>
              <a:t>Unpaid</a:t>
            </a:r>
          </a:p>
        </p:txBody>
      </p:sp>
      <p:sp>
        <p:nvSpPr>
          <p:cNvPr id="729" name="s729"/>
          <p:cNvSpPr/>
          <p:nvPr/>
        </p:nvSpPr>
        <p:spPr>
          <a:xfrm>
            <a:off x="1958340" y="5867400"/>
            <a:ext cx="8001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30" name="s730"/>
          <p:cNvSpPr/>
          <p:nvPr/>
        </p:nvSpPr>
        <p:spPr>
          <a:xfrm>
            <a:off x="1958340" y="5867400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Part. Paid</a:t>
            </a:r>
          </a:p>
        </p:txBody>
      </p:sp>
      <p:sp>
        <p:nvSpPr>
          <p:cNvPr id="731" name="s731"/>
          <p:cNvSpPr/>
          <p:nvPr/>
        </p:nvSpPr>
        <p:spPr>
          <a:xfrm>
            <a:off x="2834640" y="5867400"/>
            <a:ext cx="508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32" name="s732"/>
          <p:cNvSpPr/>
          <p:nvPr/>
        </p:nvSpPr>
        <p:spPr>
          <a:xfrm>
            <a:off x="2834640" y="58674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Paid</a:t>
            </a:r>
          </a:p>
        </p:txBody>
      </p:sp>
      <p:sp>
        <p:nvSpPr>
          <p:cNvPr id="733" name="s733"/>
          <p:cNvSpPr/>
          <p:nvPr/>
        </p:nvSpPr>
        <p:spPr>
          <a:xfrm>
            <a:off x="5054600" y="4495800"/>
            <a:ext cx="6629400" cy="1854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34" name="s734"/>
          <p:cNvSpPr/>
          <p:nvPr/>
        </p:nvSpPr>
        <p:spPr>
          <a:xfrm>
            <a:off x="5232400" y="4635500"/>
            <a:ext cx="6273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Table Anatomy</a:t>
            </a:r>
          </a:p>
        </p:txBody>
      </p:sp>
      <p:sp>
        <p:nvSpPr>
          <p:cNvPr id="735" name="s735"/>
          <p:cNvSpPr/>
          <p:nvPr/>
        </p:nvSpPr>
        <p:spPr>
          <a:xfrm>
            <a:off x="5232400" y="4826000"/>
            <a:ext cx="6273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Status tick · checkbox · numeric right-aligned · row menu</a:t>
            </a:r>
          </a:p>
        </p:txBody>
      </p:sp>
      <p:sp>
        <p:nvSpPr>
          <p:cNvPr id="736" name="s736"/>
          <p:cNvSpPr/>
          <p:nvPr/>
        </p:nvSpPr>
        <p:spPr>
          <a:xfrm>
            <a:off x="5054600" y="5054600"/>
            <a:ext cx="6629400" cy="2921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37" name="s737"/>
          <p:cNvSpPr/>
          <p:nvPr/>
        </p:nvSpPr>
        <p:spPr>
          <a:xfrm>
            <a:off x="5207000" y="51435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38" name="s738"/>
          <p:cNvSpPr/>
          <p:nvPr/>
        </p:nvSpPr>
        <p:spPr>
          <a:xfrm>
            <a:off x="5435600" y="5054600"/>
            <a:ext cx="7112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739" name="s739"/>
          <p:cNvSpPr/>
          <p:nvPr/>
        </p:nvSpPr>
        <p:spPr>
          <a:xfrm>
            <a:off x="6273800" y="5054600"/>
            <a:ext cx="1905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740" name="s740"/>
          <p:cNvSpPr/>
          <p:nvPr/>
        </p:nvSpPr>
        <p:spPr>
          <a:xfrm>
            <a:off x="8305800" y="5054600"/>
            <a:ext cx="6096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QTY</a:t>
            </a:r>
          </a:p>
        </p:txBody>
      </p:sp>
      <p:sp>
        <p:nvSpPr>
          <p:cNvPr id="741" name="s741"/>
          <p:cNvSpPr/>
          <p:nvPr/>
        </p:nvSpPr>
        <p:spPr>
          <a:xfrm>
            <a:off x="9118600" y="5054600"/>
            <a:ext cx="1016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742" name="s742"/>
          <p:cNvSpPr/>
          <p:nvPr/>
        </p:nvSpPr>
        <p:spPr>
          <a:xfrm>
            <a:off x="10287000" y="5054600"/>
            <a:ext cx="1016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UPDATED</a:t>
            </a:r>
          </a:p>
        </p:txBody>
      </p:sp>
      <p:sp>
        <p:nvSpPr>
          <p:cNvPr id="743" name="s743"/>
          <p:cNvSpPr/>
          <p:nvPr/>
        </p:nvSpPr>
        <p:spPr>
          <a:xfrm>
            <a:off x="5054600" y="5645150"/>
            <a:ext cx="66294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44" name="s744"/>
          <p:cNvSpPr/>
          <p:nvPr/>
        </p:nvSpPr>
        <p:spPr>
          <a:xfrm>
            <a:off x="5054600" y="53848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45" name="s745"/>
          <p:cNvSpPr/>
          <p:nvPr/>
        </p:nvSpPr>
        <p:spPr>
          <a:xfrm>
            <a:off x="5207000" y="54356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46" name="s746"/>
          <p:cNvSpPr/>
          <p:nvPr/>
        </p:nvSpPr>
        <p:spPr>
          <a:xfrm>
            <a:off x="5435600" y="5346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BK-0142</a:t>
            </a:r>
          </a:p>
        </p:txBody>
      </p:sp>
      <p:sp>
        <p:nvSpPr>
          <p:cNvPr id="747" name="s747"/>
          <p:cNvSpPr/>
          <p:nvPr/>
        </p:nvSpPr>
        <p:spPr>
          <a:xfrm>
            <a:off x="6273800" y="53467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748" name="s748"/>
          <p:cNvSpPr/>
          <p:nvPr/>
        </p:nvSpPr>
        <p:spPr>
          <a:xfrm>
            <a:off x="8305800" y="53467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749" name="s749"/>
          <p:cNvSpPr/>
          <p:nvPr/>
        </p:nvSpPr>
        <p:spPr>
          <a:xfrm>
            <a:off x="9118600" y="5410200"/>
            <a:ext cx="68072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50" name="s750"/>
          <p:cNvSpPr/>
          <p:nvPr/>
        </p:nvSpPr>
        <p:spPr>
          <a:xfrm>
            <a:off x="9118600" y="5410200"/>
            <a:ext cx="6807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751" name="s751"/>
          <p:cNvSpPr/>
          <p:nvPr/>
        </p:nvSpPr>
        <p:spPr>
          <a:xfrm>
            <a:off x="10287000" y="53467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2 min ago</a:t>
            </a:r>
          </a:p>
        </p:txBody>
      </p:sp>
      <p:sp>
        <p:nvSpPr>
          <p:cNvPr id="752" name="s752"/>
          <p:cNvSpPr/>
          <p:nvPr/>
        </p:nvSpPr>
        <p:spPr>
          <a:xfrm>
            <a:off x="11455400" y="54483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53" name="s753"/>
          <p:cNvSpPr/>
          <p:nvPr/>
        </p:nvSpPr>
        <p:spPr>
          <a:xfrm>
            <a:off x="11455400" y="54991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54" name="s754"/>
          <p:cNvSpPr/>
          <p:nvPr/>
        </p:nvSpPr>
        <p:spPr>
          <a:xfrm>
            <a:off x="11455400" y="55499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55" name="s755"/>
          <p:cNvSpPr/>
          <p:nvPr/>
        </p:nvSpPr>
        <p:spPr>
          <a:xfrm>
            <a:off x="5054600" y="5651500"/>
            <a:ext cx="6629400" cy="304800"/>
          </a:xfrm>
          <a:prstGeom prst="rect">
            <a:avLst/>
          </a:prstGeom>
          <a:solidFill>
            <a:srgbClr val="E6F1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56" name="s756"/>
          <p:cNvSpPr/>
          <p:nvPr/>
        </p:nvSpPr>
        <p:spPr>
          <a:xfrm>
            <a:off x="5054600" y="5949950"/>
            <a:ext cx="66294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57" name="s757"/>
          <p:cNvSpPr/>
          <p:nvPr/>
        </p:nvSpPr>
        <p:spPr>
          <a:xfrm>
            <a:off x="5054600" y="56896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58" name="s758"/>
          <p:cNvSpPr/>
          <p:nvPr/>
        </p:nvSpPr>
        <p:spPr>
          <a:xfrm>
            <a:off x="5207000" y="57404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 w="9525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59" name="s759"/>
          <p:cNvSpPr/>
          <p:nvPr/>
        </p:nvSpPr>
        <p:spPr>
          <a:xfrm>
            <a:off x="5435600" y="5651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PZ-0088</a:t>
            </a:r>
          </a:p>
        </p:txBody>
      </p:sp>
      <p:sp>
        <p:nvSpPr>
          <p:cNvPr id="760" name="s760"/>
          <p:cNvSpPr/>
          <p:nvPr/>
        </p:nvSpPr>
        <p:spPr>
          <a:xfrm>
            <a:off x="6273800" y="56515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761" name="s761"/>
          <p:cNvSpPr/>
          <p:nvPr/>
        </p:nvSpPr>
        <p:spPr>
          <a:xfrm>
            <a:off x="8305800" y="56515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762" name="s762"/>
          <p:cNvSpPr/>
          <p:nvPr/>
        </p:nvSpPr>
        <p:spPr>
          <a:xfrm>
            <a:off x="9118600" y="5715000"/>
            <a:ext cx="74041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63" name="s763"/>
          <p:cNvSpPr/>
          <p:nvPr/>
        </p:nvSpPr>
        <p:spPr>
          <a:xfrm>
            <a:off x="9118600" y="5715000"/>
            <a:ext cx="74041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764" name="s764"/>
          <p:cNvSpPr/>
          <p:nvPr/>
        </p:nvSpPr>
        <p:spPr>
          <a:xfrm>
            <a:off x="10287000" y="56515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18 min ago</a:t>
            </a:r>
          </a:p>
        </p:txBody>
      </p:sp>
      <p:sp>
        <p:nvSpPr>
          <p:cNvPr id="765" name="s765"/>
          <p:cNvSpPr/>
          <p:nvPr/>
        </p:nvSpPr>
        <p:spPr>
          <a:xfrm>
            <a:off x="11455400" y="57531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66" name="s766"/>
          <p:cNvSpPr/>
          <p:nvPr/>
        </p:nvSpPr>
        <p:spPr>
          <a:xfrm>
            <a:off x="11455400" y="58039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67" name="s767"/>
          <p:cNvSpPr/>
          <p:nvPr/>
        </p:nvSpPr>
        <p:spPr>
          <a:xfrm>
            <a:off x="11455400" y="58547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68" name="s768"/>
          <p:cNvSpPr/>
          <p:nvPr/>
        </p:nvSpPr>
        <p:spPr>
          <a:xfrm>
            <a:off x="5054600" y="6254750"/>
            <a:ext cx="66294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69" name="s769"/>
          <p:cNvSpPr/>
          <p:nvPr/>
        </p:nvSpPr>
        <p:spPr>
          <a:xfrm>
            <a:off x="5054600" y="59944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70" name="s770"/>
          <p:cNvSpPr/>
          <p:nvPr/>
        </p:nvSpPr>
        <p:spPr>
          <a:xfrm>
            <a:off x="5207000" y="604520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71" name="s771"/>
          <p:cNvSpPr/>
          <p:nvPr/>
        </p:nvSpPr>
        <p:spPr>
          <a:xfrm>
            <a:off x="5435600" y="5956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AC-0031</a:t>
            </a:r>
          </a:p>
        </p:txBody>
      </p:sp>
      <p:sp>
        <p:nvSpPr>
          <p:cNvPr id="772" name="s772"/>
          <p:cNvSpPr/>
          <p:nvPr/>
        </p:nvSpPr>
        <p:spPr>
          <a:xfrm>
            <a:off x="6273800" y="59563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English Alphabet Flashcards</a:t>
            </a:r>
          </a:p>
        </p:txBody>
      </p:sp>
      <p:sp>
        <p:nvSpPr>
          <p:cNvPr id="773" name="s773"/>
          <p:cNvSpPr/>
          <p:nvPr/>
        </p:nvSpPr>
        <p:spPr>
          <a:xfrm>
            <a:off x="8305800" y="59563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0</a:t>
            </a:r>
          </a:p>
        </p:txBody>
      </p:sp>
      <p:sp>
        <p:nvSpPr>
          <p:cNvPr id="774" name="s774"/>
          <p:cNvSpPr/>
          <p:nvPr/>
        </p:nvSpPr>
        <p:spPr>
          <a:xfrm>
            <a:off x="9118600" y="6019800"/>
            <a:ext cx="91948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75" name="s775"/>
          <p:cNvSpPr/>
          <p:nvPr/>
        </p:nvSpPr>
        <p:spPr>
          <a:xfrm>
            <a:off x="9118600" y="6019800"/>
            <a:ext cx="9194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B3261E"/>
                </a:solidFill>
                <a:latin typeface="Calibri"/>
              </a:rPr>
              <a:t>Out of Stock</a:t>
            </a:r>
          </a:p>
        </p:txBody>
      </p:sp>
      <p:sp>
        <p:nvSpPr>
          <p:cNvPr id="776" name="s776"/>
          <p:cNvSpPr/>
          <p:nvPr/>
        </p:nvSpPr>
        <p:spPr>
          <a:xfrm>
            <a:off x="10287000" y="59563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 hr ago</a:t>
            </a:r>
          </a:p>
        </p:txBody>
      </p:sp>
      <p:sp>
        <p:nvSpPr>
          <p:cNvPr id="777" name="s777"/>
          <p:cNvSpPr/>
          <p:nvPr/>
        </p:nvSpPr>
        <p:spPr>
          <a:xfrm>
            <a:off x="11455400" y="60579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78" name="s778"/>
          <p:cNvSpPr/>
          <p:nvPr/>
        </p:nvSpPr>
        <p:spPr>
          <a:xfrm>
            <a:off x="11455400" y="61087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79" name="s779"/>
          <p:cNvSpPr/>
          <p:nvPr/>
        </p:nvSpPr>
        <p:spPr>
          <a:xfrm>
            <a:off x="11455400" y="61595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576" name="Graphic 576" descr="Invento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0200" y="3784600"/>
            <a:ext cx="279400" cy="279400"/>
          </a:xfrm>
          <a:prstGeom prst="rect">
            <a:avLst/>
          </a:prstGeom>
        </p:spPr>
      </p:pic>
      <p:pic>
        <p:nvPicPr>
          <p:cNvPr id="577" name="Graphic 577" descr="Warehouse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8500" y="3784600"/>
            <a:ext cx="279400" cy="279400"/>
          </a:xfrm>
          <a:prstGeom prst="rect">
            <a:avLst/>
          </a:prstGeom>
        </p:spPr>
      </p:pic>
      <p:pic>
        <p:nvPicPr>
          <p:cNvPr id="578" name="Graphic 578" descr="Orders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36800" y="3784600"/>
            <a:ext cx="279400" cy="279400"/>
          </a:xfrm>
          <a:prstGeom prst="rect">
            <a:avLst/>
          </a:prstGeom>
        </p:spPr>
      </p:pic>
      <p:pic>
        <p:nvPicPr>
          <p:cNvPr id="579" name="Graphic 579" descr="Deliveries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5100" y="3784600"/>
            <a:ext cx="279400" cy="279400"/>
          </a:xfrm>
          <a:prstGeom prst="rect">
            <a:avLst/>
          </a:prstGeom>
        </p:spPr>
      </p:pic>
      <p:pic>
        <p:nvPicPr>
          <p:cNvPr id="580" name="Graphic 580" descr="Schools and employees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73400" y="3784600"/>
            <a:ext cx="279400" cy="279400"/>
          </a:xfrm>
          <a:prstGeom prst="rect">
            <a:avLst/>
          </a:prstGeom>
        </p:spPr>
      </p:pic>
      <p:pic>
        <p:nvPicPr>
          <p:cNvPr id="581" name="Graphic 581" descr="Reports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41700" y="3784600"/>
            <a:ext cx="279400" cy="279400"/>
          </a:xfrm>
          <a:prstGeom prst="rect">
            <a:avLst/>
          </a:prstGeom>
        </p:spPr>
      </p:pic>
      <p:pic>
        <p:nvPicPr>
          <p:cNvPr id="582" name="Graphic 582" descr="Notifications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10000" y="3784600"/>
            <a:ext cx="279400" cy="279400"/>
          </a:xfrm>
          <a:prstGeom prst="rect">
            <a:avLst/>
          </a:prstGeom>
        </p:spPr>
      </p:pic>
      <p:pic>
        <p:nvPicPr>
          <p:cNvPr id="583" name="Graphic 583" descr="Settings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78300" y="37846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0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3" name="s403"/>
          <p:cNvSpPr/>
          <p:nvPr/>
        </p:nvSpPr>
        <p:spPr>
          <a:xfrm>
            <a:off x="609600" y="558800"/>
            <a:ext cx="330200" cy="3302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4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4" name="s404"/>
          <p:cNvSpPr/>
          <p:nvPr/>
        </p:nvSpPr>
        <p:spPr>
          <a:xfrm>
            <a:off x="1041400" y="558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5" name="s405"/>
          <p:cNvSpPr/>
          <p:nvPr/>
        </p:nvSpPr>
        <p:spPr>
          <a:xfrm>
            <a:off x="1041400" y="7493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6" name="s406"/>
          <p:cNvSpPr/>
          <p:nvPr/>
        </p:nvSpPr>
        <p:spPr>
          <a:xfrm>
            <a:off x="609600" y="2133600"/>
            <a:ext cx="4064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spc="0" dirty="0">
                <a:solidFill>
                  <a:srgbClr val="FFFFFF"/>
                </a:solidFill>
                <a:latin typeface="Cambria"/>
              </a:rPr>
              <a:t>Inventory, under control.</a:t>
            </a:r>
          </a:p>
        </p:txBody>
      </p:sp>
      <p:sp>
        <p:nvSpPr>
          <p:cNvPr id="407" name="s407"/>
          <p:cNvSpPr/>
          <p:nvPr/>
        </p:nvSpPr>
        <p:spPr>
          <a:xfrm>
            <a:off x="609600" y="3124200"/>
            <a:ext cx="711200" cy="381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609600" y="3352800"/>
            <a:ext cx="406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0" spc="0" dirty="0">
                <a:solidFill>
                  <a:srgbClr val="65C1BA"/>
                </a:solidFill>
                <a:latin typeface="Calibri"/>
              </a:rPr>
              <a:t>One workspace for products, warehouses, school orders and suppliers.</a:t>
            </a:r>
          </a:p>
        </p:txBody>
      </p:sp>
      <p:sp>
        <p:nvSpPr>
          <p:cNvPr id="409" name="s409"/>
          <p:cNvSpPr/>
          <p:nvPr/>
        </p:nvSpPr>
        <p:spPr>
          <a:xfrm>
            <a:off x="609600" y="4191000"/>
            <a:ext cx="177800" cy="1778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0" name="s410"/>
          <p:cNvSpPr/>
          <p:nvPr/>
        </p:nvSpPr>
        <p:spPr>
          <a:xfrm>
            <a:off x="889000" y="4165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B4CDD2"/>
                </a:solidFill>
                <a:latin typeface="Calibri"/>
              </a:rPr>
              <a:t>245 products across 5 categories</a:t>
            </a:r>
          </a:p>
        </p:txBody>
      </p:sp>
      <p:sp>
        <p:nvSpPr>
          <p:cNvPr id="411" name="s411"/>
          <p:cNvSpPr/>
          <p:nvPr/>
        </p:nvSpPr>
        <p:spPr>
          <a:xfrm>
            <a:off x="609600" y="4572000"/>
            <a:ext cx="177800" cy="1778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2" name="s412"/>
          <p:cNvSpPr/>
          <p:nvPr/>
        </p:nvSpPr>
        <p:spPr>
          <a:xfrm>
            <a:off x="889000" y="4546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B4CDD2"/>
                </a:solidFill>
                <a:latin typeface="Calibri"/>
              </a:rPr>
              <a:t>3 warehouses · 18,450 units tracked</a:t>
            </a:r>
          </a:p>
        </p:txBody>
      </p:sp>
      <p:sp>
        <p:nvSpPr>
          <p:cNvPr id="413" name="s413"/>
          <p:cNvSpPr/>
          <p:nvPr/>
        </p:nvSpPr>
        <p:spPr>
          <a:xfrm>
            <a:off x="609600" y="4953000"/>
            <a:ext cx="177800" cy="1778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4" name="s414"/>
          <p:cNvSpPr/>
          <p:nvPr/>
        </p:nvSpPr>
        <p:spPr>
          <a:xfrm>
            <a:off x="889000" y="4927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B4CDD2"/>
                </a:solidFill>
                <a:latin typeface="Calibri"/>
              </a:rPr>
              <a:t>84 active schools in 4 counties</a:t>
            </a:r>
          </a:p>
        </p:txBody>
      </p:sp>
      <p:sp>
        <p:nvSpPr>
          <p:cNvPr id="415" name="s415"/>
          <p:cNvSpPr/>
          <p:nvPr/>
        </p:nvSpPr>
        <p:spPr>
          <a:xfrm>
            <a:off x="609600" y="5969000"/>
            <a:ext cx="411480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6" name="s416"/>
          <p:cNvSpPr/>
          <p:nvPr/>
        </p:nvSpPr>
        <p:spPr>
          <a:xfrm>
            <a:off x="609600" y="6121400"/>
            <a:ext cx="4114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B4CDD2"/>
                </a:solidFill>
                <a:latin typeface="Calibri"/>
              </a:rPr>
              <a:t>© 2026 Lazy Pygmy  ·  Monrovia, Liberia</a:t>
            </a:r>
          </a:p>
        </p:txBody>
      </p:sp>
      <p:sp>
        <p:nvSpPr>
          <p:cNvPr id="417" name="s417"/>
          <p:cNvSpPr/>
          <p:nvPr/>
        </p:nvSpPr>
        <p:spPr>
          <a:xfrm>
            <a:off x="6477000" y="1219200"/>
            <a:ext cx="4572000" cy="4419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8" name="s418"/>
          <p:cNvSpPr/>
          <p:nvPr/>
        </p:nvSpPr>
        <p:spPr>
          <a:xfrm>
            <a:off x="6832600" y="1600200"/>
            <a:ext cx="3860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Sign in</a:t>
            </a:r>
          </a:p>
        </p:txBody>
      </p:sp>
      <p:sp>
        <p:nvSpPr>
          <p:cNvPr id="419" name="s419"/>
          <p:cNvSpPr/>
          <p:nvPr/>
        </p:nvSpPr>
        <p:spPr>
          <a:xfrm>
            <a:off x="6832600" y="1930400"/>
            <a:ext cx="3860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Use your Lazy Pygmy work account</a:t>
            </a:r>
          </a:p>
        </p:txBody>
      </p:sp>
      <p:sp>
        <p:nvSpPr>
          <p:cNvPr id="420" name="s420"/>
          <p:cNvSpPr/>
          <p:nvPr/>
        </p:nvSpPr>
        <p:spPr>
          <a:xfrm>
            <a:off x="6832600" y="2336800"/>
            <a:ext cx="3860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Email address</a:t>
            </a:r>
          </a:p>
        </p:txBody>
      </p:sp>
      <p:sp>
        <p:nvSpPr>
          <p:cNvPr id="421" name="s421"/>
          <p:cNvSpPr/>
          <p:nvPr/>
        </p:nvSpPr>
        <p:spPr>
          <a:xfrm>
            <a:off x="6832600" y="2514600"/>
            <a:ext cx="3860800" cy="33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2" name="s422"/>
          <p:cNvSpPr/>
          <p:nvPr/>
        </p:nvSpPr>
        <p:spPr>
          <a:xfrm>
            <a:off x="6959600" y="2514600"/>
            <a:ext cx="3606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moses.kollie@lazypygmy.lr</a:t>
            </a:r>
          </a:p>
        </p:txBody>
      </p:sp>
      <p:sp>
        <p:nvSpPr>
          <p:cNvPr id="423" name="s423"/>
          <p:cNvSpPr/>
          <p:nvPr/>
        </p:nvSpPr>
        <p:spPr>
          <a:xfrm>
            <a:off x="6832600" y="2921000"/>
            <a:ext cx="3860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Password</a:t>
            </a:r>
          </a:p>
        </p:txBody>
      </p:sp>
      <p:sp>
        <p:nvSpPr>
          <p:cNvPr id="424" name="s424"/>
          <p:cNvSpPr/>
          <p:nvPr/>
        </p:nvSpPr>
        <p:spPr>
          <a:xfrm>
            <a:off x="6832600" y="3098800"/>
            <a:ext cx="3860800" cy="33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6959600" y="3098800"/>
            <a:ext cx="325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••••••••••</a:t>
            </a:r>
          </a:p>
        </p:txBody>
      </p:sp>
      <p:sp>
        <p:nvSpPr>
          <p:cNvPr id="426" name="s426"/>
          <p:cNvSpPr/>
          <p:nvPr/>
        </p:nvSpPr>
        <p:spPr>
          <a:xfrm>
            <a:off x="9982200" y="3098800"/>
            <a:ext cx="660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Show</a:t>
            </a:r>
          </a:p>
        </p:txBody>
      </p:sp>
      <p:sp>
        <p:nvSpPr>
          <p:cNvPr id="427" name="s427"/>
          <p:cNvSpPr/>
          <p:nvPr/>
        </p:nvSpPr>
        <p:spPr>
          <a:xfrm>
            <a:off x="6832600" y="3619500"/>
            <a:ext cx="139700" cy="1397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8" name="s428"/>
          <p:cNvSpPr/>
          <p:nvPr/>
        </p:nvSpPr>
        <p:spPr>
          <a:xfrm>
            <a:off x="7048500" y="3581400"/>
            <a:ext cx="152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Remember me</a:t>
            </a:r>
          </a:p>
        </p:txBody>
      </p:sp>
      <p:sp>
        <p:nvSpPr>
          <p:cNvPr id="429" name="s429"/>
          <p:cNvSpPr/>
          <p:nvPr/>
        </p:nvSpPr>
        <p:spPr>
          <a:xfrm>
            <a:off x="9169400" y="3581400"/>
            <a:ext cx="152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Forgot password?</a:t>
            </a:r>
          </a:p>
        </p:txBody>
      </p:sp>
      <p:sp>
        <p:nvSpPr>
          <p:cNvPr id="430" name="s430"/>
          <p:cNvSpPr/>
          <p:nvPr/>
        </p:nvSpPr>
        <p:spPr>
          <a:xfrm>
            <a:off x="6832600" y="3937000"/>
            <a:ext cx="3860800" cy="406400"/>
          </a:xfrm>
          <a:prstGeom prst="roundRect">
            <a:avLst>
              <a:gd name="adj" fmla="val 10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spc="0" dirty="0">
                <a:solidFill>
                  <a:srgbClr val="FFFFFF"/>
                </a:solidFill>
                <a:latin typeface="Calibri"/>
              </a:rPr>
              <a:t>Sign In</a:t>
            </a:r>
          </a:p>
        </p:txBody>
      </p:sp>
      <p:sp>
        <p:nvSpPr>
          <p:cNvPr id="431" name="s431"/>
          <p:cNvSpPr/>
          <p:nvPr/>
        </p:nvSpPr>
        <p:spPr>
          <a:xfrm>
            <a:off x="6832600" y="4597400"/>
            <a:ext cx="167640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2" name="s432"/>
          <p:cNvSpPr/>
          <p:nvPr/>
        </p:nvSpPr>
        <p:spPr>
          <a:xfrm>
            <a:off x="8585200" y="45085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spc="0" dirty="0">
                <a:solidFill>
                  <a:srgbClr val="8A93A0"/>
                </a:solidFill>
                <a:latin typeface="Calibri"/>
              </a:rPr>
              <a:t>or</a:t>
            </a:r>
          </a:p>
        </p:txBody>
      </p:sp>
      <p:sp>
        <p:nvSpPr>
          <p:cNvPr id="433" name="s433"/>
          <p:cNvSpPr/>
          <p:nvPr/>
        </p:nvSpPr>
        <p:spPr>
          <a:xfrm>
            <a:off x="9017000" y="4597400"/>
            <a:ext cx="167640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6832600" y="4800600"/>
            <a:ext cx="386080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Sign in with school SSO</a:t>
            </a:r>
          </a:p>
        </p:txBody>
      </p:sp>
      <p:sp>
        <p:nvSpPr>
          <p:cNvPr id="435" name="s435"/>
          <p:cNvSpPr/>
          <p:nvPr/>
        </p:nvSpPr>
        <p:spPr>
          <a:xfrm>
            <a:off x="6832600" y="5207000"/>
            <a:ext cx="3860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Trouble signing in? Contact IT on +231 77 000 114</a:t>
            </a:r>
          </a:p>
        </p:txBody>
      </p:sp>
      <p:pic>
        <p:nvPicPr>
          <p:cNvPr id="436" name="Copied Picture 436">
            <a:extLst>
              <a:ext uri="{FF2B5EF4-FFF2-40B4-BE49-F238E27FC236}">
                <a16:creationId xmlns:a16="http://schemas.microsoft.com/office/drawing/2014/main" id="{5A200BD9-3D1A-A816-57EF-7B7211F2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647700" y="640080"/>
            <a:ext cx="254000" cy="16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04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3" name="s403"/>
          <p:cNvSpPr/>
          <p:nvPr/>
        </p:nvSpPr>
        <p:spPr>
          <a:xfrm>
            <a:off x="609600" y="558800"/>
            <a:ext cx="330200" cy="3302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4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4" name="s404"/>
          <p:cNvSpPr/>
          <p:nvPr/>
        </p:nvSpPr>
        <p:spPr>
          <a:xfrm>
            <a:off x="1041400" y="558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5" name="s405"/>
          <p:cNvSpPr/>
          <p:nvPr/>
        </p:nvSpPr>
        <p:spPr>
          <a:xfrm>
            <a:off x="1041400" y="7493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6" name="s406"/>
          <p:cNvSpPr/>
          <p:nvPr/>
        </p:nvSpPr>
        <p:spPr>
          <a:xfrm>
            <a:off x="609600" y="23114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 spc="0" dirty="0">
                <a:solidFill>
                  <a:srgbClr val="FFFFFF"/>
                </a:solidFill>
                <a:latin typeface="Cambria"/>
              </a:rPr>
              <a:t>Locked out?</a:t>
            </a:r>
          </a:p>
        </p:txBody>
      </p:sp>
      <p:sp>
        <p:nvSpPr>
          <p:cNvPr id="407" name="s407"/>
          <p:cNvSpPr/>
          <p:nvPr/>
        </p:nvSpPr>
        <p:spPr>
          <a:xfrm>
            <a:off x="609600" y="3022600"/>
            <a:ext cx="711200" cy="381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609600" y="3251200"/>
            <a:ext cx="411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0" spc="0" dirty="0">
                <a:solidFill>
                  <a:srgbClr val="65C1BA"/>
                </a:solidFill>
                <a:latin typeface="Calibri"/>
              </a:rPr>
              <a:t>Password resets are logged in the activity trail with your employee ID and timestamp.</a:t>
            </a:r>
          </a:p>
        </p:txBody>
      </p:sp>
      <p:sp>
        <p:nvSpPr>
          <p:cNvPr id="409" name="s409"/>
          <p:cNvSpPr/>
          <p:nvPr/>
        </p:nvSpPr>
        <p:spPr>
          <a:xfrm>
            <a:off x="609600" y="4216400"/>
            <a:ext cx="4114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80" dirty="0">
                <a:solidFill>
                  <a:srgbClr val="24AA9D"/>
                </a:solidFill>
                <a:latin typeface="Calibri"/>
              </a:rPr>
              <a:t>NEED HELP FASTER?</a:t>
            </a:r>
          </a:p>
        </p:txBody>
      </p:sp>
      <p:sp>
        <p:nvSpPr>
          <p:cNvPr id="410" name="s410"/>
          <p:cNvSpPr/>
          <p:nvPr/>
        </p:nvSpPr>
        <p:spPr>
          <a:xfrm>
            <a:off x="609600" y="44958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B4CDD2"/>
                </a:solidFill>
                <a:latin typeface="Calibri"/>
              </a:rPr>
              <a:t>IT Support</a:t>
            </a:r>
          </a:p>
        </p:txBody>
      </p:sp>
      <p:sp>
        <p:nvSpPr>
          <p:cNvPr id="411" name="s411"/>
          <p:cNvSpPr/>
          <p:nvPr/>
        </p:nvSpPr>
        <p:spPr>
          <a:xfrm>
            <a:off x="2540000" y="4495800"/>
            <a:ext cx="2184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+231 77 000 114</a:t>
            </a:r>
          </a:p>
        </p:txBody>
      </p:sp>
      <p:sp>
        <p:nvSpPr>
          <p:cNvPr id="412" name="s412"/>
          <p:cNvSpPr/>
          <p:nvPr/>
        </p:nvSpPr>
        <p:spPr>
          <a:xfrm>
            <a:off x="609600" y="48768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B4CDD2"/>
                </a:solidFill>
                <a:latin typeface="Calibri"/>
              </a:rPr>
              <a:t>Systems Administrator</a:t>
            </a:r>
          </a:p>
        </p:txBody>
      </p:sp>
      <p:sp>
        <p:nvSpPr>
          <p:cNvPr id="413" name="s413"/>
          <p:cNvSpPr/>
          <p:nvPr/>
        </p:nvSpPr>
        <p:spPr>
          <a:xfrm>
            <a:off x="2540000" y="4876800"/>
            <a:ext cx="2184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admin@lazypygmy.lr</a:t>
            </a:r>
          </a:p>
        </p:txBody>
      </p:sp>
      <p:sp>
        <p:nvSpPr>
          <p:cNvPr id="414" name="s414"/>
          <p:cNvSpPr/>
          <p:nvPr/>
        </p:nvSpPr>
        <p:spPr>
          <a:xfrm>
            <a:off x="609600" y="5969000"/>
            <a:ext cx="411480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5" name="s415"/>
          <p:cNvSpPr/>
          <p:nvPr/>
        </p:nvSpPr>
        <p:spPr>
          <a:xfrm>
            <a:off x="609600" y="6121400"/>
            <a:ext cx="4114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B4CDD2"/>
                </a:solidFill>
                <a:latin typeface="Calibri"/>
              </a:rPr>
              <a:t>© 2026 Lazy Pygmy  ·  Monrovia, Liberia</a:t>
            </a:r>
          </a:p>
        </p:txBody>
      </p:sp>
      <p:sp>
        <p:nvSpPr>
          <p:cNvPr id="416" name="s416"/>
          <p:cNvSpPr/>
          <p:nvPr/>
        </p:nvSpPr>
        <p:spPr>
          <a:xfrm>
            <a:off x="6477000" y="1600200"/>
            <a:ext cx="45720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7" name="s417"/>
          <p:cNvSpPr/>
          <p:nvPr/>
        </p:nvSpPr>
        <p:spPr>
          <a:xfrm>
            <a:off x="6832600" y="1930400"/>
            <a:ext cx="3860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← Back to sign in</a:t>
            </a:r>
          </a:p>
        </p:txBody>
      </p:sp>
      <p:sp>
        <p:nvSpPr>
          <p:cNvPr id="418" name="s418"/>
          <p:cNvSpPr/>
          <p:nvPr/>
        </p:nvSpPr>
        <p:spPr>
          <a:xfrm>
            <a:off x="6832600" y="2235200"/>
            <a:ext cx="3860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Reset your password</a:t>
            </a:r>
          </a:p>
        </p:txBody>
      </p:sp>
      <p:sp>
        <p:nvSpPr>
          <p:cNvPr id="419" name="s419"/>
          <p:cNvSpPr/>
          <p:nvPr/>
        </p:nvSpPr>
        <p:spPr>
          <a:xfrm>
            <a:off x="6832600" y="2590800"/>
            <a:ext cx="3860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Enter your work email and we will send a reset link.</a:t>
            </a:r>
          </a:p>
        </p:txBody>
      </p:sp>
      <p:sp>
        <p:nvSpPr>
          <p:cNvPr id="420" name="s420"/>
          <p:cNvSpPr/>
          <p:nvPr/>
        </p:nvSpPr>
        <p:spPr>
          <a:xfrm>
            <a:off x="6832600" y="3048000"/>
            <a:ext cx="3860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Email address</a:t>
            </a:r>
          </a:p>
        </p:txBody>
      </p:sp>
      <p:sp>
        <p:nvSpPr>
          <p:cNvPr id="421" name="s421"/>
          <p:cNvSpPr/>
          <p:nvPr/>
        </p:nvSpPr>
        <p:spPr>
          <a:xfrm>
            <a:off x="6832600" y="3225800"/>
            <a:ext cx="3860800" cy="33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2" name="s422"/>
          <p:cNvSpPr/>
          <p:nvPr/>
        </p:nvSpPr>
        <p:spPr>
          <a:xfrm>
            <a:off x="6959600" y="3225800"/>
            <a:ext cx="3606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moses.kollie@lazypygmy.lr</a:t>
            </a:r>
          </a:p>
        </p:txBody>
      </p:sp>
      <p:sp>
        <p:nvSpPr>
          <p:cNvPr id="423" name="s423"/>
          <p:cNvSpPr/>
          <p:nvPr/>
        </p:nvSpPr>
        <p:spPr>
          <a:xfrm>
            <a:off x="6832600" y="3733800"/>
            <a:ext cx="3860800" cy="406400"/>
          </a:xfrm>
          <a:prstGeom prst="roundRect">
            <a:avLst>
              <a:gd name="adj" fmla="val 10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spc="0" dirty="0">
                <a:solidFill>
                  <a:srgbClr val="FFFFFF"/>
                </a:solidFill>
                <a:latin typeface="Calibri"/>
              </a:rPr>
              <a:t>Send reset link</a:t>
            </a:r>
          </a:p>
        </p:txBody>
      </p:sp>
      <p:sp>
        <p:nvSpPr>
          <p:cNvPr id="424" name="s424"/>
          <p:cNvSpPr/>
          <p:nvPr/>
        </p:nvSpPr>
        <p:spPr>
          <a:xfrm>
            <a:off x="6832600" y="4292600"/>
            <a:ext cx="3860800" cy="558800"/>
          </a:xfrm>
          <a:prstGeom prst="roundRect">
            <a:avLst>
              <a:gd name="adj" fmla="val 8000"/>
            </a:avLst>
          </a:prstGeom>
          <a:solidFill>
            <a:srgbClr val="2C6ECB">
              <a:alpha val="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6832600" y="4292600"/>
            <a:ext cx="25400" cy="5588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6" name="s426"/>
          <p:cNvSpPr/>
          <p:nvPr/>
        </p:nvSpPr>
        <p:spPr>
          <a:xfrm>
            <a:off x="7010400" y="4368800"/>
            <a:ext cx="3505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The link expires after 30 minutes. If it lapses, request a new one — old links stop working immediately.</a:t>
            </a:r>
          </a:p>
        </p:txBody>
      </p:sp>
      <p:pic>
        <p:nvPicPr>
          <p:cNvPr id="427" name="Copied Picture 427">
            <a:extLst>
              <a:ext uri="{FF2B5EF4-FFF2-40B4-BE49-F238E27FC236}">
                <a16:creationId xmlns:a16="http://schemas.microsoft.com/office/drawing/2014/main" id="{5A200BD9-3D1A-A816-57EF-7B7211F2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647700" y="640080"/>
            <a:ext cx="254000" cy="16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10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01" name="s10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02" name="s10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03" name="s10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1004" name="s10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1005" name="s1005"/>
          <p:cNvSpPr/>
          <p:nvPr/>
        </p:nvSpPr>
        <p:spPr>
          <a:xfrm>
            <a:off x="101600" y="7747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06" name="s1006"/>
          <p:cNvSpPr/>
          <p:nvPr/>
        </p:nvSpPr>
        <p:spPr>
          <a:xfrm>
            <a:off x="101600" y="7747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07" name="s1007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008" name="s1008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1009" name="s10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1010" name="s10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1011" name="s10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1012" name="s10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1013" name="s10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1014" name="s10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1015" name="s10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1016" name="s10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1017" name="s10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1018" name="s10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1019" name="s10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1020" name="s1020"/>
          <p:cNvSpPr/>
          <p:nvPr/>
        </p:nvSpPr>
        <p:spPr>
          <a:xfrm>
            <a:off x="177800" y="61722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21" name="s1021"/>
          <p:cNvSpPr/>
          <p:nvPr/>
        </p:nvSpPr>
        <p:spPr>
          <a:xfrm>
            <a:off x="330200" y="6299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1022" name="s1022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23" name="s1023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24" name="s1024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25" name="s1025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1026" name="s1026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1027" name="s1027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28" name="s1028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1029" name="s1029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30" name="s1030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31" name="s1031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1032" name="s1032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1033" name="s1033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1034" name="s1034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1035" name="s1035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Dashboard</a:t>
            </a:r>
          </a:p>
        </p:txBody>
      </p:sp>
      <p:sp>
        <p:nvSpPr>
          <p:cNvPr id="1036" name="s1036"/>
          <p:cNvSpPr/>
          <p:nvPr/>
        </p:nvSpPr>
        <p:spPr>
          <a:xfrm>
            <a:off x="2148840" y="812800"/>
            <a:ext cx="533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Dashboard</a:t>
            </a:r>
          </a:p>
        </p:txBody>
      </p:sp>
      <p:sp>
        <p:nvSpPr>
          <p:cNvPr id="1037" name="s1037"/>
          <p:cNvSpPr/>
          <p:nvPr/>
        </p:nvSpPr>
        <p:spPr>
          <a:xfrm>
            <a:off x="2148840" y="1143000"/>
            <a:ext cx="584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Wednesday, 7 January 2026  ·  data refreshed 4 min ago</a:t>
            </a:r>
          </a:p>
        </p:txBody>
      </p:sp>
      <p:sp>
        <p:nvSpPr>
          <p:cNvPr id="1038" name="s1038"/>
          <p:cNvSpPr/>
          <p:nvPr/>
        </p:nvSpPr>
        <p:spPr>
          <a:xfrm>
            <a:off x="10873740" y="838200"/>
            <a:ext cx="105918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39" name="s1039"/>
          <p:cNvSpPr/>
          <p:nvPr/>
        </p:nvSpPr>
        <p:spPr>
          <a:xfrm>
            <a:off x="10873740" y="838200"/>
            <a:ext cx="10591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New Order</a:t>
            </a:r>
          </a:p>
        </p:txBody>
      </p:sp>
      <p:sp>
        <p:nvSpPr>
          <p:cNvPr id="1040" name="s1040"/>
          <p:cNvSpPr/>
          <p:nvPr/>
        </p:nvSpPr>
        <p:spPr>
          <a:xfrm>
            <a:off x="10030460" y="8382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41" name="s1041"/>
          <p:cNvSpPr/>
          <p:nvPr/>
        </p:nvSpPr>
        <p:spPr>
          <a:xfrm>
            <a:off x="10030460" y="8382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1042" name="s1042"/>
          <p:cNvSpPr/>
          <p:nvPr/>
        </p:nvSpPr>
        <p:spPr>
          <a:xfrm>
            <a:off x="2148840" y="1422400"/>
            <a:ext cx="1814830" cy="939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43" name="s1043"/>
          <p:cNvSpPr/>
          <p:nvPr/>
        </p:nvSpPr>
        <p:spPr>
          <a:xfrm>
            <a:off x="2148840" y="1422400"/>
            <a:ext cx="31750" cy="9398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44" name="s1044"/>
          <p:cNvSpPr/>
          <p:nvPr/>
        </p:nvSpPr>
        <p:spPr>
          <a:xfrm>
            <a:off x="2326640" y="15748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Total Products</a:t>
            </a:r>
          </a:p>
        </p:txBody>
      </p:sp>
      <p:sp>
        <p:nvSpPr>
          <p:cNvPr id="1045" name="s1045"/>
          <p:cNvSpPr/>
          <p:nvPr/>
        </p:nvSpPr>
        <p:spPr>
          <a:xfrm>
            <a:off x="2326640" y="1752600"/>
            <a:ext cx="151003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600" b="1" spc="0" dirty="0">
                <a:solidFill>
                  <a:srgbClr val="10141A"/>
                </a:solidFill>
                <a:latin typeface="Arial"/>
              </a:rPr>
              <a:t>245</a:t>
            </a:r>
          </a:p>
        </p:txBody>
      </p:sp>
      <p:sp>
        <p:nvSpPr>
          <p:cNvPr id="1046" name="s1046"/>
          <p:cNvSpPr/>
          <p:nvPr/>
        </p:nvSpPr>
        <p:spPr>
          <a:xfrm>
            <a:off x="2326640" y="2133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+6 this month</a:t>
            </a:r>
          </a:p>
        </p:txBody>
      </p:sp>
      <p:sp>
        <p:nvSpPr>
          <p:cNvPr id="1047" name="s1047"/>
          <p:cNvSpPr/>
          <p:nvPr/>
        </p:nvSpPr>
        <p:spPr>
          <a:xfrm>
            <a:off x="4141470" y="1422400"/>
            <a:ext cx="1814830" cy="939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48" name="s1048"/>
          <p:cNvSpPr/>
          <p:nvPr/>
        </p:nvSpPr>
        <p:spPr>
          <a:xfrm>
            <a:off x="4141470" y="1422400"/>
            <a:ext cx="31750" cy="939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49" name="s1049"/>
          <p:cNvSpPr/>
          <p:nvPr/>
        </p:nvSpPr>
        <p:spPr>
          <a:xfrm>
            <a:off x="4319270" y="15748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Inventory Units</a:t>
            </a:r>
          </a:p>
        </p:txBody>
      </p:sp>
      <p:sp>
        <p:nvSpPr>
          <p:cNvPr id="1050" name="s1050"/>
          <p:cNvSpPr/>
          <p:nvPr/>
        </p:nvSpPr>
        <p:spPr>
          <a:xfrm>
            <a:off x="4319270" y="1752600"/>
            <a:ext cx="151003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600" b="1" spc="0" dirty="0">
                <a:solidFill>
                  <a:srgbClr val="10141A"/>
                </a:solidFill>
                <a:latin typeface="Arial"/>
              </a:rPr>
              <a:t>18,450</a:t>
            </a:r>
          </a:p>
        </p:txBody>
      </p:sp>
      <p:sp>
        <p:nvSpPr>
          <p:cNvPr id="1051" name="s1051"/>
          <p:cNvSpPr/>
          <p:nvPr/>
        </p:nvSpPr>
        <p:spPr>
          <a:xfrm>
            <a:off x="4319270" y="2133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+2.4% vs Dec</a:t>
            </a:r>
          </a:p>
        </p:txBody>
      </p:sp>
      <p:sp>
        <p:nvSpPr>
          <p:cNvPr id="1052" name="s1052"/>
          <p:cNvSpPr/>
          <p:nvPr/>
        </p:nvSpPr>
        <p:spPr>
          <a:xfrm>
            <a:off x="6134100" y="1422400"/>
            <a:ext cx="1814830" cy="939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53" name="s1053"/>
          <p:cNvSpPr/>
          <p:nvPr/>
        </p:nvSpPr>
        <p:spPr>
          <a:xfrm>
            <a:off x="6134100" y="1422400"/>
            <a:ext cx="31750" cy="9398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54" name="s1054"/>
          <p:cNvSpPr/>
          <p:nvPr/>
        </p:nvSpPr>
        <p:spPr>
          <a:xfrm>
            <a:off x="6311900" y="15748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Inventory Value</a:t>
            </a:r>
          </a:p>
        </p:txBody>
      </p:sp>
      <p:sp>
        <p:nvSpPr>
          <p:cNvPr id="1055" name="s1055"/>
          <p:cNvSpPr/>
          <p:nvPr/>
        </p:nvSpPr>
        <p:spPr>
          <a:xfrm>
            <a:off x="6311900" y="1752600"/>
            <a:ext cx="151003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600" b="1" spc="0" dirty="0">
                <a:solidFill>
                  <a:srgbClr val="10141A"/>
                </a:solidFill>
                <a:latin typeface="Arial"/>
              </a:rPr>
              <a:t>$42,850</a:t>
            </a:r>
          </a:p>
        </p:txBody>
      </p:sp>
      <p:sp>
        <p:nvSpPr>
          <p:cNvPr id="1056" name="s1056"/>
          <p:cNvSpPr/>
          <p:nvPr/>
        </p:nvSpPr>
        <p:spPr>
          <a:xfrm>
            <a:off x="6311900" y="2133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+$1,910</a:t>
            </a:r>
          </a:p>
        </p:txBody>
      </p:sp>
      <p:sp>
        <p:nvSpPr>
          <p:cNvPr id="1057" name="s1057"/>
          <p:cNvSpPr/>
          <p:nvPr/>
        </p:nvSpPr>
        <p:spPr>
          <a:xfrm>
            <a:off x="8126730" y="1422400"/>
            <a:ext cx="1814830" cy="939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58" name="s1058"/>
          <p:cNvSpPr/>
          <p:nvPr/>
        </p:nvSpPr>
        <p:spPr>
          <a:xfrm>
            <a:off x="8126730" y="1422400"/>
            <a:ext cx="31750" cy="9398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59" name="s1059"/>
          <p:cNvSpPr/>
          <p:nvPr/>
        </p:nvSpPr>
        <p:spPr>
          <a:xfrm>
            <a:off x="8304530" y="15748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Orders This Month</a:t>
            </a:r>
          </a:p>
        </p:txBody>
      </p:sp>
      <p:sp>
        <p:nvSpPr>
          <p:cNvPr id="1060" name="s1060"/>
          <p:cNvSpPr/>
          <p:nvPr/>
        </p:nvSpPr>
        <p:spPr>
          <a:xfrm>
            <a:off x="8304530" y="1752600"/>
            <a:ext cx="151003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600" b="1" spc="0" dirty="0">
                <a:solidFill>
                  <a:srgbClr val="10141A"/>
                </a:solidFill>
                <a:latin typeface="Arial"/>
              </a:rPr>
              <a:t>286</a:t>
            </a:r>
          </a:p>
        </p:txBody>
      </p:sp>
      <p:sp>
        <p:nvSpPr>
          <p:cNvPr id="1061" name="s1061"/>
          <p:cNvSpPr/>
          <p:nvPr/>
        </p:nvSpPr>
        <p:spPr>
          <a:xfrm>
            <a:off x="8304530" y="2133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+18 vs Dec</a:t>
            </a:r>
          </a:p>
        </p:txBody>
      </p:sp>
      <p:sp>
        <p:nvSpPr>
          <p:cNvPr id="1062" name="s1062"/>
          <p:cNvSpPr/>
          <p:nvPr/>
        </p:nvSpPr>
        <p:spPr>
          <a:xfrm>
            <a:off x="10119360" y="1422400"/>
            <a:ext cx="1814830" cy="939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63" name="s1063"/>
          <p:cNvSpPr/>
          <p:nvPr/>
        </p:nvSpPr>
        <p:spPr>
          <a:xfrm>
            <a:off x="10119360" y="1422400"/>
            <a:ext cx="31750" cy="9398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64" name="s1064"/>
          <p:cNvSpPr/>
          <p:nvPr/>
        </p:nvSpPr>
        <p:spPr>
          <a:xfrm>
            <a:off x="10297160" y="15748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Low Stock Items</a:t>
            </a:r>
          </a:p>
        </p:txBody>
      </p:sp>
      <p:sp>
        <p:nvSpPr>
          <p:cNvPr id="1065" name="s1065"/>
          <p:cNvSpPr/>
          <p:nvPr/>
        </p:nvSpPr>
        <p:spPr>
          <a:xfrm>
            <a:off x="10297160" y="1752600"/>
            <a:ext cx="151003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600" b="1" spc="0" dirty="0">
                <a:solidFill>
                  <a:srgbClr val="10141A"/>
                </a:solidFill>
                <a:latin typeface="Arial"/>
              </a:rPr>
              <a:t>18</a:t>
            </a:r>
          </a:p>
        </p:txBody>
      </p:sp>
      <p:sp>
        <p:nvSpPr>
          <p:cNvPr id="1066" name="s1066"/>
          <p:cNvSpPr/>
          <p:nvPr/>
        </p:nvSpPr>
        <p:spPr>
          <a:xfrm>
            <a:off x="10297160" y="2133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4 need action</a:t>
            </a:r>
          </a:p>
        </p:txBody>
      </p:sp>
      <p:sp>
        <p:nvSpPr>
          <p:cNvPr id="1067" name="s1067"/>
          <p:cNvSpPr/>
          <p:nvPr/>
        </p:nvSpPr>
        <p:spPr>
          <a:xfrm>
            <a:off x="2148840" y="2540000"/>
            <a:ext cx="5969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68" name="s1068"/>
          <p:cNvSpPr/>
          <p:nvPr/>
        </p:nvSpPr>
        <p:spPr>
          <a:xfrm>
            <a:off x="2326640" y="2679700"/>
            <a:ext cx="444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Monthly Sales Revenue</a:t>
            </a:r>
          </a:p>
        </p:txBody>
      </p:sp>
      <p:sp>
        <p:nvSpPr>
          <p:cNvPr id="1069" name="s1069"/>
          <p:cNvSpPr/>
          <p:nvPr/>
        </p:nvSpPr>
        <p:spPr>
          <a:xfrm>
            <a:off x="6797040" y="26797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View report</a:t>
            </a:r>
          </a:p>
        </p:txBody>
      </p:sp>
      <p:sp>
        <p:nvSpPr>
          <p:cNvPr id="1070" name="s1070"/>
          <p:cNvSpPr/>
          <p:nvPr/>
        </p:nvSpPr>
        <p:spPr>
          <a:xfrm>
            <a:off x="2326640" y="28702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Jan – Dec 2025  ·  USD</a:t>
            </a:r>
          </a:p>
        </p:txBody>
      </p:sp>
      <p:sp>
        <p:nvSpPr>
          <p:cNvPr id="1071" name="s1071"/>
          <p:cNvSpPr/>
          <p:nvPr/>
        </p:nvSpPr>
        <p:spPr>
          <a:xfrm>
            <a:off x="8295640" y="2540000"/>
            <a:ext cx="363728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72" name="s1072"/>
          <p:cNvSpPr/>
          <p:nvPr/>
        </p:nvSpPr>
        <p:spPr>
          <a:xfrm>
            <a:off x="8473440" y="2679700"/>
            <a:ext cx="2113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Sales by Product Category</a:t>
            </a:r>
          </a:p>
        </p:txBody>
      </p:sp>
      <p:sp>
        <p:nvSpPr>
          <p:cNvPr id="1073" name="s1073"/>
          <p:cNvSpPr/>
          <p:nvPr/>
        </p:nvSpPr>
        <p:spPr>
          <a:xfrm>
            <a:off x="2148840" y="4597400"/>
            <a:ext cx="363728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74" name="s1074"/>
          <p:cNvSpPr/>
          <p:nvPr/>
        </p:nvSpPr>
        <p:spPr>
          <a:xfrm>
            <a:off x="2326640" y="4737100"/>
            <a:ext cx="2113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Inventory Distribution</a:t>
            </a:r>
          </a:p>
        </p:txBody>
      </p:sp>
      <p:sp>
        <p:nvSpPr>
          <p:cNvPr id="1075" name="s1075"/>
          <p:cNvSpPr/>
          <p:nvPr/>
        </p:nvSpPr>
        <p:spPr>
          <a:xfrm>
            <a:off x="5963920" y="4597400"/>
            <a:ext cx="5969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76" name="s1076"/>
          <p:cNvSpPr/>
          <p:nvPr/>
        </p:nvSpPr>
        <p:spPr>
          <a:xfrm>
            <a:off x="6141720" y="4737100"/>
            <a:ext cx="444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Recent School Orders</a:t>
            </a:r>
          </a:p>
        </p:txBody>
      </p:sp>
      <p:sp>
        <p:nvSpPr>
          <p:cNvPr id="1077" name="s1077"/>
          <p:cNvSpPr/>
          <p:nvPr/>
        </p:nvSpPr>
        <p:spPr>
          <a:xfrm>
            <a:off x="10612120" y="47371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View all</a:t>
            </a:r>
          </a:p>
        </p:txBody>
      </p:sp>
      <p:sp>
        <p:nvSpPr>
          <p:cNvPr id="1078" name="s1078"/>
          <p:cNvSpPr/>
          <p:nvPr/>
        </p:nvSpPr>
        <p:spPr>
          <a:xfrm>
            <a:off x="5963920" y="4978400"/>
            <a:ext cx="596900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79" name="s1079"/>
          <p:cNvSpPr/>
          <p:nvPr/>
        </p:nvSpPr>
        <p:spPr>
          <a:xfrm>
            <a:off x="6141720" y="49784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ORDER</a:t>
            </a:r>
          </a:p>
        </p:txBody>
      </p:sp>
      <p:sp>
        <p:nvSpPr>
          <p:cNvPr id="1080" name="s1080"/>
          <p:cNvSpPr/>
          <p:nvPr/>
        </p:nvSpPr>
        <p:spPr>
          <a:xfrm>
            <a:off x="7284720" y="4978400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SCHOOL</a:t>
            </a:r>
          </a:p>
        </p:txBody>
      </p:sp>
      <p:sp>
        <p:nvSpPr>
          <p:cNvPr id="1081" name="s1081"/>
          <p:cNvSpPr/>
          <p:nvPr/>
        </p:nvSpPr>
        <p:spPr>
          <a:xfrm>
            <a:off x="9494520" y="49784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TOTAL</a:t>
            </a:r>
          </a:p>
        </p:txBody>
      </p:sp>
      <p:sp>
        <p:nvSpPr>
          <p:cNvPr id="1082" name="s1082"/>
          <p:cNvSpPr/>
          <p:nvPr/>
        </p:nvSpPr>
        <p:spPr>
          <a:xfrm>
            <a:off x="10510520" y="4978400"/>
            <a:ext cx="1244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1083" name="s1083"/>
          <p:cNvSpPr/>
          <p:nvPr/>
        </p:nvSpPr>
        <p:spPr>
          <a:xfrm>
            <a:off x="5963920" y="5543550"/>
            <a:ext cx="5969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84" name="s1084"/>
          <p:cNvSpPr/>
          <p:nvPr/>
        </p:nvSpPr>
        <p:spPr>
          <a:xfrm>
            <a:off x="5963920" y="52832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85" name="s1085"/>
          <p:cNvSpPr/>
          <p:nvPr/>
        </p:nvSpPr>
        <p:spPr>
          <a:xfrm>
            <a:off x="6141720" y="52451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Arial"/>
              </a:rPr>
              <a:t>ORD-2026-0084</a:t>
            </a:r>
          </a:p>
        </p:txBody>
      </p:sp>
      <p:sp>
        <p:nvSpPr>
          <p:cNvPr id="1086" name="s1086"/>
          <p:cNvSpPr/>
          <p:nvPr/>
        </p:nvSpPr>
        <p:spPr>
          <a:xfrm>
            <a:off x="7284720" y="52451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St. Teresa Primary, Monrovia</a:t>
            </a:r>
          </a:p>
        </p:txBody>
      </p:sp>
      <p:sp>
        <p:nvSpPr>
          <p:cNvPr id="1087" name="s1087"/>
          <p:cNvSpPr/>
          <p:nvPr/>
        </p:nvSpPr>
        <p:spPr>
          <a:xfrm>
            <a:off x="9494520" y="52451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$1,284.00</a:t>
            </a:r>
          </a:p>
        </p:txBody>
      </p:sp>
      <p:sp>
        <p:nvSpPr>
          <p:cNvPr id="1088" name="s1088"/>
          <p:cNvSpPr/>
          <p:nvPr/>
        </p:nvSpPr>
        <p:spPr>
          <a:xfrm>
            <a:off x="10510520" y="5308600"/>
            <a:ext cx="74041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89" name="s1089"/>
          <p:cNvSpPr/>
          <p:nvPr/>
        </p:nvSpPr>
        <p:spPr>
          <a:xfrm>
            <a:off x="10510520" y="5308600"/>
            <a:ext cx="74041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Delivered</a:t>
            </a:r>
          </a:p>
        </p:txBody>
      </p:sp>
      <p:sp>
        <p:nvSpPr>
          <p:cNvPr id="1090" name="s1090"/>
          <p:cNvSpPr/>
          <p:nvPr/>
        </p:nvSpPr>
        <p:spPr>
          <a:xfrm>
            <a:off x="5963920" y="5848350"/>
            <a:ext cx="5969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91" name="s1091"/>
          <p:cNvSpPr/>
          <p:nvPr/>
        </p:nvSpPr>
        <p:spPr>
          <a:xfrm>
            <a:off x="5963920" y="55880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92" name="s1092"/>
          <p:cNvSpPr/>
          <p:nvPr/>
        </p:nvSpPr>
        <p:spPr>
          <a:xfrm>
            <a:off x="6141720" y="55499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Arial"/>
              </a:rPr>
              <a:t>ORD-2026-0083</a:t>
            </a:r>
          </a:p>
        </p:txBody>
      </p:sp>
      <p:sp>
        <p:nvSpPr>
          <p:cNvPr id="1093" name="s1093"/>
          <p:cNvSpPr/>
          <p:nvPr/>
        </p:nvSpPr>
        <p:spPr>
          <a:xfrm>
            <a:off x="7284720" y="55499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Bong Mission Kindergarten</a:t>
            </a:r>
          </a:p>
        </p:txBody>
      </p:sp>
      <p:sp>
        <p:nvSpPr>
          <p:cNvPr id="1094" name="s1094"/>
          <p:cNvSpPr/>
          <p:nvPr/>
        </p:nvSpPr>
        <p:spPr>
          <a:xfrm>
            <a:off x="9494520" y="55499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$742.50</a:t>
            </a:r>
          </a:p>
        </p:txBody>
      </p:sp>
      <p:sp>
        <p:nvSpPr>
          <p:cNvPr id="1095" name="s1095"/>
          <p:cNvSpPr/>
          <p:nvPr/>
        </p:nvSpPr>
        <p:spPr>
          <a:xfrm>
            <a:off x="10510520" y="5613400"/>
            <a:ext cx="8001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96" name="s1096"/>
          <p:cNvSpPr/>
          <p:nvPr/>
        </p:nvSpPr>
        <p:spPr>
          <a:xfrm>
            <a:off x="10510520" y="5613400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Dispatched</a:t>
            </a:r>
          </a:p>
        </p:txBody>
      </p:sp>
      <p:sp>
        <p:nvSpPr>
          <p:cNvPr id="1097" name="s1097"/>
          <p:cNvSpPr/>
          <p:nvPr/>
        </p:nvSpPr>
        <p:spPr>
          <a:xfrm>
            <a:off x="5963920" y="6153150"/>
            <a:ext cx="5969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98" name="s1098"/>
          <p:cNvSpPr/>
          <p:nvPr/>
        </p:nvSpPr>
        <p:spPr>
          <a:xfrm>
            <a:off x="5963920" y="58928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99" name="s1099"/>
          <p:cNvSpPr/>
          <p:nvPr/>
        </p:nvSpPr>
        <p:spPr>
          <a:xfrm>
            <a:off x="6141720" y="58547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Arial"/>
              </a:rPr>
              <a:t>ORD-2026-0082</a:t>
            </a:r>
          </a:p>
        </p:txBody>
      </p:sp>
      <p:sp>
        <p:nvSpPr>
          <p:cNvPr id="1100" name="s1100"/>
          <p:cNvSpPr/>
          <p:nvPr/>
        </p:nvSpPr>
        <p:spPr>
          <a:xfrm>
            <a:off x="7284720" y="58547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Nimba Community School</a:t>
            </a:r>
          </a:p>
        </p:txBody>
      </p:sp>
      <p:sp>
        <p:nvSpPr>
          <p:cNvPr id="1101" name="s1101"/>
          <p:cNvSpPr/>
          <p:nvPr/>
        </p:nvSpPr>
        <p:spPr>
          <a:xfrm>
            <a:off x="9494520" y="58547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$2,110.00</a:t>
            </a:r>
          </a:p>
        </p:txBody>
      </p:sp>
      <p:sp>
        <p:nvSpPr>
          <p:cNvPr id="1102" name="s1102"/>
          <p:cNvSpPr/>
          <p:nvPr/>
        </p:nvSpPr>
        <p:spPr>
          <a:xfrm>
            <a:off x="10510520" y="5918200"/>
            <a:ext cx="8001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03" name="s1103"/>
          <p:cNvSpPr/>
          <p:nvPr/>
        </p:nvSpPr>
        <p:spPr>
          <a:xfrm>
            <a:off x="10510520" y="5918200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C6ECB"/>
                </a:solidFill>
                <a:latin typeface="Calibri"/>
              </a:rPr>
              <a:t>Processing</a:t>
            </a:r>
          </a:p>
        </p:txBody>
      </p:sp>
      <p:sp>
        <p:nvSpPr>
          <p:cNvPr id="1104" name="s1104"/>
          <p:cNvSpPr/>
          <p:nvPr/>
        </p:nvSpPr>
        <p:spPr>
          <a:xfrm>
            <a:off x="5963920" y="6457950"/>
            <a:ext cx="5969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05" name="s1105"/>
          <p:cNvSpPr/>
          <p:nvPr/>
        </p:nvSpPr>
        <p:spPr>
          <a:xfrm>
            <a:off x="5963920" y="61976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06" name="s1106"/>
          <p:cNvSpPr/>
          <p:nvPr/>
        </p:nvSpPr>
        <p:spPr>
          <a:xfrm>
            <a:off x="6141720" y="61595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Arial"/>
              </a:rPr>
              <a:t>ORD-2026-0081</a:t>
            </a:r>
          </a:p>
        </p:txBody>
      </p:sp>
      <p:sp>
        <p:nvSpPr>
          <p:cNvPr id="1107" name="s1107"/>
          <p:cNvSpPr/>
          <p:nvPr/>
        </p:nvSpPr>
        <p:spPr>
          <a:xfrm>
            <a:off x="7284720" y="61595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Kakata Nursery Academy</a:t>
            </a:r>
          </a:p>
        </p:txBody>
      </p:sp>
      <p:sp>
        <p:nvSpPr>
          <p:cNvPr id="1108" name="s1108"/>
          <p:cNvSpPr/>
          <p:nvPr/>
        </p:nvSpPr>
        <p:spPr>
          <a:xfrm>
            <a:off x="9494520" y="61595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$386.75</a:t>
            </a:r>
          </a:p>
        </p:txBody>
      </p:sp>
      <p:sp>
        <p:nvSpPr>
          <p:cNvPr id="1109" name="s1109"/>
          <p:cNvSpPr/>
          <p:nvPr/>
        </p:nvSpPr>
        <p:spPr>
          <a:xfrm>
            <a:off x="10510520" y="6223000"/>
            <a:ext cx="56134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10" name="s1110"/>
          <p:cNvSpPr/>
          <p:nvPr/>
        </p:nvSpPr>
        <p:spPr>
          <a:xfrm>
            <a:off x="10510520" y="6223000"/>
            <a:ext cx="5613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B3261E"/>
                </a:solidFill>
                <a:latin typeface="Calibri"/>
              </a:rPr>
              <a:t>Unpaid</a:t>
            </a:r>
          </a:p>
        </p:txBody>
      </p:sp>
      <p:sp>
        <p:nvSpPr>
          <p:cNvPr id="1500" name="w150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01" name="w1501"/>
          <p:cNvSpPr/>
          <p:nvPr/>
        </p:nvSpPr>
        <p:spPr>
          <a:xfrm>
            <a:off x="330200" y="5511800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1502" name="w1502"/>
          <p:cNvSpPr/>
          <p:nvPr/>
        </p:nvSpPr>
        <p:spPr>
          <a:xfrm>
            <a:off x="330200" y="5651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1503" name="w150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04" name="w150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05" name="w1505"/>
          <p:cNvSpPr/>
          <p:nvPr/>
        </p:nvSpPr>
        <p:spPr>
          <a:xfrm>
            <a:off x="330200" y="59436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graphicFrame>
        <p:nvGraphicFramePr>
          <p:cNvPr id="901" name="Chart 1"/>
          <p:cNvGraphicFramePr/>
          <p:nvPr/>
        </p:nvGraphicFramePr>
        <p:xfrm>
          <a:off x="2247900" y="2971800"/>
          <a:ext cx="5765800" cy="134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02" name="Chart 2"/>
          <p:cNvGraphicFramePr/>
          <p:nvPr/>
        </p:nvGraphicFramePr>
        <p:xfrm>
          <a:off x="8394700" y="2946400"/>
          <a:ext cx="34290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03" name="Chart 3"/>
          <p:cNvGraphicFramePr/>
          <p:nvPr/>
        </p:nvGraphicFramePr>
        <p:xfrm>
          <a:off x="2222500" y="4978400"/>
          <a:ext cx="3479800" cy="142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06" name="Copied Picture 1506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9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101600" y="7747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6" name="s406"/>
          <p:cNvSpPr/>
          <p:nvPr/>
        </p:nvSpPr>
        <p:spPr>
          <a:xfrm>
            <a:off x="101600" y="7747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7" name="s407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1722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299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Dashboard  ›  Analytics overview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812800"/>
            <a:ext cx="584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Expanded Analytics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1430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Warehouse performance, product velocity and order pipeline  ·  January 2026</a:t>
            </a:r>
          </a:p>
        </p:txBody>
      </p:sp>
      <p:sp>
        <p:nvSpPr>
          <p:cNvPr id="444" name="s444"/>
          <p:cNvSpPr/>
          <p:nvPr/>
        </p:nvSpPr>
        <p:spPr>
          <a:xfrm>
            <a:off x="11216640" y="8382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1216640" y="8382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446" name="s446"/>
          <p:cNvSpPr/>
          <p:nvPr/>
        </p:nvSpPr>
        <p:spPr>
          <a:xfrm>
            <a:off x="9961880" y="838200"/>
            <a:ext cx="112776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961880" y="838200"/>
            <a:ext cx="112776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Last 30 days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22400"/>
            <a:ext cx="3149600" cy="223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326640" y="1562100"/>
            <a:ext cx="162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Warehouse Stock Levels</a:t>
            </a:r>
          </a:p>
        </p:txBody>
      </p:sp>
      <p:sp>
        <p:nvSpPr>
          <p:cNvPr id="450" name="s450"/>
          <p:cNvSpPr/>
          <p:nvPr/>
        </p:nvSpPr>
        <p:spPr>
          <a:xfrm>
            <a:off x="2326640" y="1752600"/>
            <a:ext cx="2794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Units on hand by warehouse</a:t>
            </a:r>
          </a:p>
        </p:txBody>
      </p:sp>
      <p:sp>
        <p:nvSpPr>
          <p:cNvPr id="451" name="s451"/>
          <p:cNvSpPr/>
          <p:nvPr/>
        </p:nvSpPr>
        <p:spPr>
          <a:xfrm>
            <a:off x="5466080" y="1422400"/>
            <a:ext cx="3149600" cy="223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5643880" y="1562100"/>
            <a:ext cx="162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Top Selling Products</a:t>
            </a:r>
          </a:p>
        </p:txBody>
      </p:sp>
      <p:sp>
        <p:nvSpPr>
          <p:cNvPr id="453" name="s453"/>
          <p:cNvSpPr/>
          <p:nvPr/>
        </p:nvSpPr>
        <p:spPr>
          <a:xfrm>
            <a:off x="5643880" y="1752600"/>
            <a:ext cx="2794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Units sold, January 2026</a:t>
            </a:r>
          </a:p>
        </p:txBody>
      </p:sp>
      <p:sp>
        <p:nvSpPr>
          <p:cNvPr id="454" name="s454"/>
          <p:cNvSpPr/>
          <p:nvPr/>
        </p:nvSpPr>
        <p:spPr>
          <a:xfrm>
            <a:off x="8783320" y="1422400"/>
            <a:ext cx="3149600" cy="223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8961120" y="1562100"/>
            <a:ext cx="162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Orders by Status</a:t>
            </a:r>
          </a:p>
        </p:txBody>
      </p:sp>
      <p:sp>
        <p:nvSpPr>
          <p:cNvPr id="456" name="s456"/>
          <p:cNvSpPr/>
          <p:nvPr/>
        </p:nvSpPr>
        <p:spPr>
          <a:xfrm>
            <a:off x="8961120" y="1752600"/>
            <a:ext cx="2794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286 orders this month</a:t>
            </a:r>
          </a:p>
        </p:txBody>
      </p:sp>
      <p:sp>
        <p:nvSpPr>
          <p:cNvPr id="457" name="s457"/>
          <p:cNvSpPr/>
          <p:nvPr/>
        </p:nvSpPr>
        <p:spPr>
          <a:xfrm>
            <a:off x="2148840" y="3835400"/>
            <a:ext cx="9784080" cy="266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2326640" y="3975100"/>
            <a:ext cx="8260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Low Stock — Action Required</a:t>
            </a:r>
          </a:p>
        </p:txBody>
      </p:sp>
      <p:sp>
        <p:nvSpPr>
          <p:cNvPr id="459" name="s459"/>
          <p:cNvSpPr/>
          <p:nvPr/>
        </p:nvSpPr>
        <p:spPr>
          <a:xfrm>
            <a:off x="10612120" y="39751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View all 18</a:t>
            </a:r>
          </a:p>
        </p:txBody>
      </p:sp>
      <p:sp>
        <p:nvSpPr>
          <p:cNvPr id="460" name="s460"/>
          <p:cNvSpPr/>
          <p:nvPr/>
        </p:nvSpPr>
        <p:spPr>
          <a:xfrm>
            <a:off x="2326640" y="4165600"/>
            <a:ext cx="5334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18 products below reorder level  ·  7 already out of stock</a:t>
            </a:r>
          </a:p>
        </p:txBody>
      </p:sp>
      <p:sp>
        <p:nvSpPr>
          <p:cNvPr id="461" name="s461"/>
          <p:cNvSpPr/>
          <p:nvPr/>
        </p:nvSpPr>
        <p:spPr>
          <a:xfrm>
            <a:off x="2148840" y="439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2326640" y="4394200"/>
            <a:ext cx="2235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63" name="s463"/>
          <p:cNvSpPr/>
          <p:nvPr/>
        </p:nvSpPr>
        <p:spPr>
          <a:xfrm>
            <a:off x="4638040" y="4394200"/>
            <a:ext cx="736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64" name="s464"/>
          <p:cNvSpPr/>
          <p:nvPr/>
        </p:nvSpPr>
        <p:spPr>
          <a:xfrm>
            <a:off x="5450840" y="43942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CURRENT</a:t>
            </a:r>
          </a:p>
        </p:txBody>
      </p:sp>
      <p:sp>
        <p:nvSpPr>
          <p:cNvPr id="465" name="s465"/>
          <p:cNvSpPr/>
          <p:nvPr/>
        </p:nvSpPr>
        <p:spPr>
          <a:xfrm>
            <a:off x="6136640" y="4394200"/>
            <a:ext cx="660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REORDER</a:t>
            </a:r>
          </a:p>
        </p:txBody>
      </p:sp>
      <p:sp>
        <p:nvSpPr>
          <p:cNvPr id="466" name="s466"/>
          <p:cNvSpPr/>
          <p:nvPr/>
        </p:nvSpPr>
        <p:spPr>
          <a:xfrm>
            <a:off x="6873240" y="4394200"/>
            <a:ext cx="939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RECOMMENDED</a:t>
            </a:r>
          </a:p>
        </p:txBody>
      </p:sp>
      <p:sp>
        <p:nvSpPr>
          <p:cNvPr id="467" name="s467"/>
          <p:cNvSpPr/>
          <p:nvPr/>
        </p:nvSpPr>
        <p:spPr>
          <a:xfrm>
            <a:off x="7889240" y="43942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SUPPLIER</a:t>
            </a:r>
          </a:p>
        </p:txBody>
      </p:sp>
      <p:sp>
        <p:nvSpPr>
          <p:cNvPr id="468" name="s468"/>
          <p:cNvSpPr/>
          <p:nvPr/>
        </p:nvSpPr>
        <p:spPr>
          <a:xfrm>
            <a:off x="9489440" y="4394200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DAYS LEFT</a:t>
            </a:r>
          </a:p>
        </p:txBody>
      </p:sp>
      <p:sp>
        <p:nvSpPr>
          <p:cNvPr id="469" name="s469"/>
          <p:cNvSpPr/>
          <p:nvPr/>
        </p:nvSpPr>
        <p:spPr>
          <a:xfrm>
            <a:off x="2148840" y="4959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2148840" y="46990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2326640" y="46609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472" name="s472"/>
          <p:cNvSpPr/>
          <p:nvPr/>
        </p:nvSpPr>
        <p:spPr>
          <a:xfrm>
            <a:off x="4638040" y="4660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PZ-0088</a:t>
            </a:r>
          </a:p>
        </p:txBody>
      </p:sp>
      <p:sp>
        <p:nvSpPr>
          <p:cNvPr id="473" name="s473"/>
          <p:cNvSpPr/>
          <p:nvPr/>
        </p:nvSpPr>
        <p:spPr>
          <a:xfrm>
            <a:off x="5450840" y="4660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474" name="s474"/>
          <p:cNvSpPr/>
          <p:nvPr/>
        </p:nvSpPr>
        <p:spPr>
          <a:xfrm>
            <a:off x="6136640" y="46609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120</a:t>
            </a:r>
          </a:p>
        </p:txBody>
      </p:sp>
      <p:sp>
        <p:nvSpPr>
          <p:cNvPr id="475" name="s475"/>
          <p:cNvSpPr/>
          <p:nvPr/>
        </p:nvSpPr>
        <p:spPr>
          <a:xfrm>
            <a:off x="6873240" y="46609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240</a:t>
            </a:r>
          </a:p>
        </p:txBody>
      </p:sp>
      <p:sp>
        <p:nvSpPr>
          <p:cNvPr id="476" name="s476"/>
          <p:cNvSpPr/>
          <p:nvPr/>
        </p:nvSpPr>
        <p:spPr>
          <a:xfrm>
            <a:off x="7889240" y="46609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477" name="s477"/>
          <p:cNvSpPr/>
          <p:nvPr/>
        </p:nvSpPr>
        <p:spPr>
          <a:xfrm>
            <a:off x="9489440" y="4660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D08700"/>
                </a:solidFill>
                <a:latin typeface="Arial"/>
              </a:rPr>
              <a:t>9 d</a:t>
            </a:r>
          </a:p>
        </p:txBody>
      </p:sp>
      <p:sp>
        <p:nvSpPr>
          <p:cNvPr id="478" name="s478"/>
          <p:cNvSpPr/>
          <p:nvPr/>
        </p:nvSpPr>
        <p:spPr>
          <a:xfrm>
            <a:off x="10251440" y="4711700"/>
            <a:ext cx="1066800" cy="2032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10251440" y="47117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sp>
        <p:nvSpPr>
          <p:cNvPr id="480" name="s480"/>
          <p:cNvSpPr/>
          <p:nvPr/>
        </p:nvSpPr>
        <p:spPr>
          <a:xfrm>
            <a:off x="2148840" y="5264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1" name="s481"/>
          <p:cNvSpPr/>
          <p:nvPr/>
        </p:nvSpPr>
        <p:spPr>
          <a:xfrm>
            <a:off x="2148840" y="50038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2326640" y="49657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English Alphabet Flashcards</a:t>
            </a:r>
          </a:p>
        </p:txBody>
      </p:sp>
      <p:sp>
        <p:nvSpPr>
          <p:cNvPr id="483" name="s483"/>
          <p:cNvSpPr/>
          <p:nvPr/>
        </p:nvSpPr>
        <p:spPr>
          <a:xfrm>
            <a:off x="4638040" y="49657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AC-0031</a:t>
            </a:r>
          </a:p>
        </p:txBody>
      </p:sp>
      <p:sp>
        <p:nvSpPr>
          <p:cNvPr id="484" name="s484"/>
          <p:cNvSpPr/>
          <p:nvPr/>
        </p:nvSpPr>
        <p:spPr>
          <a:xfrm>
            <a:off x="5450840" y="49657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485" name="s485"/>
          <p:cNvSpPr/>
          <p:nvPr/>
        </p:nvSpPr>
        <p:spPr>
          <a:xfrm>
            <a:off x="6136640" y="49657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150</a:t>
            </a:r>
          </a:p>
        </p:txBody>
      </p:sp>
      <p:sp>
        <p:nvSpPr>
          <p:cNvPr id="486" name="s486"/>
          <p:cNvSpPr/>
          <p:nvPr/>
        </p:nvSpPr>
        <p:spPr>
          <a:xfrm>
            <a:off x="6873240" y="49657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400</a:t>
            </a:r>
          </a:p>
        </p:txBody>
      </p:sp>
      <p:sp>
        <p:nvSpPr>
          <p:cNvPr id="487" name="s487"/>
          <p:cNvSpPr/>
          <p:nvPr/>
        </p:nvSpPr>
        <p:spPr>
          <a:xfrm>
            <a:off x="7889240" y="49657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Monrovia Print Works</a:t>
            </a:r>
          </a:p>
        </p:txBody>
      </p:sp>
      <p:sp>
        <p:nvSpPr>
          <p:cNvPr id="488" name="s488"/>
          <p:cNvSpPr/>
          <p:nvPr/>
        </p:nvSpPr>
        <p:spPr>
          <a:xfrm>
            <a:off x="9489440" y="4965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 d</a:t>
            </a:r>
          </a:p>
        </p:txBody>
      </p:sp>
      <p:sp>
        <p:nvSpPr>
          <p:cNvPr id="489" name="s489"/>
          <p:cNvSpPr/>
          <p:nvPr/>
        </p:nvSpPr>
        <p:spPr>
          <a:xfrm>
            <a:off x="10251440" y="5016500"/>
            <a:ext cx="1066800" cy="2032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0" name="s490"/>
          <p:cNvSpPr/>
          <p:nvPr/>
        </p:nvSpPr>
        <p:spPr>
          <a:xfrm>
            <a:off x="10251440" y="50165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sp>
        <p:nvSpPr>
          <p:cNvPr id="491" name="s491"/>
          <p:cNvSpPr/>
          <p:nvPr/>
        </p:nvSpPr>
        <p:spPr>
          <a:xfrm>
            <a:off x="2148840" y="5568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2148840" y="53086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2326640" y="52705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Numbers Puzzle</a:t>
            </a:r>
          </a:p>
        </p:txBody>
      </p:sp>
      <p:sp>
        <p:nvSpPr>
          <p:cNvPr id="494" name="s494"/>
          <p:cNvSpPr/>
          <p:nvPr/>
        </p:nvSpPr>
        <p:spPr>
          <a:xfrm>
            <a:off x="4638040" y="52705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PZ-0091</a:t>
            </a:r>
          </a:p>
        </p:txBody>
      </p:sp>
      <p:sp>
        <p:nvSpPr>
          <p:cNvPr id="495" name="s495"/>
          <p:cNvSpPr/>
          <p:nvPr/>
        </p:nvSpPr>
        <p:spPr>
          <a:xfrm>
            <a:off x="5450840" y="52705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42</a:t>
            </a:r>
          </a:p>
        </p:txBody>
      </p:sp>
      <p:sp>
        <p:nvSpPr>
          <p:cNvPr id="496" name="s496"/>
          <p:cNvSpPr/>
          <p:nvPr/>
        </p:nvSpPr>
        <p:spPr>
          <a:xfrm>
            <a:off x="6136640" y="52705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100</a:t>
            </a:r>
          </a:p>
        </p:txBody>
      </p:sp>
      <p:sp>
        <p:nvSpPr>
          <p:cNvPr id="497" name="s497"/>
          <p:cNvSpPr/>
          <p:nvPr/>
        </p:nvSpPr>
        <p:spPr>
          <a:xfrm>
            <a:off x="6873240" y="52705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220</a:t>
            </a:r>
          </a:p>
        </p:txBody>
      </p:sp>
      <p:sp>
        <p:nvSpPr>
          <p:cNvPr id="498" name="s498"/>
          <p:cNvSpPr/>
          <p:nvPr/>
        </p:nvSpPr>
        <p:spPr>
          <a:xfrm>
            <a:off x="7889240" y="52705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499" name="s499"/>
          <p:cNvSpPr/>
          <p:nvPr/>
        </p:nvSpPr>
        <p:spPr>
          <a:xfrm>
            <a:off x="9489440" y="5270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5 d</a:t>
            </a:r>
          </a:p>
        </p:txBody>
      </p:sp>
      <p:sp>
        <p:nvSpPr>
          <p:cNvPr id="500" name="s500"/>
          <p:cNvSpPr/>
          <p:nvPr/>
        </p:nvSpPr>
        <p:spPr>
          <a:xfrm>
            <a:off x="10251440" y="5321300"/>
            <a:ext cx="1066800" cy="2032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1" name="s501"/>
          <p:cNvSpPr/>
          <p:nvPr/>
        </p:nvSpPr>
        <p:spPr>
          <a:xfrm>
            <a:off x="10251440" y="53213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sp>
        <p:nvSpPr>
          <p:cNvPr id="502" name="s502"/>
          <p:cNvSpPr/>
          <p:nvPr/>
        </p:nvSpPr>
        <p:spPr>
          <a:xfrm>
            <a:off x="2148840" y="5873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2148840" y="56134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4" name="s504"/>
          <p:cNvSpPr/>
          <p:nvPr/>
        </p:nvSpPr>
        <p:spPr>
          <a:xfrm>
            <a:off x="2326640" y="55753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Phonics Learning Cards</a:t>
            </a:r>
          </a:p>
        </p:txBody>
      </p:sp>
      <p:sp>
        <p:nvSpPr>
          <p:cNvPr id="505" name="s505"/>
          <p:cNvSpPr/>
          <p:nvPr/>
        </p:nvSpPr>
        <p:spPr>
          <a:xfrm>
            <a:off x="4638040" y="55753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AC-0037</a:t>
            </a:r>
          </a:p>
        </p:txBody>
      </p:sp>
      <p:sp>
        <p:nvSpPr>
          <p:cNvPr id="506" name="s506"/>
          <p:cNvSpPr/>
          <p:nvPr/>
        </p:nvSpPr>
        <p:spPr>
          <a:xfrm>
            <a:off x="5450840" y="55753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68</a:t>
            </a:r>
          </a:p>
        </p:txBody>
      </p:sp>
      <p:sp>
        <p:nvSpPr>
          <p:cNvPr id="507" name="s507"/>
          <p:cNvSpPr/>
          <p:nvPr/>
        </p:nvSpPr>
        <p:spPr>
          <a:xfrm>
            <a:off x="6136640" y="55753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120</a:t>
            </a:r>
          </a:p>
        </p:txBody>
      </p:sp>
      <p:sp>
        <p:nvSpPr>
          <p:cNvPr id="508" name="s508"/>
          <p:cNvSpPr/>
          <p:nvPr/>
        </p:nvSpPr>
        <p:spPr>
          <a:xfrm>
            <a:off x="6873240" y="55753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260</a:t>
            </a:r>
          </a:p>
        </p:txBody>
      </p:sp>
      <p:sp>
        <p:nvSpPr>
          <p:cNvPr id="509" name="s509"/>
          <p:cNvSpPr/>
          <p:nvPr/>
        </p:nvSpPr>
        <p:spPr>
          <a:xfrm>
            <a:off x="7889240" y="55753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Monrovia Print Works</a:t>
            </a:r>
          </a:p>
        </p:txBody>
      </p:sp>
      <p:sp>
        <p:nvSpPr>
          <p:cNvPr id="510" name="s510"/>
          <p:cNvSpPr/>
          <p:nvPr/>
        </p:nvSpPr>
        <p:spPr>
          <a:xfrm>
            <a:off x="9489440" y="5575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D08700"/>
                </a:solidFill>
                <a:latin typeface="Arial"/>
              </a:rPr>
              <a:t>7 d</a:t>
            </a:r>
          </a:p>
        </p:txBody>
      </p:sp>
      <p:sp>
        <p:nvSpPr>
          <p:cNvPr id="511" name="s511"/>
          <p:cNvSpPr/>
          <p:nvPr/>
        </p:nvSpPr>
        <p:spPr>
          <a:xfrm>
            <a:off x="10251440" y="5626100"/>
            <a:ext cx="1066800" cy="2032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10251440" y="56261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sp>
        <p:nvSpPr>
          <p:cNvPr id="513" name="s513"/>
          <p:cNvSpPr/>
          <p:nvPr/>
        </p:nvSpPr>
        <p:spPr>
          <a:xfrm>
            <a:off x="2148840" y="6178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s514"/>
          <p:cNvSpPr/>
          <p:nvPr/>
        </p:nvSpPr>
        <p:spPr>
          <a:xfrm>
            <a:off x="2148840" y="59182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5" name="s515"/>
          <p:cNvSpPr/>
          <p:nvPr/>
        </p:nvSpPr>
        <p:spPr>
          <a:xfrm>
            <a:off x="2326640" y="58801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Mathematics Copybook</a:t>
            </a:r>
          </a:p>
        </p:txBody>
      </p:sp>
      <p:sp>
        <p:nvSpPr>
          <p:cNvPr id="516" name="s516"/>
          <p:cNvSpPr/>
          <p:nvPr/>
        </p:nvSpPr>
        <p:spPr>
          <a:xfrm>
            <a:off x="4638040" y="58801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CB-0110</a:t>
            </a:r>
          </a:p>
        </p:txBody>
      </p:sp>
      <p:sp>
        <p:nvSpPr>
          <p:cNvPr id="517" name="s517"/>
          <p:cNvSpPr/>
          <p:nvPr/>
        </p:nvSpPr>
        <p:spPr>
          <a:xfrm>
            <a:off x="5450840" y="58801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94</a:t>
            </a:r>
          </a:p>
        </p:txBody>
      </p:sp>
      <p:sp>
        <p:nvSpPr>
          <p:cNvPr id="518" name="s518"/>
          <p:cNvSpPr/>
          <p:nvPr/>
        </p:nvSpPr>
        <p:spPr>
          <a:xfrm>
            <a:off x="6136640" y="58801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150</a:t>
            </a:r>
          </a:p>
        </p:txBody>
      </p:sp>
      <p:sp>
        <p:nvSpPr>
          <p:cNvPr id="519" name="s519"/>
          <p:cNvSpPr/>
          <p:nvPr/>
        </p:nvSpPr>
        <p:spPr>
          <a:xfrm>
            <a:off x="6873240" y="58801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300</a:t>
            </a:r>
          </a:p>
        </p:txBody>
      </p:sp>
      <p:sp>
        <p:nvSpPr>
          <p:cNvPr id="520" name="s520"/>
          <p:cNvSpPr/>
          <p:nvPr/>
        </p:nvSpPr>
        <p:spPr>
          <a:xfrm>
            <a:off x="7889240" y="58801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Gbarnga Stationers</a:t>
            </a:r>
          </a:p>
        </p:txBody>
      </p:sp>
      <p:sp>
        <p:nvSpPr>
          <p:cNvPr id="521" name="s521"/>
          <p:cNvSpPr/>
          <p:nvPr/>
        </p:nvSpPr>
        <p:spPr>
          <a:xfrm>
            <a:off x="9489440" y="5880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D08700"/>
                </a:solidFill>
                <a:latin typeface="Arial"/>
              </a:rPr>
              <a:t>11 d</a:t>
            </a:r>
          </a:p>
        </p:txBody>
      </p:sp>
      <p:sp>
        <p:nvSpPr>
          <p:cNvPr id="522" name="s522"/>
          <p:cNvSpPr/>
          <p:nvPr/>
        </p:nvSpPr>
        <p:spPr>
          <a:xfrm>
            <a:off x="10251440" y="5930900"/>
            <a:ext cx="1066800" cy="2032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10251440" y="59309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sp>
        <p:nvSpPr>
          <p:cNvPr id="524" name="s524"/>
          <p:cNvSpPr/>
          <p:nvPr/>
        </p:nvSpPr>
        <p:spPr>
          <a:xfrm>
            <a:off x="2148840" y="6483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2148840" y="62230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2326640" y="618490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Science Discovery Book</a:t>
            </a:r>
          </a:p>
        </p:txBody>
      </p:sp>
      <p:sp>
        <p:nvSpPr>
          <p:cNvPr id="527" name="s527"/>
          <p:cNvSpPr/>
          <p:nvPr/>
        </p:nvSpPr>
        <p:spPr>
          <a:xfrm>
            <a:off x="4638040" y="6184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BK-0156</a:t>
            </a:r>
          </a:p>
        </p:txBody>
      </p:sp>
      <p:sp>
        <p:nvSpPr>
          <p:cNvPr id="528" name="s528"/>
          <p:cNvSpPr/>
          <p:nvPr/>
        </p:nvSpPr>
        <p:spPr>
          <a:xfrm>
            <a:off x="5450840" y="6184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112</a:t>
            </a:r>
          </a:p>
        </p:txBody>
      </p:sp>
      <p:sp>
        <p:nvSpPr>
          <p:cNvPr id="529" name="s529"/>
          <p:cNvSpPr/>
          <p:nvPr/>
        </p:nvSpPr>
        <p:spPr>
          <a:xfrm>
            <a:off x="6136640" y="61849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160</a:t>
            </a:r>
          </a:p>
        </p:txBody>
      </p:sp>
      <p:sp>
        <p:nvSpPr>
          <p:cNvPr id="530" name="s530"/>
          <p:cNvSpPr/>
          <p:nvPr/>
        </p:nvSpPr>
        <p:spPr>
          <a:xfrm>
            <a:off x="6873240" y="61849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320</a:t>
            </a:r>
          </a:p>
        </p:txBody>
      </p:sp>
      <p:sp>
        <p:nvSpPr>
          <p:cNvPr id="531" name="s531"/>
          <p:cNvSpPr/>
          <p:nvPr/>
        </p:nvSpPr>
        <p:spPr>
          <a:xfrm>
            <a:off x="7889240" y="61849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Atlantic Educational Supply</a:t>
            </a:r>
          </a:p>
        </p:txBody>
      </p:sp>
      <p:sp>
        <p:nvSpPr>
          <p:cNvPr id="532" name="s532"/>
          <p:cNvSpPr/>
          <p:nvPr/>
        </p:nvSpPr>
        <p:spPr>
          <a:xfrm>
            <a:off x="9489440" y="6184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D08700"/>
                </a:solidFill>
                <a:latin typeface="Arial"/>
              </a:rPr>
              <a:t>13 d</a:t>
            </a:r>
          </a:p>
        </p:txBody>
      </p:sp>
      <p:sp>
        <p:nvSpPr>
          <p:cNvPr id="533" name="s533"/>
          <p:cNvSpPr/>
          <p:nvPr/>
        </p:nvSpPr>
        <p:spPr>
          <a:xfrm>
            <a:off x="10251440" y="6235700"/>
            <a:ext cx="1066800" cy="2032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10251440" y="62357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graphicFrame>
        <p:nvGraphicFramePr>
          <p:cNvPr id="951" name="Chart 1"/>
          <p:cNvGraphicFramePr/>
          <p:nvPr/>
        </p:nvGraphicFramePr>
        <p:xfrm>
          <a:off x="2247900" y="1955800"/>
          <a:ext cx="29464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52" name="Chart 2"/>
          <p:cNvGraphicFramePr/>
          <p:nvPr/>
        </p:nvGraphicFramePr>
        <p:xfrm>
          <a:off x="5562600" y="1955800"/>
          <a:ext cx="29464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53" name="Chart 3"/>
          <p:cNvGraphicFramePr/>
          <p:nvPr/>
        </p:nvGraphicFramePr>
        <p:xfrm>
          <a:off x="8851900" y="1930400"/>
          <a:ext cx="2997200" cy="165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54" name="Copied Picture 954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5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6096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6" name="s416"/>
          <p:cNvSpPr/>
          <p:nvPr/>
        </p:nvSpPr>
        <p:spPr>
          <a:xfrm>
            <a:off x="101600" y="4686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7" name="s417"/>
          <p:cNvSpPr/>
          <p:nvPr/>
        </p:nvSpPr>
        <p:spPr>
          <a:xfrm>
            <a:off x="101600" y="4686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Notifications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812800"/>
            <a:ext cx="584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Notifications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1430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5 unread  ·  12 in the last 7 days</a:t>
            </a:r>
          </a:p>
        </p:txBody>
      </p:sp>
      <p:sp>
        <p:nvSpPr>
          <p:cNvPr id="444" name="s444"/>
          <p:cNvSpPr/>
          <p:nvPr/>
        </p:nvSpPr>
        <p:spPr>
          <a:xfrm>
            <a:off x="11079480" y="838200"/>
            <a:ext cx="85344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1079480" y="838200"/>
            <a:ext cx="8534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Settings</a:t>
            </a:r>
          </a:p>
        </p:txBody>
      </p:sp>
      <p:sp>
        <p:nvSpPr>
          <p:cNvPr id="446" name="s446"/>
          <p:cNvSpPr/>
          <p:nvPr/>
        </p:nvSpPr>
        <p:spPr>
          <a:xfrm>
            <a:off x="9756140" y="838200"/>
            <a:ext cx="119634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756140" y="838200"/>
            <a:ext cx="11963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Mark all read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22400"/>
            <a:ext cx="6604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326640" y="15621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Activity Feed</a:t>
            </a:r>
          </a:p>
        </p:txBody>
      </p:sp>
      <p:sp>
        <p:nvSpPr>
          <p:cNvPr id="450" name="s450"/>
          <p:cNvSpPr/>
          <p:nvPr/>
        </p:nvSpPr>
        <p:spPr>
          <a:xfrm>
            <a:off x="2326640" y="1752600"/>
            <a:ext cx="444500" cy="2540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326640" y="1752600"/>
            <a:ext cx="444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452" name="s452"/>
          <p:cNvSpPr/>
          <p:nvPr/>
        </p:nvSpPr>
        <p:spPr>
          <a:xfrm>
            <a:off x="2847340" y="1752600"/>
            <a:ext cx="889000" cy="254000"/>
          </a:xfrm>
          <a:prstGeom prst="roundRect">
            <a:avLst>
              <a:gd name="adj" fmla="val 20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s453"/>
          <p:cNvSpPr/>
          <p:nvPr/>
        </p:nvSpPr>
        <p:spPr>
          <a:xfrm>
            <a:off x="2847340" y="17526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Unread (5)</a:t>
            </a:r>
          </a:p>
        </p:txBody>
      </p:sp>
      <p:sp>
        <p:nvSpPr>
          <p:cNvPr id="454" name="s454"/>
          <p:cNvSpPr/>
          <p:nvPr/>
        </p:nvSpPr>
        <p:spPr>
          <a:xfrm>
            <a:off x="3812540" y="1752600"/>
            <a:ext cx="571500" cy="254000"/>
          </a:xfrm>
          <a:prstGeom prst="roundRect">
            <a:avLst>
              <a:gd name="adj" fmla="val 20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3812540" y="17526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Stock</a:t>
            </a:r>
          </a:p>
        </p:txBody>
      </p:sp>
      <p:sp>
        <p:nvSpPr>
          <p:cNvPr id="456" name="s456"/>
          <p:cNvSpPr/>
          <p:nvPr/>
        </p:nvSpPr>
        <p:spPr>
          <a:xfrm>
            <a:off x="4460240" y="1752600"/>
            <a:ext cx="635000" cy="254000"/>
          </a:xfrm>
          <a:prstGeom prst="roundRect">
            <a:avLst>
              <a:gd name="adj" fmla="val 20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4460240" y="1752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Orders</a:t>
            </a:r>
          </a:p>
        </p:txBody>
      </p:sp>
      <p:sp>
        <p:nvSpPr>
          <p:cNvPr id="458" name="s458"/>
          <p:cNvSpPr/>
          <p:nvPr/>
        </p:nvSpPr>
        <p:spPr>
          <a:xfrm>
            <a:off x="5171440" y="1752600"/>
            <a:ext cx="635000" cy="254000"/>
          </a:xfrm>
          <a:prstGeom prst="roundRect">
            <a:avLst>
              <a:gd name="adj" fmla="val 20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5171440" y="1752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System</a:t>
            </a:r>
          </a:p>
        </p:txBody>
      </p:sp>
      <p:sp>
        <p:nvSpPr>
          <p:cNvPr id="460" name="s460"/>
          <p:cNvSpPr/>
          <p:nvPr/>
        </p:nvSpPr>
        <p:spPr>
          <a:xfrm>
            <a:off x="2148840" y="2159000"/>
            <a:ext cx="6604000" cy="698500"/>
          </a:xfrm>
          <a:prstGeom prst="rect">
            <a:avLst/>
          </a:prstGeom>
          <a:solidFill>
            <a:srgbClr val="E6F1F1">
              <a:alpha val="60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2148840" y="2851150"/>
            <a:ext cx="66040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2148840" y="2159000"/>
            <a:ext cx="25400" cy="6985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2349500" y="2387600"/>
            <a:ext cx="254000" cy="254000"/>
          </a:xfrm>
          <a:prstGeom prst="ellipse">
            <a:avLst/>
          </a:prstGeom>
          <a:solidFill>
            <a:srgbClr val="B3261E">
              <a:alpha val="1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2438400" y="2476500"/>
            <a:ext cx="76200" cy="762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2730500" y="2298700"/>
            <a:ext cx="419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1" spc="0" dirty="0">
                <a:solidFill>
                  <a:srgbClr val="10141A"/>
                </a:solidFill>
                <a:latin typeface="Calibri"/>
              </a:rPr>
              <a:t>Out of stock</a:t>
            </a:r>
          </a:p>
        </p:txBody>
      </p:sp>
      <p:sp>
        <p:nvSpPr>
          <p:cNvPr id="466" name="s466"/>
          <p:cNvSpPr/>
          <p:nvPr/>
        </p:nvSpPr>
        <p:spPr>
          <a:xfrm>
            <a:off x="2730500" y="25019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English Alphabet Flashcards (AC-0031) reached 0 units at WH-01 Central Warehouse.</a:t>
            </a:r>
          </a:p>
        </p:txBody>
      </p:sp>
      <p:sp>
        <p:nvSpPr>
          <p:cNvPr id="467" name="s467"/>
          <p:cNvSpPr/>
          <p:nvPr/>
        </p:nvSpPr>
        <p:spPr>
          <a:xfrm>
            <a:off x="7112000" y="22987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8 min ago</a:t>
            </a:r>
          </a:p>
        </p:txBody>
      </p:sp>
      <p:sp>
        <p:nvSpPr>
          <p:cNvPr id="468" name="s468"/>
          <p:cNvSpPr/>
          <p:nvPr/>
        </p:nvSpPr>
        <p:spPr>
          <a:xfrm>
            <a:off x="8585200" y="2362200"/>
            <a:ext cx="88900" cy="889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2148840" y="2857500"/>
            <a:ext cx="6604000" cy="698500"/>
          </a:xfrm>
          <a:prstGeom prst="rect">
            <a:avLst/>
          </a:prstGeom>
          <a:solidFill>
            <a:srgbClr val="E6F1F1">
              <a:alpha val="60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2148840" y="3549650"/>
            <a:ext cx="66040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2148840" y="2857500"/>
            <a:ext cx="25400" cy="6985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2349500" y="3086100"/>
            <a:ext cx="254000" cy="254000"/>
          </a:xfrm>
          <a:prstGeom prst="ellipse">
            <a:avLst/>
          </a:prstGeom>
          <a:solidFill>
            <a:srgbClr val="D08700">
              <a:alpha val="1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3" name="s473"/>
          <p:cNvSpPr/>
          <p:nvPr/>
        </p:nvSpPr>
        <p:spPr>
          <a:xfrm>
            <a:off x="2438400" y="3175000"/>
            <a:ext cx="76200" cy="762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4" name="s474"/>
          <p:cNvSpPr/>
          <p:nvPr/>
        </p:nvSpPr>
        <p:spPr>
          <a:xfrm>
            <a:off x="2730500" y="2997200"/>
            <a:ext cx="419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1" spc="0" dirty="0">
                <a:solidFill>
                  <a:srgbClr val="10141A"/>
                </a:solidFill>
                <a:latin typeface="Calibri"/>
              </a:rPr>
              <a:t>Low stock</a:t>
            </a:r>
          </a:p>
        </p:txBody>
      </p:sp>
      <p:sp>
        <p:nvSpPr>
          <p:cNvPr id="475" name="s475"/>
          <p:cNvSpPr/>
          <p:nvPr/>
        </p:nvSpPr>
        <p:spPr>
          <a:xfrm>
            <a:off x="2730500" y="32004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Animal Puzzle (PZ-0088) is at 86 units, below its reorder level of 120.</a:t>
            </a:r>
          </a:p>
        </p:txBody>
      </p:sp>
      <p:sp>
        <p:nvSpPr>
          <p:cNvPr id="476" name="s476"/>
          <p:cNvSpPr/>
          <p:nvPr/>
        </p:nvSpPr>
        <p:spPr>
          <a:xfrm>
            <a:off x="7112000" y="29972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24 min ago</a:t>
            </a:r>
          </a:p>
        </p:txBody>
      </p:sp>
      <p:sp>
        <p:nvSpPr>
          <p:cNvPr id="477" name="s477"/>
          <p:cNvSpPr/>
          <p:nvPr/>
        </p:nvSpPr>
        <p:spPr>
          <a:xfrm>
            <a:off x="8585200" y="3060700"/>
            <a:ext cx="88900" cy="889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2148840" y="3556000"/>
            <a:ext cx="6604000" cy="698500"/>
          </a:xfrm>
          <a:prstGeom prst="rect">
            <a:avLst/>
          </a:prstGeom>
          <a:solidFill>
            <a:srgbClr val="E6F1F1">
              <a:alpha val="60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2148840" y="4248150"/>
            <a:ext cx="66040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0" name="s480"/>
          <p:cNvSpPr/>
          <p:nvPr/>
        </p:nvSpPr>
        <p:spPr>
          <a:xfrm>
            <a:off x="2148840" y="3556000"/>
            <a:ext cx="25400" cy="6985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1" name="s481"/>
          <p:cNvSpPr/>
          <p:nvPr/>
        </p:nvSpPr>
        <p:spPr>
          <a:xfrm>
            <a:off x="2349500" y="3784600"/>
            <a:ext cx="254000" cy="254000"/>
          </a:xfrm>
          <a:prstGeom prst="ellipse">
            <a:avLst/>
          </a:prstGeom>
          <a:solidFill>
            <a:srgbClr val="2C6ECB">
              <a:alpha val="1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2438400" y="3873500"/>
            <a:ext cx="76200" cy="76200"/>
          </a:xfrm>
          <a:prstGeom prst="ellipse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2730500" y="3695700"/>
            <a:ext cx="419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1" spc="0" dirty="0">
                <a:solidFill>
                  <a:srgbClr val="10141A"/>
                </a:solidFill>
                <a:latin typeface="Calibri"/>
              </a:rPr>
              <a:t>Order dispatched</a:t>
            </a:r>
          </a:p>
        </p:txBody>
      </p:sp>
      <p:sp>
        <p:nvSpPr>
          <p:cNvPr id="484" name="s484"/>
          <p:cNvSpPr/>
          <p:nvPr/>
        </p:nvSpPr>
        <p:spPr>
          <a:xfrm>
            <a:off x="2730500" y="38989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ORD-2026-0083 left WH-02 for Bong Mission Kindergarten.</a:t>
            </a:r>
          </a:p>
        </p:txBody>
      </p:sp>
      <p:sp>
        <p:nvSpPr>
          <p:cNvPr id="485" name="s485"/>
          <p:cNvSpPr/>
          <p:nvPr/>
        </p:nvSpPr>
        <p:spPr>
          <a:xfrm>
            <a:off x="7112000" y="36957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1 hr ago</a:t>
            </a:r>
          </a:p>
        </p:txBody>
      </p:sp>
      <p:sp>
        <p:nvSpPr>
          <p:cNvPr id="486" name="s486"/>
          <p:cNvSpPr/>
          <p:nvPr/>
        </p:nvSpPr>
        <p:spPr>
          <a:xfrm>
            <a:off x="8585200" y="3759200"/>
            <a:ext cx="88900" cy="889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7" name="s487"/>
          <p:cNvSpPr/>
          <p:nvPr/>
        </p:nvSpPr>
        <p:spPr>
          <a:xfrm>
            <a:off x="2148840" y="4254500"/>
            <a:ext cx="6604000" cy="698500"/>
          </a:xfrm>
          <a:prstGeom prst="rect">
            <a:avLst/>
          </a:prstGeom>
          <a:solidFill>
            <a:srgbClr val="E6F1F1">
              <a:alpha val="60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2148840" y="4946650"/>
            <a:ext cx="66040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2148840" y="4254500"/>
            <a:ext cx="25400" cy="6985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0" name="s490"/>
          <p:cNvSpPr/>
          <p:nvPr/>
        </p:nvSpPr>
        <p:spPr>
          <a:xfrm>
            <a:off x="2349500" y="4483100"/>
            <a:ext cx="254000" cy="254000"/>
          </a:xfrm>
          <a:prstGeom prst="ellipse">
            <a:avLst/>
          </a:prstGeom>
          <a:solidFill>
            <a:srgbClr val="D08700">
              <a:alpha val="1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2438400" y="4572000"/>
            <a:ext cx="76200" cy="762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2730500" y="4394200"/>
            <a:ext cx="419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1" spc="0" dirty="0">
                <a:solidFill>
                  <a:srgbClr val="10141A"/>
                </a:solidFill>
                <a:latin typeface="Calibri"/>
              </a:rPr>
              <a:t>Purchase order partially received</a:t>
            </a:r>
          </a:p>
        </p:txBody>
      </p:sp>
      <p:sp>
        <p:nvSpPr>
          <p:cNvPr id="493" name="s493"/>
          <p:cNvSpPr/>
          <p:nvPr/>
        </p:nvSpPr>
        <p:spPr>
          <a:xfrm>
            <a:off x="2730500" y="45974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PO-2026-0117 — 740 of 1,200 units booked into WH-01.</a:t>
            </a:r>
          </a:p>
        </p:txBody>
      </p:sp>
      <p:sp>
        <p:nvSpPr>
          <p:cNvPr id="494" name="s494"/>
          <p:cNvSpPr/>
          <p:nvPr/>
        </p:nvSpPr>
        <p:spPr>
          <a:xfrm>
            <a:off x="7112000" y="43942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3 hrs ago</a:t>
            </a:r>
          </a:p>
        </p:txBody>
      </p:sp>
      <p:sp>
        <p:nvSpPr>
          <p:cNvPr id="495" name="s495"/>
          <p:cNvSpPr/>
          <p:nvPr/>
        </p:nvSpPr>
        <p:spPr>
          <a:xfrm>
            <a:off x="8585200" y="4457700"/>
            <a:ext cx="88900" cy="889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2148840" y="4953000"/>
            <a:ext cx="6604000" cy="698500"/>
          </a:xfrm>
          <a:prstGeom prst="rect">
            <a:avLst/>
          </a:prstGeom>
          <a:solidFill>
            <a:srgbClr val="E6F1F1">
              <a:alpha val="60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2148840" y="5645150"/>
            <a:ext cx="66040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2148840" y="4953000"/>
            <a:ext cx="25400" cy="6985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9" name="s499"/>
          <p:cNvSpPr/>
          <p:nvPr/>
        </p:nvSpPr>
        <p:spPr>
          <a:xfrm>
            <a:off x="2349500" y="5181600"/>
            <a:ext cx="254000" cy="254000"/>
          </a:xfrm>
          <a:prstGeom prst="ellipse">
            <a:avLst/>
          </a:prstGeom>
          <a:solidFill>
            <a:srgbClr val="1E8E5A">
              <a:alpha val="1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0" name="s500"/>
          <p:cNvSpPr/>
          <p:nvPr/>
        </p:nvSpPr>
        <p:spPr>
          <a:xfrm>
            <a:off x="2438400" y="5270500"/>
            <a:ext cx="76200" cy="76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1" name="s501"/>
          <p:cNvSpPr/>
          <p:nvPr/>
        </p:nvSpPr>
        <p:spPr>
          <a:xfrm>
            <a:off x="2730500" y="5092700"/>
            <a:ext cx="419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1" spc="0" dirty="0">
                <a:solidFill>
                  <a:srgbClr val="10141A"/>
                </a:solidFill>
                <a:latin typeface="Calibri"/>
              </a:rPr>
              <a:t>Payment recorded</a:t>
            </a:r>
          </a:p>
        </p:txBody>
      </p:sp>
      <p:sp>
        <p:nvSpPr>
          <p:cNvPr id="502" name="s502"/>
          <p:cNvSpPr/>
          <p:nvPr/>
        </p:nvSpPr>
        <p:spPr>
          <a:xfrm>
            <a:off x="2730500" y="52959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$1,284.00 received from St. Teresa Primary for ORD-2026-0084.</a:t>
            </a:r>
          </a:p>
        </p:txBody>
      </p:sp>
      <p:sp>
        <p:nvSpPr>
          <p:cNvPr id="503" name="s503"/>
          <p:cNvSpPr/>
          <p:nvPr/>
        </p:nvSpPr>
        <p:spPr>
          <a:xfrm>
            <a:off x="7112000" y="50927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Yesterday</a:t>
            </a:r>
          </a:p>
        </p:txBody>
      </p:sp>
      <p:sp>
        <p:nvSpPr>
          <p:cNvPr id="504" name="s504"/>
          <p:cNvSpPr/>
          <p:nvPr/>
        </p:nvSpPr>
        <p:spPr>
          <a:xfrm>
            <a:off x="8585200" y="5156200"/>
            <a:ext cx="88900" cy="889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2148840" y="6343650"/>
            <a:ext cx="66040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6" name="s506"/>
          <p:cNvSpPr/>
          <p:nvPr/>
        </p:nvSpPr>
        <p:spPr>
          <a:xfrm>
            <a:off x="2148840" y="5651500"/>
            <a:ext cx="25400" cy="6985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7" name="s507"/>
          <p:cNvSpPr/>
          <p:nvPr/>
        </p:nvSpPr>
        <p:spPr>
          <a:xfrm>
            <a:off x="2349500" y="5880100"/>
            <a:ext cx="254000" cy="254000"/>
          </a:xfrm>
          <a:prstGeom prst="ellipse">
            <a:avLst/>
          </a:prstGeom>
          <a:solidFill>
            <a:srgbClr val="1E8E5A">
              <a:alpha val="1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8" name="s508"/>
          <p:cNvSpPr/>
          <p:nvPr/>
        </p:nvSpPr>
        <p:spPr>
          <a:xfrm>
            <a:off x="2438400" y="5969000"/>
            <a:ext cx="76200" cy="76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2730500" y="5791200"/>
            <a:ext cx="419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1" spc="0" dirty="0">
                <a:solidFill>
                  <a:srgbClr val="10141A"/>
                </a:solidFill>
                <a:latin typeface="Calibri"/>
              </a:rPr>
              <a:t>Stock transfer completed</a:t>
            </a:r>
          </a:p>
        </p:txBody>
      </p:sp>
      <p:sp>
        <p:nvSpPr>
          <p:cNvPr id="510" name="s510"/>
          <p:cNvSpPr/>
          <p:nvPr/>
        </p:nvSpPr>
        <p:spPr>
          <a:xfrm>
            <a:off x="2730500" y="59944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TRF-2026-0042 moved 620 units from WH-01 to WH-02.</a:t>
            </a:r>
          </a:p>
        </p:txBody>
      </p:sp>
      <p:sp>
        <p:nvSpPr>
          <p:cNvPr id="511" name="s511"/>
          <p:cNvSpPr/>
          <p:nvPr/>
        </p:nvSpPr>
        <p:spPr>
          <a:xfrm>
            <a:off x="7112000" y="57912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Yesterday</a:t>
            </a:r>
          </a:p>
        </p:txBody>
      </p:sp>
      <p:sp>
        <p:nvSpPr>
          <p:cNvPr id="512" name="s512"/>
          <p:cNvSpPr/>
          <p:nvPr/>
        </p:nvSpPr>
        <p:spPr>
          <a:xfrm>
            <a:off x="8930640" y="1422400"/>
            <a:ext cx="300228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9108440" y="1562100"/>
            <a:ext cx="1478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Preferences</a:t>
            </a:r>
          </a:p>
        </p:txBody>
      </p:sp>
      <p:sp>
        <p:nvSpPr>
          <p:cNvPr id="514" name="s514"/>
          <p:cNvSpPr/>
          <p:nvPr/>
        </p:nvSpPr>
        <p:spPr>
          <a:xfrm>
            <a:off x="9108440" y="1752600"/>
            <a:ext cx="254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How you are alerted</a:t>
            </a:r>
          </a:p>
        </p:txBody>
      </p:sp>
      <p:sp>
        <p:nvSpPr>
          <p:cNvPr id="515" name="s515"/>
          <p:cNvSpPr/>
          <p:nvPr/>
        </p:nvSpPr>
        <p:spPr>
          <a:xfrm>
            <a:off x="9108440" y="2057400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Low stock alerts</a:t>
            </a:r>
          </a:p>
        </p:txBody>
      </p:sp>
      <p:sp>
        <p:nvSpPr>
          <p:cNvPr id="516" name="s516"/>
          <p:cNvSpPr/>
          <p:nvPr/>
        </p:nvSpPr>
        <p:spPr>
          <a:xfrm>
            <a:off x="9108440" y="22479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Email + in-app</a:t>
            </a:r>
          </a:p>
        </p:txBody>
      </p:sp>
      <p:sp>
        <p:nvSpPr>
          <p:cNvPr id="517" name="s517"/>
          <p:cNvSpPr/>
          <p:nvPr/>
        </p:nvSpPr>
        <p:spPr>
          <a:xfrm>
            <a:off x="11417300" y="2095500"/>
            <a:ext cx="330200" cy="177800"/>
          </a:xfrm>
          <a:prstGeom prst="roundRect">
            <a:avLst>
              <a:gd name="adj" fmla="val 50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8" name="s518"/>
          <p:cNvSpPr/>
          <p:nvPr/>
        </p:nvSpPr>
        <p:spPr>
          <a:xfrm>
            <a:off x="11582400" y="2114550"/>
            <a:ext cx="139700" cy="139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9" name="s519"/>
          <p:cNvSpPr/>
          <p:nvPr/>
        </p:nvSpPr>
        <p:spPr>
          <a:xfrm>
            <a:off x="9108440" y="25400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s520"/>
          <p:cNvSpPr/>
          <p:nvPr/>
        </p:nvSpPr>
        <p:spPr>
          <a:xfrm>
            <a:off x="9108440" y="2641600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Out of stock alerts</a:t>
            </a:r>
          </a:p>
        </p:txBody>
      </p:sp>
      <p:sp>
        <p:nvSpPr>
          <p:cNvPr id="521" name="s521"/>
          <p:cNvSpPr/>
          <p:nvPr/>
        </p:nvSpPr>
        <p:spPr>
          <a:xfrm>
            <a:off x="9108440" y="28321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Email + SMS</a:t>
            </a:r>
          </a:p>
        </p:txBody>
      </p:sp>
      <p:sp>
        <p:nvSpPr>
          <p:cNvPr id="522" name="s522"/>
          <p:cNvSpPr/>
          <p:nvPr/>
        </p:nvSpPr>
        <p:spPr>
          <a:xfrm>
            <a:off x="11417300" y="2679700"/>
            <a:ext cx="330200" cy="177800"/>
          </a:xfrm>
          <a:prstGeom prst="roundRect">
            <a:avLst>
              <a:gd name="adj" fmla="val 50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11582400" y="2698750"/>
            <a:ext cx="139700" cy="139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s524"/>
          <p:cNvSpPr/>
          <p:nvPr/>
        </p:nvSpPr>
        <p:spPr>
          <a:xfrm>
            <a:off x="9108440" y="31242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9108440" y="3225800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Order status changes</a:t>
            </a:r>
          </a:p>
        </p:txBody>
      </p:sp>
      <p:sp>
        <p:nvSpPr>
          <p:cNvPr id="526" name="s526"/>
          <p:cNvSpPr/>
          <p:nvPr/>
        </p:nvSpPr>
        <p:spPr>
          <a:xfrm>
            <a:off x="9108440" y="34163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In-app only</a:t>
            </a:r>
          </a:p>
        </p:txBody>
      </p:sp>
      <p:sp>
        <p:nvSpPr>
          <p:cNvPr id="527" name="s527"/>
          <p:cNvSpPr/>
          <p:nvPr/>
        </p:nvSpPr>
        <p:spPr>
          <a:xfrm>
            <a:off x="11417300" y="3263900"/>
            <a:ext cx="330200" cy="177800"/>
          </a:xfrm>
          <a:prstGeom prst="roundRect">
            <a:avLst>
              <a:gd name="adj" fmla="val 50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8" name="s528"/>
          <p:cNvSpPr/>
          <p:nvPr/>
        </p:nvSpPr>
        <p:spPr>
          <a:xfrm>
            <a:off x="11582400" y="3282950"/>
            <a:ext cx="139700" cy="139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9" name="s529"/>
          <p:cNvSpPr/>
          <p:nvPr/>
        </p:nvSpPr>
        <p:spPr>
          <a:xfrm>
            <a:off x="9108440" y="37084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0" name="s530"/>
          <p:cNvSpPr/>
          <p:nvPr/>
        </p:nvSpPr>
        <p:spPr>
          <a:xfrm>
            <a:off x="9108440" y="3810000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Purchase order approvals</a:t>
            </a:r>
          </a:p>
        </p:txBody>
      </p:sp>
      <p:sp>
        <p:nvSpPr>
          <p:cNvPr id="531" name="s531"/>
          <p:cNvSpPr/>
          <p:nvPr/>
        </p:nvSpPr>
        <p:spPr>
          <a:xfrm>
            <a:off x="9108440" y="40005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Email</a:t>
            </a:r>
          </a:p>
        </p:txBody>
      </p:sp>
      <p:sp>
        <p:nvSpPr>
          <p:cNvPr id="532" name="s532"/>
          <p:cNvSpPr/>
          <p:nvPr/>
        </p:nvSpPr>
        <p:spPr>
          <a:xfrm>
            <a:off x="11417300" y="3848100"/>
            <a:ext cx="330200" cy="177800"/>
          </a:xfrm>
          <a:prstGeom prst="roundRect">
            <a:avLst>
              <a:gd name="adj" fmla="val 50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3" name="s533"/>
          <p:cNvSpPr/>
          <p:nvPr/>
        </p:nvSpPr>
        <p:spPr>
          <a:xfrm>
            <a:off x="11582400" y="3867150"/>
            <a:ext cx="139700" cy="139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9108440" y="42926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5" name="s535"/>
          <p:cNvSpPr/>
          <p:nvPr/>
        </p:nvSpPr>
        <p:spPr>
          <a:xfrm>
            <a:off x="9108440" y="4394200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Weekly summary report</a:t>
            </a:r>
          </a:p>
        </p:txBody>
      </p:sp>
      <p:sp>
        <p:nvSpPr>
          <p:cNvPr id="536" name="s536"/>
          <p:cNvSpPr/>
          <p:nvPr/>
        </p:nvSpPr>
        <p:spPr>
          <a:xfrm>
            <a:off x="9108440" y="45847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Email, Mondays</a:t>
            </a:r>
          </a:p>
        </p:txBody>
      </p:sp>
      <p:sp>
        <p:nvSpPr>
          <p:cNvPr id="537" name="s537"/>
          <p:cNvSpPr/>
          <p:nvPr/>
        </p:nvSpPr>
        <p:spPr>
          <a:xfrm>
            <a:off x="11417300" y="4432300"/>
            <a:ext cx="330200" cy="177800"/>
          </a:xfrm>
          <a:prstGeom prst="roundRect">
            <a:avLst>
              <a:gd name="adj" fmla="val 50000"/>
            </a:avLst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11436350" y="4451350"/>
            <a:ext cx="139700" cy="139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9108440" y="48768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0" name="s540"/>
          <p:cNvSpPr/>
          <p:nvPr/>
        </p:nvSpPr>
        <p:spPr>
          <a:xfrm>
            <a:off x="9108440" y="4978400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Supplier delivery delays</a:t>
            </a:r>
          </a:p>
        </p:txBody>
      </p:sp>
      <p:sp>
        <p:nvSpPr>
          <p:cNvPr id="541" name="s541"/>
          <p:cNvSpPr/>
          <p:nvPr/>
        </p:nvSpPr>
        <p:spPr>
          <a:xfrm>
            <a:off x="9108440" y="51689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In-app only</a:t>
            </a:r>
          </a:p>
        </p:txBody>
      </p:sp>
      <p:sp>
        <p:nvSpPr>
          <p:cNvPr id="542" name="s542"/>
          <p:cNvSpPr/>
          <p:nvPr/>
        </p:nvSpPr>
        <p:spPr>
          <a:xfrm>
            <a:off x="11417300" y="5016500"/>
            <a:ext cx="330200" cy="177800"/>
          </a:xfrm>
          <a:prstGeom prst="roundRect">
            <a:avLst>
              <a:gd name="adj" fmla="val 50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11582400" y="5035550"/>
            <a:ext cx="139700" cy="139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4" name="s544"/>
          <p:cNvSpPr/>
          <p:nvPr/>
        </p:nvSpPr>
        <p:spPr>
          <a:xfrm>
            <a:off x="9108440" y="5638800"/>
            <a:ext cx="2641600" cy="6858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5" name="s545"/>
          <p:cNvSpPr/>
          <p:nvPr/>
        </p:nvSpPr>
        <p:spPr>
          <a:xfrm>
            <a:off x="9260840" y="5740400"/>
            <a:ext cx="233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5B6572"/>
                </a:solidFill>
                <a:latin typeface="Calibri"/>
              </a:rPr>
              <a:t>Quiet hours</a:t>
            </a:r>
          </a:p>
        </p:txBody>
      </p:sp>
      <p:sp>
        <p:nvSpPr>
          <p:cNvPr id="546" name="s546"/>
          <p:cNvSpPr/>
          <p:nvPr/>
        </p:nvSpPr>
        <p:spPr>
          <a:xfrm>
            <a:off x="9260840" y="5918200"/>
            <a:ext cx="233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20:00 – 06:00 Africa/Monrovia. Critical stock alerts still delivered.</a:t>
            </a:r>
          </a:p>
        </p:txBody>
      </p:sp>
      <p:pic>
        <p:nvPicPr>
          <p:cNvPr id="547" name="Copied Picture 547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86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101600" y="1485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101600" y="1485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Products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812800"/>
            <a:ext cx="584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Products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1430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245 products across 5 categories  ·  3 warehouses</a:t>
            </a:r>
          </a:p>
        </p:txBody>
      </p:sp>
      <p:sp>
        <p:nvSpPr>
          <p:cNvPr id="444" name="s444"/>
          <p:cNvSpPr/>
          <p:nvPr/>
        </p:nvSpPr>
        <p:spPr>
          <a:xfrm>
            <a:off x="10736580" y="838200"/>
            <a:ext cx="119634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736580" y="838200"/>
            <a:ext cx="11963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Add Product</a:t>
            </a:r>
          </a:p>
        </p:txBody>
      </p:sp>
      <p:sp>
        <p:nvSpPr>
          <p:cNvPr id="446" name="s446"/>
          <p:cNvSpPr/>
          <p:nvPr/>
        </p:nvSpPr>
        <p:spPr>
          <a:xfrm>
            <a:off x="9893300" y="8382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893300" y="8382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448" name="s448"/>
          <p:cNvSpPr/>
          <p:nvPr/>
        </p:nvSpPr>
        <p:spPr>
          <a:xfrm>
            <a:off x="9050020" y="8382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9050020" y="8382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Import</a:t>
            </a:r>
          </a:p>
        </p:txBody>
      </p:sp>
      <p:sp>
        <p:nvSpPr>
          <p:cNvPr id="450" name="s450"/>
          <p:cNvSpPr/>
          <p:nvPr/>
        </p:nvSpPr>
        <p:spPr>
          <a:xfrm>
            <a:off x="2148840" y="1422400"/>
            <a:ext cx="9784080" cy="55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326640" y="1549400"/>
            <a:ext cx="2641600" cy="304800"/>
          </a:xfrm>
          <a:prstGeom prst="roundRect">
            <a:avLst>
              <a:gd name="adj" fmla="val 12000"/>
            </a:avLst>
          </a:prstGeom>
          <a:solidFill>
            <a:srgbClr val="F6F5F1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2463800" y="15494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8A93A0"/>
                </a:solidFill>
                <a:latin typeface="Calibri"/>
              </a:rPr>
              <a:t>Search by name, SKU or barcode</a:t>
            </a:r>
          </a:p>
        </p:txBody>
      </p:sp>
      <p:sp>
        <p:nvSpPr>
          <p:cNvPr id="453" name="s453"/>
          <p:cNvSpPr/>
          <p:nvPr/>
        </p:nvSpPr>
        <p:spPr>
          <a:xfrm>
            <a:off x="5095240" y="1549400"/>
            <a:ext cx="12192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5222240" y="15494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Category: All</a:t>
            </a:r>
          </a:p>
        </p:txBody>
      </p:sp>
      <p:sp>
        <p:nvSpPr>
          <p:cNvPr id="455" name="s455"/>
          <p:cNvSpPr/>
          <p:nvPr/>
        </p:nvSpPr>
        <p:spPr>
          <a:xfrm>
            <a:off x="6111240" y="1549400"/>
            <a:ext cx="10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00" b="0" spc="0" dirty="0">
                <a:solidFill>
                  <a:srgbClr val="5B6572"/>
                </a:solidFill>
                <a:latin typeface="Calibri"/>
              </a:rPr>
              <a:t>▾</a:t>
            </a:r>
          </a:p>
        </p:txBody>
      </p:sp>
      <p:sp>
        <p:nvSpPr>
          <p:cNvPr id="456" name="s456"/>
          <p:cNvSpPr/>
          <p:nvPr/>
        </p:nvSpPr>
        <p:spPr>
          <a:xfrm>
            <a:off x="6390640" y="1549400"/>
            <a:ext cx="13208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6517640" y="15494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Warehouse: All</a:t>
            </a:r>
          </a:p>
        </p:txBody>
      </p:sp>
      <p:sp>
        <p:nvSpPr>
          <p:cNvPr id="458" name="s458"/>
          <p:cNvSpPr/>
          <p:nvPr/>
        </p:nvSpPr>
        <p:spPr>
          <a:xfrm>
            <a:off x="7508240" y="1549400"/>
            <a:ext cx="10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00" b="0" spc="0" dirty="0">
                <a:solidFill>
                  <a:srgbClr val="5B6572"/>
                </a:solidFill>
                <a:latin typeface="Calibri"/>
              </a:rPr>
              <a:t>▾</a:t>
            </a:r>
          </a:p>
        </p:txBody>
      </p:sp>
      <p:sp>
        <p:nvSpPr>
          <p:cNvPr id="459" name="s459"/>
          <p:cNvSpPr/>
          <p:nvPr/>
        </p:nvSpPr>
        <p:spPr>
          <a:xfrm>
            <a:off x="7787640" y="1549400"/>
            <a:ext cx="10668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7914640" y="15494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Status: All</a:t>
            </a:r>
          </a:p>
        </p:txBody>
      </p:sp>
      <p:sp>
        <p:nvSpPr>
          <p:cNvPr id="461" name="s461"/>
          <p:cNvSpPr/>
          <p:nvPr/>
        </p:nvSpPr>
        <p:spPr>
          <a:xfrm>
            <a:off x="8651240" y="1549400"/>
            <a:ext cx="10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00" b="0" spc="0" dirty="0">
                <a:solidFill>
                  <a:srgbClr val="5B6572"/>
                </a:solidFill>
                <a:latin typeface="Calibri"/>
              </a:rPr>
              <a:t>▾</a:t>
            </a:r>
          </a:p>
        </p:txBody>
      </p:sp>
      <p:sp>
        <p:nvSpPr>
          <p:cNvPr id="462" name="s462"/>
          <p:cNvSpPr/>
          <p:nvPr/>
        </p:nvSpPr>
        <p:spPr>
          <a:xfrm>
            <a:off x="8930640" y="1549400"/>
            <a:ext cx="11430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9057640" y="15494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Supplier: All</a:t>
            </a:r>
          </a:p>
        </p:txBody>
      </p:sp>
      <p:sp>
        <p:nvSpPr>
          <p:cNvPr id="464" name="s464"/>
          <p:cNvSpPr/>
          <p:nvPr/>
        </p:nvSpPr>
        <p:spPr>
          <a:xfrm>
            <a:off x="9870440" y="1549400"/>
            <a:ext cx="10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00" b="0" spc="0" dirty="0">
                <a:solidFill>
                  <a:srgbClr val="5B6572"/>
                </a:solidFill>
                <a:latin typeface="Calibri"/>
              </a:rPr>
              <a:t>▾</a:t>
            </a:r>
          </a:p>
        </p:txBody>
      </p:sp>
      <p:sp>
        <p:nvSpPr>
          <p:cNvPr id="465" name="s465"/>
          <p:cNvSpPr/>
          <p:nvPr/>
        </p:nvSpPr>
        <p:spPr>
          <a:xfrm>
            <a:off x="10353040" y="1549400"/>
            <a:ext cx="6858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10353040" y="15494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Columns</a:t>
            </a:r>
          </a:p>
        </p:txBody>
      </p:sp>
      <p:sp>
        <p:nvSpPr>
          <p:cNvPr id="467" name="s467"/>
          <p:cNvSpPr/>
          <p:nvPr/>
        </p:nvSpPr>
        <p:spPr>
          <a:xfrm>
            <a:off x="11140440" y="1549400"/>
            <a:ext cx="6096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8" name="s468"/>
          <p:cNvSpPr/>
          <p:nvPr/>
        </p:nvSpPr>
        <p:spPr>
          <a:xfrm>
            <a:off x="11140440" y="15494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469" name="s469"/>
          <p:cNvSpPr/>
          <p:nvPr/>
        </p:nvSpPr>
        <p:spPr>
          <a:xfrm>
            <a:off x="2148840" y="2133600"/>
            <a:ext cx="9784080" cy="436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2148840" y="2146300"/>
            <a:ext cx="9784080" cy="381000"/>
          </a:xfrm>
          <a:prstGeom prst="rect">
            <a:avLst/>
          </a:prstGeom>
          <a:solidFill>
            <a:srgbClr val="E6F1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2326640" y="22860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 w="9525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2326640" y="2286000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73" name="s473"/>
          <p:cNvSpPr/>
          <p:nvPr/>
        </p:nvSpPr>
        <p:spPr>
          <a:xfrm>
            <a:off x="2555240" y="21463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3 products selected</a:t>
            </a:r>
          </a:p>
        </p:txBody>
      </p:sp>
      <p:sp>
        <p:nvSpPr>
          <p:cNvPr id="474" name="s474"/>
          <p:cNvSpPr/>
          <p:nvPr/>
        </p:nvSpPr>
        <p:spPr>
          <a:xfrm>
            <a:off x="4318000" y="2222500"/>
            <a:ext cx="762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4318000" y="2222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Bulk edit</a:t>
            </a:r>
          </a:p>
        </p:txBody>
      </p:sp>
      <p:sp>
        <p:nvSpPr>
          <p:cNvPr id="476" name="s476"/>
          <p:cNvSpPr/>
          <p:nvPr/>
        </p:nvSpPr>
        <p:spPr>
          <a:xfrm>
            <a:off x="5181600" y="2222500"/>
            <a:ext cx="11684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7" name="s477"/>
          <p:cNvSpPr/>
          <p:nvPr/>
        </p:nvSpPr>
        <p:spPr>
          <a:xfrm>
            <a:off x="5181600" y="2222500"/>
            <a:ext cx="1168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Change warehouse</a:t>
            </a:r>
          </a:p>
        </p:txBody>
      </p:sp>
      <p:sp>
        <p:nvSpPr>
          <p:cNvPr id="478" name="s478"/>
          <p:cNvSpPr/>
          <p:nvPr/>
        </p:nvSpPr>
        <p:spPr>
          <a:xfrm>
            <a:off x="6451600" y="22225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6451600" y="22225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Export selection</a:t>
            </a:r>
          </a:p>
        </p:txBody>
      </p:sp>
      <p:sp>
        <p:nvSpPr>
          <p:cNvPr id="480" name="s480"/>
          <p:cNvSpPr/>
          <p:nvPr/>
        </p:nvSpPr>
        <p:spPr>
          <a:xfrm>
            <a:off x="7696200" y="2222500"/>
            <a:ext cx="635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3261E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1" name="s481"/>
          <p:cNvSpPr/>
          <p:nvPr/>
        </p:nvSpPr>
        <p:spPr>
          <a:xfrm>
            <a:off x="7696200" y="22225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B3261E"/>
                </a:solidFill>
                <a:latin typeface="Calibri"/>
              </a:rPr>
              <a:t>Delete</a:t>
            </a:r>
          </a:p>
        </p:txBody>
      </p:sp>
      <p:sp>
        <p:nvSpPr>
          <p:cNvPr id="482" name="s482"/>
          <p:cNvSpPr/>
          <p:nvPr/>
        </p:nvSpPr>
        <p:spPr>
          <a:xfrm>
            <a:off x="9652000" y="2146300"/>
            <a:ext cx="210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Clear selection</a:t>
            </a:r>
          </a:p>
        </p:txBody>
      </p:sp>
      <p:sp>
        <p:nvSpPr>
          <p:cNvPr id="483" name="s483"/>
          <p:cNvSpPr/>
          <p:nvPr/>
        </p:nvSpPr>
        <p:spPr>
          <a:xfrm>
            <a:off x="2148840" y="25273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4" name="s484"/>
          <p:cNvSpPr/>
          <p:nvPr/>
        </p:nvSpPr>
        <p:spPr>
          <a:xfrm>
            <a:off x="2326640" y="259715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2656840" y="2527300"/>
            <a:ext cx="736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86" name="s486"/>
          <p:cNvSpPr/>
          <p:nvPr/>
        </p:nvSpPr>
        <p:spPr>
          <a:xfrm>
            <a:off x="3495040" y="2527300"/>
            <a:ext cx="2286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87" name="s487"/>
          <p:cNvSpPr/>
          <p:nvPr/>
        </p:nvSpPr>
        <p:spPr>
          <a:xfrm>
            <a:off x="5857240" y="25273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CATEGORY</a:t>
            </a:r>
          </a:p>
        </p:txBody>
      </p:sp>
      <p:sp>
        <p:nvSpPr>
          <p:cNvPr id="488" name="s488"/>
          <p:cNvSpPr/>
          <p:nvPr/>
        </p:nvSpPr>
        <p:spPr>
          <a:xfrm>
            <a:off x="7152640" y="25273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WAREHOUSE</a:t>
            </a:r>
          </a:p>
        </p:txBody>
      </p:sp>
      <p:sp>
        <p:nvSpPr>
          <p:cNvPr id="489" name="s489"/>
          <p:cNvSpPr/>
          <p:nvPr/>
        </p:nvSpPr>
        <p:spPr>
          <a:xfrm>
            <a:off x="8448040" y="25273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COST</a:t>
            </a:r>
          </a:p>
        </p:txBody>
      </p:sp>
      <p:sp>
        <p:nvSpPr>
          <p:cNvPr id="490" name="s490"/>
          <p:cNvSpPr/>
          <p:nvPr/>
        </p:nvSpPr>
        <p:spPr>
          <a:xfrm>
            <a:off x="9235440" y="25273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PRICE</a:t>
            </a:r>
          </a:p>
        </p:txBody>
      </p:sp>
      <p:sp>
        <p:nvSpPr>
          <p:cNvPr id="491" name="s491"/>
          <p:cNvSpPr/>
          <p:nvPr/>
        </p:nvSpPr>
        <p:spPr>
          <a:xfrm>
            <a:off x="10022840" y="25273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QTY</a:t>
            </a:r>
          </a:p>
        </p:txBody>
      </p:sp>
      <p:sp>
        <p:nvSpPr>
          <p:cNvPr id="492" name="s492"/>
          <p:cNvSpPr/>
          <p:nvPr/>
        </p:nvSpPr>
        <p:spPr>
          <a:xfrm>
            <a:off x="10759440" y="2527300"/>
            <a:ext cx="965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93" name="s493"/>
          <p:cNvSpPr/>
          <p:nvPr/>
        </p:nvSpPr>
        <p:spPr>
          <a:xfrm>
            <a:off x="4155440" y="2527300"/>
            <a:ext cx="127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00" b="0" spc="0" dirty="0">
                <a:solidFill>
                  <a:srgbClr val="2559A8"/>
                </a:solidFill>
                <a:latin typeface="Calibri"/>
              </a:rPr>
              <a:t>▴</a:t>
            </a:r>
          </a:p>
        </p:txBody>
      </p:sp>
      <p:sp>
        <p:nvSpPr>
          <p:cNvPr id="494" name="s494"/>
          <p:cNvSpPr/>
          <p:nvPr/>
        </p:nvSpPr>
        <p:spPr>
          <a:xfrm>
            <a:off x="2148840" y="2794000"/>
            <a:ext cx="9784080" cy="304800"/>
          </a:xfrm>
          <a:prstGeom prst="rect">
            <a:avLst/>
          </a:prstGeom>
          <a:solidFill>
            <a:srgbClr val="E6F1F1">
              <a:alpha val="6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2148840" y="30924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2148840" y="28321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2326640" y="28829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 w="9525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2326640" y="2882900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9" name="s499"/>
          <p:cNvSpPr/>
          <p:nvPr/>
        </p:nvSpPr>
        <p:spPr>
          <a:xfrm>
            <a:off x="2656840" y="27940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BK-0142</a:t>
            </a:r>
          </a:p>
        </p:txBody>
      </p:sp>
      <p:sp>
        <p:nvSpPr>
          <p:cNvPr id="500" name="s500"/>
          <p:cNvSpPr/>
          <p:nvPr/>
        </p:nvSpPr>
        <p:spPr>
          <a:xfrm>
            <a:off x="3495040" y="2794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01" name="s501"/>
          <p:cNvSpPr/>
          <p:nvPr/>
        </p:nvSpPr>
        <p:spPr>
          <a:xfrm>
            <a:off x="5857240" y="27940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02" name="s502"/>
          <p:cNvSpPr/>
          <p:nvPr/>
        </p:nvSpPr>
        <p:spPr>
          <a:xfrm>
            <a:off x="7152640" y="27940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03" name="s503"/>
          <p:cNvSpPr/>
          <p:nvPr/>
        </p:nvSpPr>
        <p:spPr>
          <a:xfrm>
            <a:off x="8448040" y="27940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$2.10</a:t>
            </a:r>
          </a:p>
        </p:txBody>
      </p:sp>
      <p:sp>
        <p:nvSpPr>
          <p:cNvPr id="504" name="s504"/>
          <p:cNvSpPr/>
          <p:nvPr/>
        </p:nvSpPr>
        <p:spPr>
          <a:xfrm>
            <a:off x="9235440" y="27940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$3.50</a:t>
            </a:r>
          </a:p>
        </p:txBody>
      </p:sp>
      <p:sp>
        <p:nvSpPr>
          <p:cNvPr id="505" name="s505"/>
          <p:cNvSpPr/>
          <p:nvPr/>
        </p:nvSpPr>
        <p:spPr>
          <a:xfrm>
            <a:off x="10022840" y="2794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506" name="s506"/>
          <p:cNvSpPr/>
          <p:nvPr/>
        </p:nvSpPr>
        <p:spPr>
          <a:xfrm>
            <a:off x="10759440" y="2857500"/>
            <a:ext cx="68072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7" name="s507"/>
          <p:cNvSpPr/>
          <p:nvPr/>
        </p:nvSpPr>
        <p:spPr>
          <a:xfrm>
            <a:off x="10759440" y="2857500"/>
            <a:ext cx="6807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08" name="s508"/>
          <p:cNvSpPr/>
          <p:nvPr/>
        </p:nvSpPr>
        <p:spPr>
          <a:xfrm>
            <a:off x="11826240" y="28956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11826240" y="29464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0" name="s510"/>
          <p:cNvSpPr/>
          <p:nvPr/>
        </p:nvSpPr>
        <p:spPr>
          <a:xfrm>
            <a:off x="11826240" y="29972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1" name="s511"/>
          <p:cNvSpPr/>
          <p:nvPr/>
        </p:nvSpPr>
        <p:spPr>
          <a:xfrm>
            <a:off x="2148840" y="33972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2148840" y="31369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2326640" y="31877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s514"/>
          <p:cNvSpPr/>
          <p:nvPr/>
        </p:nvSpPr>
        <p:spPr>
          <a:xfrm>
            <a:off x="2656840" y="30988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BK-0148</a:t>
            </a:r>
          </a:p>
        </p:txBody>
      </p:sp>
      <p:sp>
        <p:nvSpPr>
          <p:cNvPr id="515" name="s515"/>
          <p:cNvSpPr/>
          <p:nvPr/>
        </p:nvSpPr>
        <p:spPr>
          <a:xfrm>
            <a:off x="3495040" y="30988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My First Mathematics Book</a:t>
            </a:r>
          </a:p>
        </p:txBody>
      </p:sp>
      <p:sp>
        <p:nvSpPr>
          <p:cNvPr id="516" name="s516"/>
          <p:cNvSpPr/>
          <p:nvPr/>
        </p:nvSpPr>
        <p:spPr>
          <a:xfrm>
            <a:off x="5857240" y="30988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17" name="s517"/>
          <p:cNvSpPr/>
          <p:nvPr/>
        </p:nvSpPr>
        <p:spPr>
          <a:xfrm>
            <a:off x="7152640" y="30988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18" name="s518"/>
          <p:cNvSpPr/>
          <p:nvPr/>
        </p:nvSpPr>
        <p:spPr>
          <a:xfrm>
            <a:off x="8448040" y="30988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$2.40</a:t>
            </a:r>
          </a:p>
        </p:txBody>
      </p:sp>
      <p:sp>
        <p:nvSpPr>
          <p:cNvPr id="519" name="s519"/>
          <p:cNvSpPr/>
          <p:nvPr/>
        </p:nvSpPr>
        <p:spPr>
          <a:xfrm>
            <a:off x="9235440" y="30988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$4.00</a:t>
            </a:r>
          </a:p>
        </p:txBody>
      </p:sp>
      <p:sp>
        <p:nvSpPr>
          <p:cNvPr id="520" name="s520"/>
          <p:cNvSpPr/>
          <p:nvPr/>
        </p:nvSpPr>
        <p:spPr>
          <a:xfrm>
            <a:off x="10022840" y="30988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860</a:t>
            </a:r>
          </a:p>
        </p:txBody>
      </p:sp>
      <p:sp>
        <p:nvSpPr>
          <p:cNvPr id="521" name="s521"/>
          <p:cNvSpPr/>
          <p:nvPr/>
        </p:nvSpPr>
        <p:spPr>
          <a:xfrm>
            <a:off x="10759440" y="3162300"/>
            <a:ext cx="68072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10759440" y="3162300"/>
            <a:ext cx="6807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23" name="s523"/>
          <p:cNvSpPr/>
          <p:nvPr/>
        </p:nvSpPr>
        <p:spPr>
          <a:xfrm>
            <a:off x="11826240" y="32004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s524"/>
          <p:cNvSpPr/>
          <p:nvPr/>
        </p:nvSpPr>
        <p:spPr>
          <a:xfrm>
            <a:off x="11826240" y="32512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11826240" y="33020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2148840" y="37020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7" name="s527"/>
          <p:cNvSpPr/>
          <p:nvPr/>
        </p:nvSpPr>
        <p:spPr>
          <a:xfrm>
            <a:off x="2148840" y="34417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8" name="s528"/>
          <p:cNvSpPr/>
          <p:nvPr/>
        </p:nvSpPr>
        <p:spPr>
          <a:xfrm>
            <a:off x="2326640" y="34925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9" name="s529"/>
          <p:cNvSpPr/>
          <p:nvPr/>
        </p:nvSpPr>
        <p:spPr>
          <a:xfrm>
            <a:off x="2656840" y="34036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BK-0151</a:t>
            </a:r>
          </a:p>
        </p:txBody>
      </p:sp>
      <p:sp>
        <p:nvSpPr>
          <p:cNvPr id="530" name="s530"/>
          <p:cNvSpPr/>
          <p:nvPr/>
        </p:nvSpPr>
        <p:spPr>
          <a:xfrm>
            <a:off x="3495040" y="34036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Early Reading Level 1</a:t>
            </a:r>
          </a:p>
        </p:txBody>
      </p:sp>
      <p:sp>
        <p:nvSpPr>
          <p:cNvPr id="531" name="s531"/>
          <p:cNvSpPr/>
          <p:nvPr/>
        </p:nvSpPr>
        <p:spPr>
          <a:xfrm>
            <a:off x="5857240" y="34036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32" name="s532"/>
          <p:cNvSpPr/>
          <p:nvPr/>
        </p:nvSpPr>
        <p:spPr>
          <a:xfrm>
            <a:off x="7152640" y="34036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533" name="s533"/>
          <p:cNvSpPr/>
          <p:nvPr/>
        </p:nvSpPr>
        <p:spPr>
          <a:xfrm>
            <a:off x="8448040" y="34036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$2.20</a:t>
            </a:r>
          </a:p>
        </p:txBody>
      </p:sp>
      <p:sp>
        <p:nvSpPr>
          <p:cNvPr id="534" name="s534"/>
          <p:cNvSpPr/>
          <p:nvPr/>
        </p:nvSpPr>
        <p:spPr>
          <a:xfrm>
            <a:off x="9235440" y="34036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$3.75</a:t>
            </a:r>
          </a:p>
        </p:txBody>
      </p:sp>
      <p:sp>
        <p:nvSpPr>
          <p:cNvPr id="535" name="s535"/>
          <p:cNvSpPr/>
          <p:nvPr/>
        </p:nvSpPr>
        <p:spPr>
          <a:xfrm>
            <a:off x="10022840" y="3403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640</a:t>
            </a:r>
          </a:p>
        </p:txBody>
      </p:sp>
      <p:sp>
        <p:nvSpPr>
          <p:cNvPr id="536" name="s536"/>
          <p:cNvSpPr/>
          <p:nvPr/>
        </p:nvSpPr>
        <p:spPr>
          <a:xfrm>
            <a:off x="10759440" y="3467100"/>
            <a:ext cx="68072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7" name="s537"/>
          <p:cNvSpPr/>
          <p:nvPr/>
        </p:nvSpPr>
        <p:spPr>
          <a:xfrm>
            <a:off x="10759440" y="3467100"/>
            <a:ext cx="6807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38" name="s538"/>
          <p:cNvSpPr/>
          <p:nvPr/>
        </p:nvSpPr>
        <p:spPr>
          <a:xfrm>
            <a:off x="11826240" y="35052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11826240" y="35560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0" name="s540"/>
          <p:cNvSpPr/>
          <p:nvPr/>
        </p:nvSpPr>
        <p:spPr>
          <a:xfrm>
            <a:off x="11826240" y="36068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1" name="s541"/>
          <p:cNvSpPr/>
          <p:nvPr/>
        </p:nvSpPr>
        <p:spPr>
          <a:xfrm>
            <a:off x="2148840" y="40068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2" name="s542"/>
          <p:cNvSpPr/>
          <p:nvPr/>
        </p:nvSpPr>
        <p:spPr>
          <a:xfrm>
            <a:off x="2148840" y="37465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2326640" y="37973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4" name="s544"/>
          <p:cNvSpPr/>
          <p:nvPr/>
        </p:nvSpPr>
        <p:spPr>
          <a:xfrm>
            <a:off x="2656840" y="37084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BK-0156</a:t>
            </a:r>
          </a:p>
        </p:txBody>
      </p:sp>
      <p:sp>
        <p:nvSpPr>
          <p:cNvPr id="545" name="s545"/>
          <p:cNvSpPr/>
          <p:nvPr/>
        </p:nvSpPr>
        <p:spPr>
          <a:xfrm>
            <a:off x="3495040" y="37084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Science Discovery Book</a:t>
            </a:r>
          </a:p>
        </p:txBody>
      </p:sp>
      <p:sp>
        <p:nvSpPr>
          <p:cNvPr id="546" name="s546"/>
          <p:cNvSpPr/>
          <p:nvPr/>
        </p:nvSpPr>
        <p:spPr>
          <a:xfrm>
            <a:off x="5857240" y="37084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47" name="s547"/>
          <p:cNvSpPr/>
          <p:nvPr/>
        </p:nvSpPr>
        <p:spPr>
          <a:xfrm>
            <a:off x="7152640" y="37084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548" name="s548"/>
          <p:cNvSpPr/>
          <p:nvPr/>
        </p:nvSpPr>
        <p:spPr>
          <a:xfrm>
            <a:off x="8448040" y="37084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$2.80</a:t>
            </a:r>
          </a:p>
        </p:txBody>
      </p:sp>
      <p:sp>
        <p:nvSpPr>
          <p:cNvPr id="549" name="s549"/>
          <p:cNvSpPr/>
          <p:nvPr/>
        </p:nvSpPr>
        <p:spPr>
          <a:xfrm>
            <a:off x="9235440" y="37084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$4.60</a:t>
            </a:r>
          </a:p>
        </p:txBody>
      </p:sp>
      <p:sp>
        <p:nvSpPr>
          <p:cNvPr id="550" name="s550"/>
          <p:cNvSpPr/>
          <p:nvPr/>
        </p:nvSpPr>
        <p:spPr>
          <a:xfrm>
            <a:off x="10022840" y="37084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112</a:t>
            </a:r>
          </a:p>
        </p:txBody>
      </p:sp>
      <p:sp>
        <p:nvSpPr>
          <p:cNvPr id="551" name="s551"/>
          <p:cNvSpPr/>
          <p:nvPr/>
        </p:nvSpPr>
        <p:spPr>
          <a:xfrm>
            <a:off x="10759440" y="3771900"/>
            <a:ext cx="74041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2" name="s552"/>
          <p:cNvSpPr/>
          <p:nvPr/>
        </p:nvSpPr>
        <p:spPr>
          <a:xfrm>
            <a:off x="10759440" y="3771900"/>
            <a:ext cx="74041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53" name="s553"/>
          <p:cNvSpPr/>
          <p:nvPr/>
        </p:nvSpPr>
        <p:spPr>
          <a:xfrm>
            <a:off x="11826240" y="38100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4" name="s554"/>
          <p:cNvSpPr/>
          <p:nvPr/>
        </p:nvSpPr>
        <p:spPr>
          <a:xfrm>
            <a:off x="11826240" y="38608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5" name="s555"/>
          <p:cNvSpPr/>
          <p:nvPr/>
        </p:nvSpPr>
        <p:spPr>
          <a:xfrm>
            <a:off x="11826240" y="39116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6" name="s556"/>
          <p:cNvSpPr/>
          <p:nvPr/>
        </p:nvSpPr>
        <p:spPr>
          <a:xfrm>
            <a:off x="2148840" y="4013200"/>
            <a:ext cx="9784080" cy="304800"/>
          </a:xfrm>
          <a:prstGeom prst="rect">
            <a:avLst/>
          </a:prstGeom>
          <a:solidFill>
            <a:srgbClr val="E6F1F1">
              <a:alpha val="6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7" name="s557"/>
          <p:cNvSpPr/>
          <p:nvPr/>
        </p:nvSpPr>
        <p:spPr>
          <a:xfrm>
            <a:off x="2148840" y="43116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8" name="s558"/>
          <p:cNvSpPr/>
          <p:nvPr/>
        </p:nvSpPr>
        <p:spPr>
          <a:xfrm>
            <a:off x="2148840" y="40513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9" name="s559"/>
          <p:cNvSpPr/>
          <p:nvPr/>
        </p:nvSpPr>
        <p:spPr>
          <a:xfrm>
            <a:off x="2326640" y="4102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 w="9525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0" name="s560"/>
          <p:cNvSpPr/>
          <p:nvPr/>
        </p:nvSpPr>
        <p:spPr>
          <a:xfrm>
            <a:off x="2326640" y="4102100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61" name="s561"/>
          <p:cNvSpPr/>
          <p:nvPr/>
        </p:nvSpPr>
        <p:spPr>
          <a:xfrm>
            <a:off x="2656840" y="40132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PZ-0088</a:t>
            </a:r>
          </a:p>
        </p:txBody>
      </p:sp>
      <p:sp>
        <p:nvSpPr>
          <p:cNvPr id="562" name="s562"/>
          <p:cNvSpPr/>
          <p:nvPr/>
        </p:nvSpPr>
        <p:spPr>
          <a:xfrm>
            <a:off x="3495040" y="40132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563" name="s563"/>
          <p:cNvSpPr/>
          <p:nvPr/>
        </p:nvSpPr>
        <p:spPr>
          <a:xfrm>
            <a:off x="5857240" y="40132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564" name="s564"/>
          <p:cNvSpPr/>
          <p:nvPr/>
        </p:nvSpPr>
        <p:spPr>
          <a:xfrm>
            <a:off x="7152640" y="40132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65" name="s565"/>
          <p:cNvSpPr/>
          <p:nvPr/>
        </p:nvSpPr>
        <p:spPr>
          <a:xfrm>
            <a:off x="8448040" y="40132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$3.40</a:t>
            </a:r>
          </a:p>
        </p:txBody>
      </p:sp>
      <p:sp>
        <p:nvSpPr>
          <p:cNvPr id="566" name="s566"/>
          <p:cNvSpPr/>
          <p:nvPr/>
        </p:nvSpPr>
        <p:spPr>
          <a:xfrm>
            <a:off x="9235440" y="40132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$5.75</a:t>
            </a:r>
          </a:p>
        </p:txBody>
      </p:sp>
      <p:sp>
        <p:nvSpPr>
          <p:cNvPr id="567" name="s567"/>
          <p:cNvSpPr/>
          <p:nvPr/>
        </p:nvSpPr>
        <p:spPr>
          <a:xfrm>
            <a:off x="10022840" y="4013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568" name="s568"/>
          <p:cNvSpPr/>
          <p:nvPr/>
        </p:nvSpPr>
        <p:spPr>
          <a:xfrm>
            <a:off x="10759440" y="4076700"/>
            <a:ext cx="74041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9" name="s569"/>
          <p:cNvSpPr/>
          <p:nvPr/>
        </p:nvSpPr>
        <p:spPr>
          <a:xfrm>
            <a:off x="10759440" y="4076700"/>
            <a:ext cx="74041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70" name="s570"/>
          <p:cNvSpPr/>
          <p:nvPr/>
        </p:nvSpPr>
        <p:spPr>
          <a:xfrm>
            <a:off x="11826240" y="41148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1" name="s571"/>
          <p:cNvSpPr/>
          <p:nvPr/>
        </p:nvSpPr>
        <p:spPr>
          <a:xfrm>
            <a:off x="11826240" y="41656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2" name="s572"/>
          <p:cNvSpPr/>
          <p:nvPr/>
        </p:nvSpPr>
        <p:spPr>
          <a:xfrm>
            <a:off x="11826240" y="42164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3" name="s573"/>
          <p:cNvSpPr/>
          <p:nvPr/>
        </p:nvSpPr>
        <p:spPr>
          <a:xfrm>
            <a:off x="2148840" y="46164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4" name="s574"/>
          <p:cNvSpPr/>
          <p:nvPr/>
        </p:nvSpPr>
        <p:spPr>
          <a:xfrm>
            <a:off x="2148840" y="43561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5" name="s575"/>
          <p:cNvSpPr/>
          <p:nvPr/>
        </p:nvSpPr>
        <p:spPr>
          <a:xfrm>
            <a:off x="2326640" y="44069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6" name="s576"/>
          <p:cNvSpPr/>
          <p:nvPr/>
        </p:nvSpPr>
        <p:spPr>
          <a:xfrm>
            <a:off x="2656840" y="43180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PZ-0091</a:t>
            </a:r>
          </a:p>
        </p:txBody>
      </p:sp>
      <p:sp>
        <p:nvSpPr>
          <p:cNvPr id="577" name="s577"/>
          <p:cNvSpPr/>
          <p:nvPr/>
        </p:nvSpPr>
        <p:spPr>
          <a:xfrm>
            <a:off x="3495040" y="4318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Numbers Puzzle</a:t>
            </a:r>
          </a:p>
        </p:txBody>
      </p:sp>
      <p:sp>
        <p:nvSpPr>
          <p:cNvPr id="578" name="s578"/>
          <p:cNvSpPr/>
          <p:nvPr/>
        </p:nvSpPr>
        <p:spPr>
          <a:xfrm>
            <a:off x="5857240" y="43180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579" name="s579"/>
          <p:cNvSpPr/>
          <p:nvPr/>
        </p:nvSpPr>
        <p:spPr>
          <a:xfrm>
            <a:off x="7152640" y="43180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WH-03 Gbarnga</a:t>
            </a:r>
          </a:p>
        </p:txBody>
      </p:sp>
      <p:sp>
        <p:nvSpPr>
          <p:cNvPr id="580" name="s580"/>
          <p:cNvSpPr/>
          <p:nvPr/>
        </p:nvSpPr>
        <p:spPr>
          <a:xfrm>
            <a:off x="8448040" y="43180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$3.20</a:t>
            </a:r>
          </a:p>
        </p:txBody>
      </p:sp>
      <p:sp>
        <p:nvSpPr>
          <p:cNvPr id="581" name="s581"/>
          <p:cNvSpPr/>
          <p:nvPr/>
        </p:nvSpPr>
        <p:spPr>
          <a:xfrm>
            <a:off x="9235440" y="43180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$5.40</a:t>
            </a:r>
          </a:p>
        </p:txBody>
      </p:sp>
      <p:sp>
        <p:nvSpPr>
          <p:cNvPr id="582" name="s582"/>
          <p:cNvSpPr/>
          <p:nvPr/>
        </p:nvSpPr>
        <p:spPr>
          <a:xfrm>
            <a:off x="10022840" y="4318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42</a:t>
            </a:r>
          </a:p>
        </p:txBody>
      </p:sp>
      <p:sp>
        <p:nvSpPr>
          <p:cNvPr id="583" name="s583"/>
          <p:cNvSpPr/>
          <p:nvPr/>
        </p:nvSpPr>
        <p:spPr>
          <a:xfrm>
            <a:off x="10759440" y="4381500"/>
            <a:ext cx="74041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4" name="s584"/>
          <p:cNvSpPr/>
          <p:nvPr/>
        </p:nvSpPr>
        <p:spPr>
          <a:xfrm>
            <a:off x="10759440" y="4381500"/>
            <a:ext cx="74041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85" name="s585"/>
          <p:cNvSpPr/>
          <p:nvPr/>
        </p:nvSpPr>
        <p:spPr>
          <a:xfrm>
            <a:off x="11826240" y="44196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6" name="s586"/>
          <p:cNvSpPr/>
          <p:nvPr/>
        </p:nvSpPr>
        <p:spPr>
          <a:xfrm>
            <a:off x="11826240" y="44704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7" name="s587"/>
          <p:cNvSpPr/>
          <p:nvPr/>
        </p:nvSpPr>
        <p:spPr>
          <a:xfrm>
            <a:off x="11826240" y="45212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8" name="s588"/>
          <p:cNvSpPr/>
          <p:nvPr/>
        </p:nvSpPr>
        <p:spPr>
          <a:xfrm>
            <a:off x="2148840" y="49212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9" name="s589"/>
          <p:cNvSpPr/>
          <p:nvPr/>
        </p:nvSpPr>
        <p:spPr>
          <a:xfrm>
            <a:off x="2148840" y="46609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0" name="s590"/>
          <p:cNvSpPr/>
          <p:nvPr/>
        </p:nvSpPr>
        <p:spPr>
          <a:xfrm>
            <a:off x="2326640" y="47117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1" name="s591"/>
          <p:cNvSpPr/>
          <p:nvPr/>
        </p:nvSpPr>
        <p:spPr>
          <a:xfrm>
            <a:off x="2656840" y="46228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AC-0031</a:t>
            </a:r>
          </a:p>
        </p:txBody>
      </p:sp>
      <p:sp>
        <p:nvSpPr>
          <p:cNvPr id="592" name="s592"/>
          <p:cNvSpPr/>
          <p:nvPr/>
        </p:nvSpPr>
        <p:spPr>
          <a:xfrm>
            <a:off x="3495040" y="46228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English Alphabet Flashcards</a:t>
            </a:r>
          </a:p>
        </p:txBody>
      </p:sp>
      <p:sp>
        <p:nvSpPr>
          <p:cNvPr id="593" name="s593"/>
          <p:cNvSpPr/>
          <p:nvPr/>
        </p:nvSpPr>
        <p:spPr>
          <a:xfrm>
            <a:off x="5857240" y="46228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Alphabet Cards</a:t>
            </a:r>
          </a:p>
        </p:txBody>
      </p:sp>
      <p:sp>
        <p:nvSpPr>
          <p:cNvPr id="594" name="s594"/>
          <p:cNvSpPr/>
          <p:nvPr/>
        </p:nvSpPr>
        <p:spPr>
          <a:xfrm>
            <a:off x="7152640" y="46228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95" name="s595"/>
          <p:cNvSpPr/>
          <p:nvPr/>
        </p:nvSpPr>
        <p:spPr>
          <a:xfrm>
            <a:off x="8448040" y="46228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$1.60</a:t>
            </a:r>
          </a:p>
        </p:txBody>
      </p:sp>
      <p:sp>
        <p:nvSpPr>
          <p:cNvPr id="596" name="s596"/>
          <p:cNvSpPr/>
          <p:nvPr/>
        </p:nvSpPr>
        <p:spPr>
          <a:xfrm>
            <a:off x="9235440" y="46228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$2.90</a:t>
            </a:r>
          </a:p>
        </p:txBody>
      </p:sp>
      <p:sp>
        <p:nvSpPr>
          <p:cNvPr id="597" name="s597"/>
          <p:cNvSpPr/>
          <p:nvPr/>
        </p:nvSpPr>
        <p:spPr>
          <a:xfrm>
            <a:off x="10022840" y="46228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598" name="s598"/>
          <p:cNvSpPr/>
          <p:nvPr/>
        </p:nvSpPr>
        <p:spPr>
          <a:xfrm>
            <a:off x="10759440" y="4686300"/>
            <a:ext cx="91948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9" name="s599"/>
          <p:cNvSpPr/>
          <p:nvPr/>
        </p:nvSpPr>
        <p:spPr>
          <a:xfrm>
            <a:off x="10759440" y="4686300"/>
            <a:ext cx="9194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B3261E"/>
                </a:solidFill>
                <a:latin typeface="Calibri"/>
              </a:rPr>
              <a:t>Out of Stock</a:t>
            </a:r>
          </a:p>
        </p:txBody>
      </p:sp>
      <p:sp>
        <p:nvSpPr>
          <p:cNvPr id="600" name="s600"/>
          <p:cNvSpPr/>
          <p:nvPr/>
        </p:nvSpPr>
        <p:spPr>
          <a:xfrm>
            <a:off x="11826240" y="47244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1" name="s601"/>
          <p:cNvSpPr/>
          <p:nvPr/>
        </p:nvSpPr>
        <p:spPr>
          <a:xfrm>
            <a:off x="11826240" y="47752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2" name="s602"/>
          <p:cNvSpPr/>
          <p:nvPr/>
        </p:nvSpPr>
        <p:spPr>
          <a:xfrm>
            <a:off x="11826240" y="48260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3" name="s603"/>
          <p:cNvSpPr/>
          <p:nvPr/>
        </p:nvSpPr>
        <p:spPr>
          <a:xfrm>
            <a:off x="2148840" y="52260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4" name="s604"/>
          <p:cNvSpPr/>
          <p:nvPr/>
        </p:nvSpPr>
        <p:spPr>
          <a:xfrm>
            <a:off x="2148840" y="49657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5" name="s605"/>
          <p:cNvSpPr/>
          <p:nvPr/>
        </p:nvSpPr>
        <p:spPr>
          <a:xfrm>
            <a:off x="2326640" y="50165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6" name="s606"/>
          <p:cNvSpPr/>
          <p:nvPr/>
        </p:nvSpPr>
        <p:spPr>
          <a:xfrm>
            <a:off x="2656840" y="49276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AC-0037</a:t>
            </a:r>
          </a:p>
        </p:txBody>
      </p:sp>
      <p:sp>
        <p:nvSpPr>
          <p:cNvPr id="607" name="s607"/>
          <p:cNvSpPr/>
          <p:nvPr/>
        </p:nvSpPr>
        <p:spPr>
          <a:xfrm>
            <a:off x="3495040" y="49276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Phonics Learning Cards</a:t>
            </a:r>
          </a:p>
        </p:txBody>
      </p:sp>
      <p:sp>
        <p:nvSpPr>
          <p:cNvPr id="608" name="s608"/>
          <p:cNvSpPr/>
          <p:nvPr/>
        </p:nvSpPr>
        <p:spPr>
          <a:xfrm>
            <a:off x="5857240" y="49276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Alphabet Cards</a:t>
            </a:r>
          </a:p>
        </p:txBody>
      </p:sp>
      <p:sp>
        <p:nvSpPr>
          <p:cNvPr id="609" name="s609"/>
          <p:cNvSpPr/>
          <p:nvPr/>
        </p:nvSpPr>
        <p:spPr>
          <a:xfrm>
            <a:off x="7152640" y="49276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610" name="s610"/>
          <p:cNvSpPr/>
          <p:nvPr/>
        </p:nvSpPr>
        <p:spPr>
          <a:xfrm>
            <a:off x="8448040" y="49276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$1.80</a:t>
            </a:r>
          </a:p>
        </p:txBody>
      </p:sp>
      <p:sp>
        <p:nvSpPr>
          <p:cNvPr id="611" name="s611"/>
          <p:cNvSpPr/>
          <p:nvPr/>
        </p:nvSpPr>
        <p:spPr>
          <a:xfrm>
            <a:off x="9235440" y="49276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$3.10</a:t>
            </a:r>
          </a:p>
        </p:txBody>
      </p:sp>
      <p:sp>
        <p:nvSpPr>
          <p:cNvPr id="612" name="s612"/>
          <p:cNvSpPr/>
          <p:nvPr/>
        </p:nvSpPr>
        <p:spPr>
          <a:xfrm>
            <a:off x="1002284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68</a:t>
            </a:r>
          </a:p>
        </p:txBody>
      </p:sp>
      <p:sp>
        <p:nvSpPr>
          <p:cNvPr id="613" name="s613"/>
          <p:cNvSpPr/>
          <p:nvPr/>
        </p:nvSpPr>
        <p:spPr>
          <a:xfrm>
            <a:off x="10759440" y="4991100"/>
            <a:ext cx="74041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4" name="s614"/>
          <p:cNvSpPr/>
          <p:nvPr/>
        </p:nvSpPr>
        <p:spPr>
          <a:xfrm>
            <a:off x="10759440" y="4991100"/>
            <a:ext cx="74041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615" name="s615"/>
          <p:cNvSpPr/>
          <p:nvPr/>
        </p:nvSpPr>
        <p:spPr>
          <a:xfrm>
            <a:off x="11826240" y="50292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6" name="s616"/>
          <p:cNvSpPr/>
          <p:nvPr/>
        </p:nvSpPr>
        <p:spPr>
          <a:xfrm>
            <a:off x="11826240" y="50800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7" name="s617"/>
          <p:cNvSpPr/>
          <p:nvPr/>
        </p:nvSpPr>
        <p:spPr>
          <a:xfrm>
            <a:off x="11826240" y="51308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8" name="s618"/>
          <p:cNvSpPr/>
          <p:nvPr/>
        </p:nvSpPr>
        <p:spPr>
          <a:xfrm>
            <a:off x="2148840" y="5232400"/>
            <a:ext cx="9784080" cy="304800"/>
          </a:xfrm>
          <a:prstGeom prst="rect">
            <a:avLst/>
          </a:prstGeom>
          <a:solidFill>
            <a:srgbClr val="E6F1F1">
              <a:alpha val="6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9" name="s619"/>
          <p:cNvSpPr/>
          <p:nvPr/>
        </p:nvSpPr>
        <p:spPr>
          <a:xfrm>
            <a:off x="2148840" y="55308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0" name="s620"/>
          <p:cNvSpPr/>
          <p:nvPr/>
        </p:nvSpPr>
        <p:spPr>
          <a:xfrm>
            <a:off x="2148840" y="52705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1" name="s621"/>
          <p:cNvSpPr/>
          <p:nvPr/>
        </p:nvSpPr>
        <p:spPr>
          <a:xfrm>
            <a:off x="2326640" y="53213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2559A8"/>
          </a:solidFill>
          <a:ln w="9525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2" name="s622"/>
          <p:cNvSpPr/>
          <p:nvPr/>
        </p:nvSpPr>
        <p:spPr>
          <a:xfrm>
            <a:off x="2326640" y="5321300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23" name="s623"/>
          <p:cNvSpPr/>
          <p:nvPr/>
        </p:nvSpPr>
        <p:spPr>
          <a:xfrm>
            <a:off x="2656840" y="52324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GC-0057</a:t>
            </a:r>
          </a:p>
        </p:txBody>
      </p:sp>
      <p:sp>
        <p:nvSpPr>
          <p:cNvPr id="624" name="s624"/>
          <p:cNvSpPr/>
          <p:nvPr/>
        </p:nvSpPr>
        <p:spPr>
          <a:xfrm>
            <a:off x="3495040" y="52324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Memory Matching Cards</a:t>
            </a:r>
          </a:p>
        </p:txBody>
      </p:sp>
      <p:sp>
        <p:nvSpPr>
          <p:cNvPr id="625" name="s625"/>
          <p:cNvSpPr/>
          <p:nvPr/>
        </p:nvSpPr>
        <p:spPr>
          <a:xfrm>
            <a:off x="5857240" y="52324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Game Cards</a:t>
            </a:r>
          </a:p>
        </p:txBody>
      </p:sp>
      <p:sp>
        <p:nvSpPr>
          <p:cNvPr id="626" name="s626"/>
          <p:cNvSpPr/>
          <p:nvPr/>
        </p:nvSpPr>
        <p:spPr>
          <a:xfrm>
            <a:off x="7152640" y="52324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627" name="s627"/>
          <p:cNvSpPr/>
          <p:nvPr/>
        </p:nvSpPr>
        <p:spPr>
          <a:xfrm>
            <a:off x="8448040" y="52324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$2.00</a:t>
            </a:r>
          </a:p>
        </p:txBody>
      </p:sp>
      <p:sp>
        <p:nvSpPr>
          <p:cNvPr id="628" name="s628"/>
          <p:cNvSpPr/>
          <p:nvPr/>
        </p:nvSpPr>
        <p:spPr>
          <a:xfrm>
            <a:off x="9235440" y="52324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$3.40</a:t>
            </a:r>
          </a:p>
        </p:txBody>
      </p:sp>
      <p:sp>
        <p:nvSpPr>
          <p:cNvPr id="629" name="s629"/>
          <p:cNvSpPr/>
          <p:nvPr/>
        </p:nvSpPr>
        <p:spPr>
          <a:xfrm>
            <a:off x="10022840" y="52324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312</a:t>
            </a:r>
          </a:p>
        </p:txBody>
      </p:sp>
      <p:sp>
        <p:nvSpPr>
          <p:cNvPr id="630" name="s630"/>
          <p:cNvSpPr/>
          <p:nvPr/>
        </p:nvSpPr>
        <p:spPr>
          <a:xfrm>
            <a:off x="10759440" y="5295900"/>
            <a:ext cx="68072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1" name="s631"/>
          <p:cNvSpPr/>
          <p:nvPr/>
        </p:nvSpPr>
        <p:spPr>
          <a:xfrm>
            <a:off x="10759440" y="5295900"/>
            <a:ext cx="6807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632" name="s632"/>
          <p:cNvSpPr/>
          <p:nvPr/>
        </p:nvSpPr>
        <p:spPr>
          <a:xfrm>
            <a:off x="11826240" y="53340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3" name="s633"/>
          <p:cNvSpPr/>
          <p:nvPr/>
        </p:nvSpPr>
        <p:spPr>
          <a:xfrm>
            <a:off x="11826240" y="53848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4" name="s634"/>
          <p:cNvSpPr/>
          <p:nvPr/>
        </p:nvSpPr>
        <p:spPr>
          <a:xfrm>
            <a:off x="11826240" y="54356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5" name="s635"/>
          <p:cNvSpPr/>
          <p:nvPr/>
        </p:nvSpPr>
        <p:spPr>
          <a:xfrm>
            <a:off x="2148840" y="58356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6" name="s636"/>
          <p:cNvSpPr/>
          <p:nvPr/>
        </p:nvSpPr>
        <p:spPr>
          <a:xfrm>
            <a:off x="2148840" y="55753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7" name="s637"/>
          <p:cNvSpPr/>
          <p:nvPr/>
        </p:nvSpPr>
        <p:spPr>
          <a:xfrm>
            <a:off x="2326640" y="5626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38" name="s638"/>
          <p:cNvSpPr/>
          <p:nvPr/>
        </p:nvSpPr>
        <p:spPr>
          <a:xfrm>
            <a:off x="2656840" y="55372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CB-0104</a:t>
            </a:r>
          </a:p>
        </p:txBody>
      </p:sp>
      <p:sp>
        <p:nvSpPr>
          <p:cNvPr id="639" name="s639"/>
          <p:cNvSpPr/>
          <p:nvPr/>
        </p:nvSpPr>
        <p:spPr>
          <a:xfrm>
            <a:off x="3495040" y="55372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Handwriting Copybook</a:t>
            </a:r>
          </a:p>
        </p:txBody>
      </p:sp>
      <p:sp>
        <p:nvSpPr>
          <p:cNvPr id="640" name="s640"/>
          <p:cNvSpPr/>
          <p:nvPr/>
        </p:nvSpPr>
        <p:spPr>
          <a:xfrm>
            <a:off x="5857240" y="55372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Copybooks</a:t>
            </a:r>
          </a:p>
        </p:txBody>
      </p:sp>
      <p:sp>
        <p:nvSpPr>
          <p:cNvPr id="641" name="s641"/>
          <p:cNvSpPr/>
          <p:nvPr/>
        </p:nvSpPr>
        <p:spPr>
          <a:xfrm>
            <a:off x="7152640" y="55372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642" name="s642"/>
          <p:cNvSpPr/>
          <p:nvPr/>
        </p:nvSpPr>
        <p:spPr>
          <a:xfrm>
            <a:off x="8448040" y="55372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$0.90</a:t>
            </a:r>
          </a:p>
        </p:txBody>
      </p:sp>
      <p:sp>
        <p:nvSpPr>
          <p:cNvPr id="643" name="s643"/>
          <p:cNvSpPr/>
          <p:nvPr/>
        </p:nvSpPr>
        <p:spPr>
          <a:xfrm>
            <a:off x="9235440" y="55372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$1.60</a:t>
            </a:r>
          </a:p>
        </p:txBody>
      </p:sp>
      <p:sp>
        <p:nvSpPr>
          <p:cNvPr id="644" name="s644"/>
          <p:cNvSpPr/>
          <p:nvPr/>
        </p:nvSpPr>
        <p:spPr>
          <a:xfrm>
            <a:off x="10022840" y="5537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940</a:t>
            </a:r>
          </a:p>
        </p:txBody>
      </p:sp>
      <p:sp>
        <p:nvSpPr>
          <p:cNvPr id="645" name="s645"/>
          <p:cNvSpPr/>
          <p:nvPr/>
        </p:nvSpPr>
        <p:spPr>
          <a:xfrm>
            <a:off x="10759440" y="5600700"/>
            <a:ext cx="68072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6" name="s646"/>
          <p:cNvSpPr/>
          <p:nvPr/>
        </p:nvSpPr>
        <p:spPr>
          <a:xfrm>
            <a:off x="10759440" y="5600700"/>
            <a:ext cx="6807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647" name="s647"/>
          <p:cNvSpPr/>
          <p:nvPr/>
        </p:nvSpPr>
        <p:spPr>
          <a:xfrm>
            <a:off x="11826240" y="56388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8" name="s648"/>
          <p:cNvSpPr/>
          <p:nvPr/>
        </p:nvSpPr>
        <p:spPr>
          <a:xfrm>
            <a:off x="11826240" y="56896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9" name="s649"/>
          <p:cNvSpPr/>
          <p:nvPr/>
        </p:nvSpPr>
        <p:spPr>
          <a:xfrm>
            <a:off x="11826240" y="57404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0" name="s650"/>
          <p:cNvSpPr/>
          <p:nvPr/>
        </p:nvSpPr>
        <p:spPr>
          <a:xfrm>
            <a:off x="2148840" y="5880100"/>
            <a:ext cx="978408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1" name="s651"/>
          <p:cNvSpPr/>
          <p:nvPr/>
        </p:nvSpPr>
        <p:spPr>
          <a:xfrm>
            <a:off x="2326640" y="59817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Showing 1–10 of 245 products</a:t>
            </a:r>
          </a:p>
        </p:txBody>
      </p:sp>
      <p:sp>
        <p:nvSpPr>
          <p:cNvPr id="652" name="s652"/>
          <p:cNvSpPr/>
          <p:nvPr/>
        </p:nvSpPr>
        <p:spPr>
          <a:xfrm>
            <a:off x="5778500" y="59817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Rows per page</a:t>
            </a:r>
          </a:p>
        </p:txBody>
      </p:sp>
      <p:sp>
        <p:nvSpPr>
          <p:cNvPr id="653" name="s653"/>
          <p:cNvSpPr/>
          <p:nvPr/>
        </p:nvSpPr>
        <p:spPr>
          <a:xfrm>
            <a:off x="6997700" y="6019800"/>
            <a:ext cx="584200" cy="25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4" name="s654"/>
          <p:cNvSpPr/>
          <p:nvPr/>
        </p:nvSpPr>
        <p:spPr>
          <a:xfrm>
            <a:off x="6997700" y="6019800"/>
            <a:ext cx="584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10  ▾</a:t>
            </a:r>
          </a:p>
        </p:txBody>
      </p:sp>
      <p:sp>
        <p:nvSpPr>
          <p:cNvPr id="655" name="s655"/>
          <p:cNvSpPr/>
          <p:nvPr/>
        </p:nvSpPr>
        <p:spPr>
          <a:xfrm>
            <a:off x="8001000" y="6019800"/>
            <a:ext cx="3048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6" name="s656"/>
          <p:cNvSpPr/>
          <p:nvPr/>
        </p:nvSpPr>
        <p:spPr>
          <a:xfrm>
            <a:off x="8001000" y="60198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‹</a:t>
            </a:r>
          </a:p>
        </p:txBody>
      </p:sp>
      <p:sp>
        <p:nvSpPr>
          <p:cNvPr id="657" name="s657"/>
          <p:cNvSpPr/>
          <p:nvPr/>
        </p:nvSpPr>
        <p:spPr>
          <a:xfrm>
            <a:off x="8382000" y="6019800"/>
            <a:ext cx="304800" cy="254000"/>
          </a:xfrm>
          <a:prstGeom prst="roundRect">
            <a:avLst>
              <a:gd name="adj" fmla="val 8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58" name="s658"/>
          <p:cNvSpPr/>
          <p:nvPr/>
        </p:nvSpPr>
        <p:spPr>
          <a:xfrm>
            <a:off x="8382000" y="60198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9" name="s659"/>
          <p:cNvSpPr/>
          <p:nvPr/>
        </p:nvSpPr>
        <p:spPr>
          <a:xfrm>
            <a:off x="8763000" y="6019800"/>
            <a:ext cx="3048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0" name="s660"/>
          <p:cNvSpPr/>
          <p:nvPr/>
        </p:nvSpPr>
        <p:spPr>
          <a:xfrm>
            <a:off x="8763000" y="60198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</a:t>
            </a:r>
          </a:p>
        </p:txBody>
      </p:sp>
      <p:sp>
        <p:nvSpPr>
          <p:cNvPr id="661" name="s661"/>
          <p:cNvSpPr/>
          <p:nvPr/>
        </p:nvSpPr>
        <p:spPr>
          <a:xfrm>
            <a:off x="9144000" y="6019800"/>
            <a:ext cx="3048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2" name="s662"/>
          <p:cNvSpPr/>
          <p:nvPr/>
        </p:nvSpPr>
        <p:spPr>
          <a:xfrm>
            <a:off x="9144000" y="60198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3</a:t>
            </a:r>
          </a:p>
        </p:txBody>
      </p:sp>
      <p:sp>
        <p:nvSpPr>
          <p:cNvPr id="663" name="s663"/>
          <p:cNvSpPr/>
          <p:nvPr/>
        </p:nvSpPr>
        <p:spPr>
          <a:xfrm>
            <a:off x="9525000" y="60198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…</a:t>
            </a:r>
          </a:p>
        </p:txBody>
      </p:sp>
      <p:sp>
        <p:nvSpPr>
          <p:cNvPr id="664" name="s664"/>
          <p:cNvSpPr/>
          <p:nvPr/>
        </p:nvSpPr>
        <p:spPr>
          <a:xfrm>
            <a:off x="9829800" y="6019800"/>
            <a:ext cx="3048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5" name="s665"/>
          <p:cNvSpPr/>
          <p:nvPr/>
        </p:nvSpPr>
        <p:spPr>
          <a:xfrm>
            <a:off x="9829800" y="60198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25</a:t>
            </a:r>
          </a:p>
        </p:txBody>
      </p:sp>
      <p:sp>
        <p:nvSpPr>
          <p:cNvPr id="666" name="s666"/>
          <p:cNvSpPr/>
          <p:nvPr/>
        </p:nvSpPr>
        <p:spPr>
          <a:xfrm>
            <a:off x="10210800" y="6019800"/>
            <a:ext cx="3048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67" name="s667"/>
          <p:cNvSpPr/>
          <p:nvPr/>
        </p:nvSpPr>
        <p:spPr>
          <a:xfrm>
            <a:off x="10210800" y="60198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›</a:t>
            </a:r>
          </a:p>
        </p:txBody>
      </p:sp>
      <p:pic>
        <p:nvPicPr>
          <p:cNvPr id="668" name="Copied Picture 668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245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101600" y="1485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101600" y="1485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Products  ›  Categories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812800"/>
            <a:ext cx="584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Product Categories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1430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5 categories  ·  245 products  ·  18,450 units  ·  $42,850 inventory value</a:t>
            </a:r>
          </a:p>
        </p:txBody>
      </p:sp>
      <p:sp>
        <p:nvSpPr>
          <p:cNvPr id="444" name="s444"/>
          <p:cNvSpPr/>
          <p:nvPr/>
        </p:nvSpPr>
        <p:spPr>
          <a:xfrm>
            <a:off x="10668000" y="838200"/>
            <a:ext cx="126492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668000" y="838200"/>
            <a:ext cx="12649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Add Category</a:t>
            </a:r>
          </a:p>
        </p:txBody>
      </p:sp>
      <p:sp>
        <p:nvSpPr>
          <p:cNvPr id="446" name="s446"/>
          <p:cNvSpPr/>
          <p:nvPr/>
        </p:nvSpPr>
        <p:spPr>
          <a:xfrm>
            <a:off x="9824720" y="8382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824720" y="8382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Manage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47800"/>
            <a:ext cx="1814830" cy="147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148840" y="1447800"/>
            <a:ext cx="31750" cy="1473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0" name="s450"/>
          <p:cNvSpPr/>
          <p:nvPr/>
        </p:nvSpPr>
        <p:spPr>
          <a:xfrm>
            <a:off x="2326640" y="1625600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2559A8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428240" y="1727200"/>
            <a:ext cx="127000" cy="1270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3303270" y="1651000"/>
            <a:ext cx="482600" cy="190500"/>
          </a:xfrm>
          <a:prstGeom prst="roundRect">
            <a:avLst>
              <a:gd name="adj" fmla="val 26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559A8"/>
                </a:solidFill>
                <a:latin typeface="Calibri"/>
              </a:rPr>
              <a:t>Active</a:t>
            </a:r>
          </a:p>
        </p:txBody>
      </p:sp>
      <p:sp>
        <p:nvSpPr>
          <p:cNvPr id="453" name="s453"/>
          <p:cNvSpPr/>
          <p:nvPr/>
        </p:nvSpPr>
        <p:spPr>
          <a:xfrm>
            <a:off x="2326640" y="2057400"/>
            <a:ext cx="151003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Books</a:t>
            </a:r>
          </a:p>
        </p:txBody>
      </p:sp>
      <p:sp>
        <p:nvSpPr>
          <p:cNvPr id="454" name="s454"/>
          <p:cNvSpPr/>
          <p:nvPr/>
        </p:nvSpPr>
        <p:spPr>
          <a:xfrm>
            <a:off x="2326640" y="2260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68 products</a:t>
            </a:r>
          </a:p>
        </p:txBody>
      </p:sp>
      <p:sp>
        <p:nvSpPr>
          <p:cNvPr id="455" name="s455"/>
          <p:cNvSpPr/>
          <p:nvPr/>
        </p:nvSpPr>
        <p:spPr>
          <a:xfrm>
            <a:off x="2326640" y="2463800"/>
            <a:ext cx="145923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6" name="s456"/>
          <p:cNvSpPr/>
          <p:nvPr/>
        </p:nvSpPr>
        <p:spPr>
          <a:xfrm>
            <a:off x="2326640" y="25146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457" name="s457"/>
          <p:cNvSpPr/>
          <p:nvPr/>
        </p:nvSpPr>
        <p:spPr>
          <a:xfrm>
            <a:off x="2987040" y="25146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6,240</a:t>
            </a:r>
          </a:p>
        </p:txBody>
      </p:sp>
      <p:sp>
        <p:nvSpPr>
          <p:cNvPr id="458" name="s458"/>
          <p:cNvSpPr/>
          <p:nvPr/>
        </p:nvSpPr>
        <p:spPr>
          <a:xfrm>
            <a:off x="2326640" y="269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459" name="s459"/>
          <p:cNvSpPr/>
          <p:nvPr/>
        </p:nvSpPr>
        <p:spPr>
          <a:xfrm>
            <a:off x="2987040" y="26924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$14,820</a:t>
            </a:r>
          </a:p>
        </p:txBody>
      </p:sp>
      <p:sp>
        <p:nvSpPr>
          <p:cNvPr id="460" name="s460"/>
          <p:cNvSpPr/>
          <p:nvPr/>
        </p:nvSpPr>
        <p:spPr>
          <a:xfrm>
            <a:off x="4141470" y="1447800"/>
            <a:ext cx="1814830" cy="147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4141470" y="1447800"/>
            <a:ext cx="31750" cy="14732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4319270" y="1625600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24AA9D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4420870" y="1727200"/>
            <a:ext cx="127000" cy="127000"/>
          </a:xfrm>
          <a:prstGeom prst="ellipse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4319270" y="2057400"/>
            <a:ext cx="151003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Puzzles</a:t>
            </a:r>
          </a:p>
        </p:txBody>
      </p:sp>
      <p:sp>
        <p:nvSpPr>
          <p:cNvPr id="465" name="s465"/>
          <p:cNvSpPr/>
          <p:nvPr/>
        </p:nvSpPr>
        <p:spPr>
          <a:xfrm>
            <a:off x="4319270" y="2260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42 products</a:t>
            </a:r>
          </a:p>
        </p:txBody>
      </p:sp>
      <p:sp>
        <p:nvSpPr>
          <p:cNvPr id="466" name="s466"/>
          <p:cNvSpPr/>
          <p:nvPr/>
        </p:nvSpPr>
        <p:spPr>
          <a:xfrm>
            <a:off x="4319270" y="2463800"/>
            <a:ext cx="145923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7" name="s467"/>
          <p:cNvSpPr/>
          <p:nvPr/>
        </p:nvSpPr>
        <p:spPr>
          <a:xfrm>
            <a:off x="4319270" y="25146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468" name="s468"/>
          <p:cNvSpPr/>
          <p:nvPr/>
        </p:nvSpPr>
        <p:spPr>
          <a:xfrm>
            <a:off x="4979670" y="25146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3,180</a:t>
            </a:r>
          </a:p>
        </p:txBody>
      </p:sp>
      <p:sp>
        <p:nvSpPr>
          <p:cNvPr id="469" name="s469"/>
          <p:cNvSpPr/>
          <p:nvPr/>
        </p:nvSpPr>
        <p:spPr>
          <a:xfrm>
            <a:off x="4319270" y="269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470" name="s470"/>
          <p:cNvSpPr/>
          <p:nvPr/>
        </p:nvSpPr>
        <p:spPr>
          <a:xfrm>
            <a:off x="4979670" y="26924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$9,640</a:t>
            </a:r>
          </a:p>
        </p:txBody>
      </p:sp>
      <p:sp>
        <p:nvSpPr>
          <p:cNvPr id="471" name="s471"/>
          <p:cNvSpPr/>
          <p:nvPr/>
        </p:nvSpPr>
        <p:spPr>
          <a:xfrm>
            <a:off x="6134100" y="1447800"/>
            <a:ext cx="1814830" cy="147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6134100" y="1447800"/>
            <a:ext cx="31750" cy="1473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3" name="s473"/>
          <p:cNvSpPr/>
          <p:nvPr/>
        </p:nvSpPr>
        <p:spPr>
          <a:xfrm>
            <a:off x="6311900" y="1625600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65C1BA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4" name="s474"/>
          <p:cNvSpPr/>
          <p:nvPr/>
        </p:nvSpPr>
        <p:spPr>
          <a:xfrm>
            <a:off x="6413500" y="1727200"/>
            <a:ext cx="127000" cy="127000"/>
          </a:xfrm>
          <a:prstGeom prst="ellipse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6311900" y="2057400"/>
            <a:ext cx="151003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Alphabet Cards</a:t>
            </a:r>
          </a:p>
        </p:txBody>
      </p:sp>
      <p:sp>
        <p:nvSpPr>
          <p:cNvPr id="476" name="s476"/>
          <p:cNvSpPr/>
          <p:nvPr/>
        </p:nvSpPr>
        <p:spPr>
          <a:xfrm>
            <a:off x="6311900" y="2260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39 products</a:t>
            </a:r>
          </a:p>
        </p:txBody>
      </p:sp>
      <p:sp>
        <p:nvSpPr>
          <p:cNvPr id="477" name="s477"/>
          <p:cNvSpPr/>
          <p:nvPr/>
        </p:nvSpPr>
        <p:spPr>
          <a:xfrm>
            <a:off x="6311900" y="2463800"/>
            <a:ext cx="145923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6311900" y="25146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479" name="s479"/>
          <p:cNvSpPr/>
          <p:nvPr/>
        </p:nvSpPr>
        <p:spPr>
          <a:xfrm>
            <a:off x="6972300" y="25146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2,930</a:t>
            </a:r>
          </a:p>
        </p:txBody>
      </p:sp>
      <p:sp>
        <p:nvSpPr>
          <p:cNvPr id="480" name="s480"/>
          <p:cNvSpPr/>
          <p:nvPr/>
        </p:nvSpPr>
        <p:spPr>
          <a:xfrm>
            <a:off x="6311900" y="269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481" name="s481"/>
          <p:cNvSpPr/>
          <p:nvPr/>
        </p:nvSpPr>
        <p:spPr>
          <a:xfrm>
            <a:off x="6972300" y="26924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$6,180</a:t>
            </a:r>
          </a:p>
        </p:txBody>
      </p:sp>
      <p:sp>
        <p:nvSpPr>
          <p:cNvPr id="482" name="s482"/>
          <p:cNvSpPr/>
          <p:nvPr/>
        </p:nvSpPr>
        <p:spPr>
          <a:xfrm>
            <a:off x="8126730" y="1447800"/>
            <a:ext cx="1814830" cy="147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8126730" y="1447800"/>
            <a:ext cx="31750" cy="14732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4" name="s484"/>
          <p:cNvSpPr/>
          <p:nvPr/>
        </p:nvSpPr>
        <p:spPr>
          <a:xfrm>
            <a:off x="8304530" y="1625600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D08700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8406130" y="1727200"/>
            <a:ext cx="127000" cy="1270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6" name="s486"/>
          <p:cNvSpPr/>
          <p:nvPr/>
        </p:nvSpPr>
        <p:spPr>
          <a:xfrm>
            <a:off x="8304530" y="2057400"/>
            <a:ext cx="151003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Game Cards</a:t>
            </a:r>
          </a:p>
        </p:txBody>
      </p:sp>
      <p:sp>
        <p:nvSpPr>
          <p:cNvPr id="487" name="s487"/>
          <p:cNvSpPr/>
          <p:nvPr/>
        </p:nvSpPr>
        <p:spPr>
          <a:xfrm>
            <a:off x="8304530" y="2260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44 products</a:t>
            </a:r>
          </a:p>
        </p:txBody>
      </p:sp>
      <p:sp>
        <p:nvSpPr>
          <p:cNvPr id="488" name="s488"/>
          <p:cNvSpPr/>
          <p:nvPr/>
        </p:nvSpPr>
        <p:spPr>
          <a:xfrm>
            <a:off x="8304530" y="2463800"/>
            <a:ext cx="145923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8304530" y="25146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490" name="s490"/>
          <p:cNvSpPr/>
          <p:nvPr/>
        </p:nvSpPr>
        <p:spPr>
          <a:xfrm>
            <a:off x="8964930" y="25146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2,610</a:t>
            </a:r>
          </a:p>
        </p:txBody>
      </p:sp>
      <p:sp>
        <p:nvSpPr>
          <p:cNvPr id="491" name="s491"/>
          <p:cNvSpPr/>
          <p:nvPr/>
        </p:nvSpPr>
        <p:spPr>
          <a:xfrm>
            <a:off x="8304530" y="269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492" name="s492"/>
          <p:cNvSpPr/>
          <p:nvPr/>
        </p:nvSpPr>
        <p:spPr>
          <a:xfrm>
            <a:off x="8964930" y="26924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$6,020</a:t>
            </a:r>
          </a:p>
        </p:txBody>
      </p:sp>
      <p:sp>
        <p:nvSpPr>
          <p:cNvPr id="493" name="s493"/>
          <p:cNvSpPr/>
          <p:nvPr/>
        </p:nvSpPr>
        <p:spPr>
          <a:xfrm>
            <a:off x="10119360" y="1447800"/>
            <a:ext cx="1814830" cy="147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4" name="s494"/>
          <p:cNvSpPr/>
          <p:nvPr/>
        </p:nvSpPr>
        <p:spPr>
          <a:xfrm>
            <a:off x="10119360" y="1447800"/>
            <a:ext cx="31750" cy="14732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10297160" y="1625600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2C6ECB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10398760" y="1727200"/>
            <a:ext cx="127000" cy="127000"/>
          </a:xfrm>
          <a:prstGeom prst="ellipse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10297160" y="2057400"/>
            <a:ext cx="151003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Copybooks</a:t>
            </a:r>
          </a:p>
        </p:txBody>
      </p:sp>
      <p:sp>
        <p:nvSpPr>
          <p:cNvPr id="498" name="s498"/>
          <p:cNvSpPr/>
          <p:nvPr/>
        </p:nvSpPr>
        <p:spPr>
          <a:xfrm>
            <a:off x="10297160" y="2260600"/>
            <a:ext cx="15100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52 products</a:t>
            </a:r>
          </a:p>
        </p:txBody>
      </p:sp>
      <p:sp>
        <p:nvSpPr>
          <p:cNvPr id="499" name="s499"/>
          <p:cNvSpPr/>
          <p:nvPr/>
        </p:nvSpPr>
        <p:spPr>
          <a:xfrm>
            <a:off x="10297160" y="2463800"/>
            <a:ext cx="145923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0" name="s500"/>
          <p:cNvSpPr/>
          <p:nvPr/>
        </p:nvSpPr>
        <p:spPr>
          <a:xfrm>
            <a:off x="10297160" y="25146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501" name="s501"/>
          <p:cNvSpPr/>
          <p:nvPr/>
        </p:nvSpPr>
        <p:spPr>
          <a:xfrm>
            <a:off x="10957560" y="25146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3,490</a:t>
            </a:r>
          </a:p>
        </p:txBody>
      </p:sp>
      <p:sp>
        <p:nvSpPr>
          <p:cNvPr id="502" name="s502"/>
          <p:cNvSpPr/>
          <p:nvPr/>
        </p:nvSpPr>
        <p:spPr>
          <a:xfrm>
            <a:off x="10297160" y="269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503" name="s503"/>
          <p:cNvSpPr/>
          <p:nvPr/>
        </p:nvSpPr>
        <p:spPr>
          <a:xfrm>
            <a:off x="10957560" y="2692400"/>
            <a:ext cx="79883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$6,190</a:t>
            </a:r>
          </a:p>
        </p:txBody>
      </p:sp>
      <p:sp>
        <p:nvSpPr>
          <p:cNvPr id="504" name="s504"/>
          <p:cNvSpPr/>
          <p:nvPr/>
        </p:nvSpPr>
        <p:spPr>
          <a:xfrm>
            <a:off x="2148840" y="3073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Books — 68 products</a:t>
            </a:r>
          </a:p>
        </p:txBody>
      </p:sp>
      <p:sp>
        <p:nvSpPr>
          <p:cNvPr id="505" name="s505"/>
          <p:cNvSpPr/>
          <p:nvPr/>
        </p:nvSpPr>
        <p:spPr>
          <a:xfrm>
            <a:off x="2148840" y="3276600"/>
            <a:ext cx="406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Showing 8 of 68  ·  sorted by units sold</a:t>
            </a:r>
          </a:p>
        </p:txBody>
      </p:sp>
      <p:sp>
        <p:nvSpPr>
          <p:cNvPr id="506" name="s506"/>
          <p:cNvSpPr/>
          <p:nvPr/>
        </p:nvSpPr>
        <p:spPr>
          <a:xfrm>
            <a:off x="10840720" y="3048000"/>
            <a:ext cx="1092200" cy="279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Grid  ·  List</a:t>
            </a:r>
          </a:p>
        </p:txBody>
      </p:sp>
      <p:sp>
        <p:nvSpPr>
          <p:cNvPr id="507" name="s507"/>
          <p:cNvSpPr/>
          <p:nvPr/>
        </p:nvSpPr>
        <p:spPr>
          <a:xfrm>
            <a:off x="2148840" y="3530600"/>
            <a:ext cx="231267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8" name="s508"/>
          <p:cNvSpPr/>
          <p:nvPr/>
        </p:nvSpPr>
        <p:spPr>
          <a:xfrm>
            <a:off x="2301240" y="3683000"/>
            <a:ext cx="558800" cy="558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2428240" y="3810000"/>
            <a:ext cx="3048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0" name="s510"/>
          <p:cNvSpPr/>
          <p:nvPr/>
        </p:nvSpPr>
        <p:spPr>
          <a:xfrm>
            <a:off x="2428240" y="3898900"/>
            <a:ext cx="2540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1" name="s511"/>
          <p:cNvSpPr/>
          <p:nvPr/>
        </p:nvSpPr>
        <p:spPr>
          <a:xfrm>
            <a:off x="2428240" y="3987800"/>
            <a:ext cx="3048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2987040" y="3683000"/>
            <a:ext cx="132207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13" name="s513"/>
          <p:cNvSpPr/>
          <p:nvPr/>
        </p:nvSpPr>
        <p:spPr>
          <a:xfrm>
            <a:off x="2987040" y="4038600"/>
            <a:ext cx="132207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Arial"/>
              </a:rPr>
              <a:t>BK-0142</a:t>
            </a:r>
          </a:p>
        </p:txBody>
      </p:sp>
      <p:sp>
        <p:nvSpPr>
          <p:cNvPr id="514" name="s514"/>
          <p:cNvSpPr/>
          <p:nvPr/>
        </p:nvSpPr>
        <p:spPr>
          <a:xfrm>
            <a:off x="2301240" y="4343400"/>
            <a:ext cx="200787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5" name="s515"/>
          <p:cNvSpPr/>
          <p:nvPr/>
        </p:nvSpPr>
        <p:spPr>
          <a:xfrm>
            <a:off x="2301240" y="4419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$3.50</a:t>
            </a:r>
          </a:p>
        </p:txBody>
      </p:sp>
      <p:sp>
        <p:nvSpPr>
          <p:cNvPr id="516" name="s516"/>
          <p:cNvSpPr/>
          <p:nvPr/>
        </p:nvSpPr>
        <p:spPr>
          <a:xfrm>
            <a:off x="2301240" y="46228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1,240 in stock</a:t>
            </a:r>
          </a:p>
        </p:txBody>
      </p:sp>
      <p:sp>
        <p:nvSpPr>
          <p:cNvPr id="517" name="s517"/>
          <p:cNvSpPr/>
          <p:nvPr/>
        </p:nvSpPr>
        <p:spPr>
          <a:xfrm>
            <a:off x="3470910" y="4445000"/>
            <a:ext cx="838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8" name="s518"/>
          <p:cNvSpPr/>
          <p:nvPr/>
        </p:nvSpPr>
        <p:spPr>
          <a:xfrm>
            <a:off x="3470910" y="44450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19" name="s519"/>
          <p:cNvSpPr/>
          <p:nvPr/>
        </p:nvSpPr>
        <p:spPr>
          <a:xfrm>
            <a:off x="4639310" y="3530600"/>
            <a:ext cx="231267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s520"/>
          <p:cNvSpPr/>
          <p:nvPr/>
        </p:nvSpPr>
        <p:spPr>
          <a:xfrm>
            <a:off x="4791710" y="3683000"/>
            <a:ext cx="558800" cy="558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1" name="s521"/>
          <p:cNvSpPr/>
          <p:nvPr/>
        </p:nvSpPr>
        <p:spPr>
          <a:xfrm>
            <a:off x="4918710" y="3810000"/>
            <a:ext cx="3048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4918710" y="3898900"/>
            <a:ext cx="2540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4918710" y="3987800"/>
            <a:ext cx="3048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s524"/>
          <p:cNvSpPr/>
          <p:nvPr/>
        </p:nvSpPr>
        <p:spPr>
          <a:xfrm>
            <a:off x="5477510" y="3683000"/>
            <a:ext cx="132207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My First Mathematics Book</a:t>
            </a:r>
          </a:p>
        </p:txBody>
      </p:sp>
      <p:sp>
        <p:nvSpPr>
          <p:cNvPr id="525" name="s525"/>
          <p:cNvSpPr/>
          <p:nvPr/>
        </p:nvSpPr>
        <p:spPr>
          <a:xfrm>
            <a:off x="5477510" y="4038600"/>
            <a:ext cx="132207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Arial"/>
              </a:rPr>
              <a:t>BK-0148</a:t>
            </a:r>
          </a:p>
        </p:txBody>
      </p:sp>
      <p:sp>
        <p:nvSpPr>
          <p:cNvPr id="526" name="s526"/>
          <p:cNvSpPr/>
          <p:nvPr/>
        </p:nvSpPr>
        <p:spPr>
          <a:xfrm>
            <a:off x="4791710" y="4343400"/>
            <a:ext cx="200787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7" name="s527"/>
          <p:cNvSpPr/>
          <p:nvPr/>
        </p:nvSpPr>
        <p:spPr>
          <a:xfrm>
            <a:off x="4791710" y="4419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$4.00</a:t>
            </a:r>
          </a:p>
        </p:txBody>
      </p:sp>
      <p:sp>
        <p:nvSpPr>
          <p:cNvPr id="528" name="s528"/>
          <p:cNvSpPr/>
          <p:nvPr/>
        </p:nvSpPr>
        <p:spPr>
          <a:xfrm>
            <a:off x="4791710" y="46228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860 in stock</a:t>
            </a:r>
          </a:p>
        </p:txBody>
      </p:sp>
      <p:sp>
        <p:nvSpPr>
          <p:cNvPr id="529" name="s529"/>
          <p:cNvSpPr/>
          <p:nvPr/>
        </p:nvSpPr>
        <p:spPr>
          <a:xfrm>
            <a:off x="5961380" y="4445000"/>
            <a:ext cx="838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0" name="s530"/>
          <p:cNvSpPr/>
          <p:nvPr/>
        </p:nvSpPr>
        <p:spPr>
          <a:xfrm>
            <a:off x="5961380" y="44450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31" name="s531"/>
          <p:cNvSpPr/>
          <p:nvPr/>
        </p:nvSpPr>
        <p:spPr>
          <a:xfrm>
            <a:off x="7129780" y="3530600"/>
            <a:ext cx="231267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2" name="s532"/>
          <p:cNvSpPr/>
          <p:nvPr/>
        </p:nvSpPr>
        <p:spPr>
          <a:xfrm>
            <a:off x="7282180" y="3683000"/>
            <a:ext cx="558800" cy="558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3" name="s533"/>
          <p:cNvSpPr/>
          <p:nvPr/>
        </p:nvSpPr>
        <p:spPr>
          <a:xfrm>
            <a:off x="7409180" y="3810000"/>
            <a:ext cx="3048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7409180" y="3898900"/>
            <a:ext cx="2540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5" name="s535"/>
          <p:cNvSpPr/>
          <p:nvPr/>
        </p:nvSpPr>
        <p:spPr>
          <a:xfrm>
            <a:off x="7409180" y="3987800"/>
            <a:ext cx="3048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6" name="s536"/>
          <p:cNvSpPr/>
          <p:nvPr/>
        </p:nvSpPr>
        <p:spPr>
          <a:xfrm>
            <a:off x="7967980" y="3683000"/>
            <a:ext cx="132207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Early Reading Level 1</a:t>
            </a:r>
          </a:p>
        </p:txBody>
      </p:sp>
      <p:sp>
        <p:nvSpPr>
          <p:cNvPr id="537" name="s537"/>
          <p:cNvSpPr/>
          <p:nvPr/>
        </p:nvSpPr>
        <p:spPr>
          <a:xfrm>
            <a:off x="7967980" y="4038600"/>
            <a:ext cx="132207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Arial"/>
              </a:rPr>
              <a:t>BK-0151</a:t>
            </a:r>
          </a:p>
        </p:txBody>
      </p:sp>
      <p:sp>
        <p:nvSpPr>
          <p:cNvPr id="538" name="s538"/>
          <p:cNvSpPr/>
          <p:nvPr/>
        </p:nvSpPr>
        <p:spPr>
          <a:xfrm>
            <a:off x="7282180" y="4343400"/>
            <a:ext cx="200787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7282180" y="4419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$3.75</a:t>
            </a:r>
          </a:p>
        </p:txBody>
      </p:sp>
      <p:sp>
        <p:nvSpPr>
          <p:cNvPr id="540" name="s540"/>
          <p:cNvSpPr/>
          <p:nvPr/>
        </p:nvSpPr>
        <p:spPr>
          <a:xfrm>
            <a:off x="7282180" y="46228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640 in stock</a:t>
            </a:r>
          </a:p>
        </p:txBody>
      </p:sp>
      <p:sp>
        <p:nvSpPr>
          <p:cNvPr id="541" name="s541"/>
          <p:cNvSpPr/>
          <p:nvPr/>
        </p:nvSpPr>
        <p:spPr>
          <a:xfrm>
            <a:off x="8451850" y="4445000"/>
            <a:ext cx="838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2" name="s542"/>
          <p:cNvSpPr/>
          <p:nvPr/>
        </p:nvSpPr>
        <p:spPr>
          <a:xfrm>
            <a:off x="8451850" y="44450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43" name="s543"/>
          <p:cNvSpPr/>
          <p:nvPr/>
        </p:nvSpPr>
        <p:spPr>
          <a:xfrm>
            <a:off x="9620250" y="3530600"/>
            <a:ext cx="231267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4" name="s544"/>
          <p:cNvSpPr/>
          <p:nvPr/>
        </p:nvSpPr>
        <p:spPr>
          <a:xfrm>
            <a:off x="9772650" y="3683000"/>
            <a:ext cx="558800" cy="558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5" name="s545"/>
          <p:cNvSpPr/>
          <p:nvPr/>
        </p:nvSpPr>
        <p:spPr>
          <a:xfrm>
            <a:off x="9899650" y="3810000"/>
            <a:ext cx="3048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6" name="s546"/>
          <p:cNvSpPr/>
          <p:nvPr/>
        </p:nvSpPr>
        <p:spPr>
          <a:xfrm>
            <a:off x="9899650" y="3898900"/>
            <a:ext cx="2540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7" name="s547"/>
          <p:cNvSpPr/>
          <p:nvPr/>
        </p:nvSpPr>
        <p:spPr>
          <a:xfrm>
            <a:off x="9899650" y="3987800"/>
            <a:ext cx="3048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10458450" y="3683000"/>
            <a:ext cx="132207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Science Discovery Book</a:t>
            </a:r>
          </a:p>
        </p:txBody>
      </p:sp>
      <p:sp>
        <p:nvSpPr>
          <p:cNvPr id="549" name="s549"/>
          <p:cNvSpPr/>
          <p:nvPr/>
        </p:nvSpPr>
        <p:spPr>
          <a:xfrm>
            <a:off x="10458450" y="4038600"/>
            <a:ext cx="132207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Arial"/>
              </a:rPr>
              <a:t>BK-0156</a:t>
            </a:r>
          </a:p>
        </p:txBody>
      </p:sp>
      <p:sp>
        <p:nvSpPr>
          <p:cNvPr id="550" name="s550"/>
          <p:cNvSpPr/>
          <p:nvPr/>
        </p:nvSpPr>
        <p:spPr>
          <a:xfrm>
            <a:off x="9772650" y="4343400"/>
            <a:ext cx="200787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1" name="s551"/>
          <p:cNvSpPr/>
          <p:nvPr/>
        </p:nvSpPr>
        <p:spPr>
          <a:xfrm>
            <a:off x="9772650" y="4419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$4.60</a:t>
            </a:r>
          </a:p>
        </p:txBody>
      </p:sp>
      <p:sp>
        <p:nvSpPr>
          <p:cNvPr id="552" name="s552"/>
          <p:cNvSpPr/>
          <p:nvPr/>
        </p:nvSpPr>
        <p:spPr>
          <a:xfrm>
            <a:off x="9772650" y="46228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112 in stock</a:t>
            </a:r>
          </a:p>
        </p:txBody>
      </p:sp>
      <p:sp>
        <p:nvSpPr>
          <p:cNvPr id="553" name="s553"/>
          <p:cNvSpPr/>
          <p:nvPr/>
        </p:nvSpPr>
        <p:spPr>
          <a:xfrm>
            <a:off x="10942320" y="4445000"/>
            <a:ext cx="8382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4" name="s554"/>
          <p:cNvSpPr/>
          <p:nvPr/>
        </p:nvSpPr>
        <p:spPr>
          <a:xfrm>
            <a:off x="10942320" y="44450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55" name="s555"/>
          <p:cNvSpPr/>
          <p:nvPr/>
        </p:nvSpPr>
        <p:spPr>
          <a:xfrm>
            <a:off x="2148840" y="5029200"/>
            <a:ext cx="231267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6" name="s556"/>
          <p:cNvSpPr/>
          <p:nvPr/>
        </p:nvSpPr>
        <p:spPr>
          <a:xfrm>
            <a:off x="2301240" y="5181600"/>
            <a:ext cx="558800" cy="558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7" name="s557"/>
          <p:cNvSpPr/>
          <p:nvPr/>
        </p:nvSpPr>
        <p:spPr>
          <a:xfrm>
            <a:off x="2428240" y="5308600"/>
            <a:ext cx="3048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8" name="s558"/>
          <p:cNvSpPr/>
          <p:nvPr/>
        </p:nvSpPr>
        <p:spPr>
          <a:xfrm>
            <a:off x="2428240" y="5397500"/>
            <a:ext cx="2540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9" name="s559"/>
          <p:cNvSpPr/>
          <p:nvPr/>
        </p:nvSpPr>
        <p:spPr>
          <a:xfrm>
            <a:off x="2428240" y="5486400"/>
            <a:ext cx="3048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0" name="s560"/>
          <p:cNvSpPr/>
          <p:nvPr/>
        </p:nvSpPr>
        <p:spPr>
          <a:xfrm>
            <a:off x="2987040" y="5181600"/>
            <a:ext cx="132207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Alphabet Story Book</a:t>
            </a:r>
          </a:p>
        </p:txBody>
      </p:sp>
      <p:sp>
        <p:nvSpPr>
          <p:cNvPr id="561" name="s561"/>
          <p:cNvSpPr/>
          <p:nvPr/>
        </p:nvSpPr>
        <p:spPr>
          <a:xfrm>
            <a:off x="2987040" y="5537200"/>
            <a:ext cx="132207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Arial"/>
              </a:rPr>
              <a:t>BK-0160</a:t>
            </a:r>
          </a:p>
        </p:txBody>
      </p:sp>
      <p:sp>
        <p:nvSpPr>
          <p:cNvPr id="562" name="s562"/>
          <p:cNvSpPr/>
          <p:nvPr/>
        </p:nvSpPr>
        <p:spPr>
          <a:xfrm>
            <a:off x="2301240" y="5842000"/>
            <a:ext cx="200787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3" name="s563"/>
          <p:cNvSpPr/>
          <p:nvPr/>
        </p:nvSpPr>
        <p:spPr>
          <a:xfrm>
            <a:off x="2301240" y="5918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$3.20</a:t>
            </a:r>
          </a:p>
        </p:txBody>
      </p:sp>
      <p:sp>
        <p:nvSpPr>
          <p:cNvPr id="564" name="s564"/>
          <p:cNvSpPr/>
          <p:nvPr/>
        </p:nvSpPr>
        <p:spPr>
          <a:xfrm>
            <a:off x="2301240" y="6121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520 in stock</a:t>
            </a:r>
          </a:p>
        </p:txBody>
      </p:sp>
      <p:sp>
        <p:nvSpPr>
          <p:cNvPr id="565" name="s565"/>
          <p:cNvSpPr/>
          <p:nvPr/>
        </p:nvSpPr>
        <p:spPr>
          <a:xfrm>
            <a:off x="3470910" y="5943600"/>
            <a:ext cx="838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6" name="s566"/>
          <p:cNvSpPr/>
          <p:nvPr/>
        </p:nvSpPr>
        <p:spPr>
          <a:xfrm>
            <a:off x="3470910" y="59436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67" name="s567"/>
          <p:cNvSpPr/>
          <p:nvPr/>
        </p:nvSpPr>
        <p:spPr>
          <a:xfrm>
            <a:off x="4639310" y="5029200"/>
            <a:ext cx="231267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8" name="s568"/>
          <p:cNvSpPr/>
          <p:nvPr/>
        </p:nvSpPr>
        <p:spPr>
          <a:xfrm>
            <a:off x="4791710" y="5181600"/>
            <a:ext cx="558800" cy="558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9" name="s569"/>
          <p:cNvSpPr/>
          <p:nvPr/>
        </p:nvSpPr>
        <p:spPr>
          <a:xfrm>
            <a:off x="4918710" y="5308600"/>
            <a:ext cx="3048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0" name="s570"/>
          <p:cNvSpPr/>
          <p:nvPr/>
        </p:nvSpPr>
        <p:spPr>
          <a:xfrm>
            <a:off x="4918710" y="5397500"/>
            <a:ext cx="2540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1" name="s571"/>
          <p:cNvSpPr/>
          <p:nvPr/>
        </p:nvSpPr>
        <p:spPr>
          <a:xfrm>
            <a:off x="4918710" y="5486400"/>
            <a:ext cx="3048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2" name="s572"/>
          <p:cNvSpPr/>
          <p:nvPr/>
        </p:nvSpPr>
        <p:spPr>
          <a:xfrm>
            <a:off x="5477510" y="5181600"/>
            <a:ext cx="132207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Counting Fun Book</a:t>
            </a:r>
          </a:p>
        </p:txBody>
      </p:sp>
      <p:sp>
        <p:nvSpPr>
          <p:cNvPr id="573" name="s573"/>
          <p:cNvSpPr/>
          <p:nvPr/>
        </p:nvSpPr>
        <p:spPr>
          <a:xfrm>
            <a:off x="5477510" y="5537200"/>
            <a:ext cx="132207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Arial"/>
              </a:rPr>
              <a:t>BK-0163</a:t>
            </a:r>
          </a:p>
        </p:txBody>
      </p:sp>
      <p:sp>
        <p:nvSpPr>
          <p:cNvPr id="574" name="s574"/>
          <p:cNvSpPr/>
          <p:nvPr/>
        </p:nvSpPr>
        <p:spPr>
          <a:xfrm>
            <a:off x="4791710" y="5842000"/>
            <a:ext cx="200787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5" name="s575"/>
          <p:cNvSpPr/>
          <p:nvPr/>
        </p:nvSpPr>
        <p:spPr>
          <a:xfrm>
            <a:off x="4791710" y="5918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$3.10</a:t>
            </a:r>
          </a:p>
        </p:txBody>
      </p:sp>
      <p:sp>
        <p:nvSpPr>
          <p:cNvPr id="576" name="s576"/>
          <p:cNvSpPr/>
          <p:nvPr/>
        </p:nvSpPr>
        <p:spPr>
          <a:xfrm>
            <a:off x="4791710" y="6121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480 in stock</a:t>
            </a:r>
          </a:p>
        </p:txBody>
      </p:sp>
      <p:sp>
        <p:nvSpPr>
          <p:cNvPr id="577" name="s577"/>
          <p:cNvSpPr/>
          <p:nvPr/>
        </p:nvSpPr>
        <p:spPr>
          <a:xfrm>
            <a:off x="5961380" y="5943600"/>
            <a:ext cx="838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8" name="s578"/>
          <p:cNvSpPr/>
          <p:nvPr/>
        </p:nvSpPr>
        <p:spPr>
          <a:xfrm>
            <a:off x="5961380" y="59436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79" name="s579"/>
          <p:cNvSpPr/>
          <p:nvPr/>
        </p:nvSpPr>
        <p:spPr>
          <a:xfrm>
            <a:off x="7129780" y="5029200"/>
            <a:ext cx="231267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0" name="s580"/>
          <p:cNvSpPr/>
          <p:nvPr/>
        </p:nvSpPr>
        <p:spPr>
          <a:xfrm>
            <a:off x="7282180" y="5181600"/>
            <a:ext cx="558800" cy="558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1" name="s581"/>
          <p:cNvSpPr/>
          <p:nvPr/>
        </p:nvSpPr>
        <p:spPr>
          <a:xfrm>
            <a:off x="7409180" y="5308600"/>
            <a:ext cx="3048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2" name="s582"/>
          <p:cNvSpPr/>
          <p:nvPr/>
        </p:nvSpPr>
        <p:spPr>
          <a:xfrm>
            <a:off x="7409180" y="5397500"/>
            <a:ext cx="2540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3" name="s583"/>
          <p:cNvSpPr/>
          <p:nvPr/>
        </p:nvSpPr>
        <p:spPr>
          <a:xfrm>
            <a:off x="7409180" y="5486400"/>
            <a:ext cx="3048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4" name="s584"/>
          <p:cNvSpPr/>
          <p:nvPr/>
        </p:nvSpPr>
        <p:spPr>
          <a:xfrm>
            <a:off x="7967980" y="5181600"/>
            <a:ext cx="132207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Colours &amp; Shapes Book</a:t>
            </a:r>
          </a:p>
        </p:txBody>
      </p:sp>
      <p:sp>
        <p:nvSpPr>
          <p:cNvPr id="585" name="s585"/>
          <p:cNvSpPr/>
          <p:nvPr/>
        </p:nvSpPr>
        <p:spPr>
          <a:xfrm>
            <a:off x="7967980" y="5537200"/>
            <a:ext cx="132207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Arial"/>
              </a:rPr>
              <a:t>BK-0167</a:t>
            </a:r>
          </a:p>
        </p:txBody>
      </p:sp>
      <p:sp>
        <p:nvSpPr>
          <p:cNvPr id="586" name="s586"/>
          <p:cNvSpPr/>
          <p:nvPr/>
        </p:nvSpPr>
        <p:spPr>
          <a:xfrm>
            <a:off x="7282180" y="5842000"/>
            <a:ext cx="200787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7" name="s587"/>
          <p:cNvSpPr/>
          <p:nvPr/>
        </p:nvSpPr>
        <p:spPr>
          <a:xfrm>
            <a:off x="7282180" y="5918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$2.95</a:t>
            </a:r>
          </a:p>
        </p:txBody>
      </p:sp>
      <p:sp>
        <p:nvSpPr>
          <p:cNvPr id="588" name="s588"/>
          <p:cNvSpPr/>
          <p:nvPr/>
        </p:nvSpPr>
        <p:spPr>
          <a:xfrm>
            <a:off x="7282180" y="6121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610 in stock</a:t>
            </a:r>
          </a:p>
        </p:txBody>
      </p:sp>
      <p:sp>
        <p:nvSpPr>
          <p:cNvPr id="589" name="s589"/>
          <p:cNvSpPr/>
          <p:nvPr/>
        </p:nvSpPr>
        <p:spPr>
          <a:xfrm>
            <a:off x="8451850" y="5943600"/>
            <a:ext cx="838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0" name="s590"/>
          <p:cNvSpPr/>
          <p:nvPr/>
        </p:nvSpPr>
        <p:spPr>
          <a:xfrm>
            <a:off x="8451850" y="59436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91" name="s591"/>
          <p:cNvSpPr/>
          <p:nvPr/>
        </p:nvSpPr>
        <p:spPr>
          <a:xfrm>
            <a:off x="9620250" y="5029200"/>
            <a:ext cx="231267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2" name="s592"/>
          <p:cNvSpPr/>
          <p:nvPr/>
        </p:nvSpPr>
        <p:spPr>
          <a:xfrm>
            <a:off x="9772650" y="5181600"/>
            <a:ext cx="558800" cy="558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3" name="s593"/>
          <p:cNvSpPr/>
          <p:nvPr/>
        </p:nvSpPr>
        <p:spPr>
          <a:xfrm>
            <a:off x="9899650" y="5308600"/>
            <a:ext cx="3048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4" name="s594"/>
          <p:cNvSpPr/>
          <p:nvPr/>
        </p:nvSpPr>
        <p:spPr>
          <a:xfrm>
            <a:off x="9899650" y="5397500"/>
            <a:ext cx="2540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5" name="s595"/>
          <p:cNvSpPr/>
          <p:nvPr/>
        </p:nvSpPr>
        <p:spPr>
          <a:xfrm>
            <a:off x="9899650" y="5486400"/>
            <a:ext cx="3048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6" name="s596"/>
          <p:cNvSpPr/>
          <p:nvPr/>
        </p:nvSpPr>
        <p:spPr>
          <a:xfrm>
            <a:off x="10458450" y="5181600"/>
            <a:ext cx="132207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Nursery Rhymes Book</a:t>
            </a:r>
          </a:p>
        </p:txBody>
      </p:sp>
      <p:sp>
        <p:nvSpPr>
          <p:cNvPr id="597" name="s597"/>
          <p:cNvSpPr/>
          <p:nvPr/>
        </p:nvSpPr>
        <p:spPr>
          <a:xfrm>
            <a:off x="10458450" y="5537200"/>
            <a:ext cx="132207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Arial"/>
              </a:rPr>
              <a:t>BK-0171</a:t>
            </a:r>
          </a:p>
        </p:txBody>
      </p:sp>
      <p:sp>
        <p:nvSpPr>
          <p:cNvPr id="598" name="s598"/>
          <p:cNvSpPr/>
          <p:nvPr/>
        </p:nvSpPr>
        <p:spPr>
          <a:xfrm>
            <a:off x="9772650" y="5842000"/>
            <a:ext cx="200787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9" name="s599"/>
          <p:cNvSpPr/>
          <p:nvPr/>
        </p:nvSpPr>
        <p:spPr>
          <a:xfrm>
            <a:off x="9772650" y="5918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$3.40</a:t>
            </a:r>
          </a:p>
        </p:txBody>
      </p:sp>
      <p:sp>
        <p:nvSpPr>
          <p:cNvPr id="600" name="s600"/>
          <p:cNvSpPr/>
          <p:nvPr/>
        </p:nvSpPr>
        <p:spPr>
          <a:xfrm>
            <a:off x="9772650" y="61214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390 in stock</a:t>
            </a:r>
          </a:p>
        </p:txBody>
      </p:sp>
      <p:sp>
        <p:nvSpPr>
          <p:cNvPr id="601" name="s601"/>
          <p:cNvSpPr/>
          <p:nvPr/>
        </p:nvSpPr>
        <p:spPr>
          <a:xfrm>
            <a:off x="10942320" y="5943600"/>
            <a:ext cx="838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2" name="s602"/>
          <p:cNvSpPr/>
          <p:nvPr/>
        </p:nvSpPr>
        <p:spPr>
          <a:xfrm>
            <a:off x="10942320" y="59436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pic>
        <p:nvPicPr>
          <p:cNvPr id="603" name="Copied Picture 603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26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101600" y="1485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101600" y="1485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Products  ›  Add product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812800"/>
            <a:ext cx="584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Add Product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1430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All fields marked * are required. Draft products are hidden from order forms.</a:t>
            </a:r>
          </a:p>
        </p:txBody>
      </p:sp>
      <p:sp>
        <p:nvSpPr>
          <p:cNvPr id="444" name="s444"/>
          <p:cNvSpPr/>
          <p:nvPr/>
        </p:nvSpPr>
        <p:spPr>
          <a:xfrm>
            <a:off x="10805160" y="838200"/>
            <a:ext cx="112776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805160" y="838200"/>
            <a:ext cx="112776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Save Product</a:t>
            </a:r>
          </a:p>
        </p:txBody>
      </p:sp>
      <p:sp>
        <p:nvSpPr>
          <p:cNvPr id="446" name="s446"/>
          <p:cNvSpPr/>
          <p:nvPr/>
        </p:nvSpPr>
        <p:spPr>
          <a:xfrm>
            <a:off x="9481820" y="838200"/>
            <a:ext cx="119634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481820" y="838200"/>
            <a:ext cx="11963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Save as Draft</a:t>
            </a:r>
          </a:p>
        </p:txBody>
      </p:sp>
      <p:sp>
        <p:nvSpPr>
          <p:cNvPr id="448" name="s448"/>
          <p:cNvSpPr/>
          <p:nvPr/>
        </p:nvSpPr>
        <p:spPr>
          <a:xfrm>
            <a:off x="8638540" y="8382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8638540" y="8382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Cancel</a:t>
            </a:r>
          </a:p>
        </p:txBody>
      </p:sp>
      <p:sp>
        <p:nvSpPr>
          <p:cNvPr id="450" name="s450"/>
          <p:cNvSpPr/>
          <p:nvPr/>
        </p:nvSpPr>
        <p:spPr>
          <a:xfrm>
            <a:off x="2148840" y="1422400"/>
            <a:ext cx="6604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326640" y="15621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Product Details</a:t>
            </a:r>
          </a:p>
        </p:txBody>
      </p:sp>
      <p:sp>
        <p:nvSpPr>
          <p:cNvPr id="452" name="s452"/>
          <p:cNvSpPr/>
          <p:nvPr/>
        </p:nvSpPr>
        <p:spPr>
          <a:xfrm>
            <a:off x="2326640" y="18542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PRODUCT INFORMATION</a:t>
            </a:r>
          </a:p>
        </p:txBody>
      </p:sp>
      <p:sp>
        <p:nvSpPr>
          <p:cNvPr id="453" name="s453"/>
          <p:cNvSpPr/>
          <p:nvPr/>
        </p:nvSpPr>
        <p:spPr>
          <a:xfrm>
            <a:off x="2326640" y="20447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2326640" y="20828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Product name</a:t>
            </a:r>
          </a:p>
        </p:txBody>
      </p:sp>
      <p:sp>
        <p:nvSpPr>
          <p:cNvPr id="455" name="s455"/>
          <p:cNvSpPr/>
          <p:nvPr/>
        </p:nvSpPr>
        <p:spPr>
          <a:xfrm>
            <a:off x="3065780" y="20828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456" name="s456"/>
          <p:cNvSpPr/>
          <p:nvPr/>
        </p:nvSpPr>
        <p:spPr>
          <a:xfrm>
            <a:off x="2326640" y="22479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2440940" y="22479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Shape Learning Puzzle</a:t>
            </a:r>
          </a:p>
        </p:txBody>
      </p:sp>
      <p:sp>
        <p:nvSpPr>
          <p:cNvPr id="458" name="s458"/>
          <p:cNvSpPr/>
          <p:nvPr/>
        </p:nvSpPr>
        <p:spPr>
          <a:xfrm>
            <a:off x="5552440" y="20828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59" name="s459"/>
          <p:cNvSpPr/>
          <p:nvPr/>
        </p:nvSpPr>
        <p:spPr>
          <a:xfrm>
            <a:off x="5765800" y="20828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460" name="s460"/>
          <p:cNvSpPr/>
          <p:nvPr/>
        </p:nvSpPr>
        <p:spPr>
          <a:xfrm>
            <a:off x="5552440" y="22479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5666740" y="22479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PZ-0094</a:t>
            </a:r>
          </a:p>
        </p:txBody>
      </p:sp>
      <p:sp>
        <p:nvSpPr>
          <p:cNvPr id="462" name="s462"/>
          <p:cNvSpPr/>
          <p:nvPr/>
        </p:nvSpPr>
        <p:spPr>
          <a:xfrm>
            <a:off x="2326640" y="25527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Category</a:t>
            </a:r>
          </a:p>
        </p:txBody>
      </p:sp>
      <p:sp>
        <p:nvSpPr>
          <p:cNvPr id="463" name="s463"/>
          <p:cNvSpPr/>
          <p:nvPr/>
        </p:nvSpPr>
        <p:spPr>
          <a:xfrm>
            <a:off x="2832100" y="25527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464" name="s464"/>
          <p:cNvSpPr/>
          <p:nvPr/>
        </p:nvSpPr>
        <p:spPr>
          <a:xfrm>
            <a:off x="2326640" y="2717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2440940" y="2717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Puzzles</a:t>
            </a:r>
          </a:p>
        </p:txBody>
      </p:sp>
      <p:sp>
        <p:nvSpPr>
          <p:cNvPr id="466" name="s466"/>
          <p:cNvSpPr/>
          <p:nvPr/>
        </p:nvSpPr>
        <p:spPr>
          <a:xfrm rot="10800000">
            <a:off x="5158740" y="28130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7" name="s467"/>
          <p:cNvSpPr/>
          <p:nvPr/>
        </p:nvSpPr>
        <p:spPr>
          <a:xfrm>
            <a:off x="5552440" y="25527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Brand</a:t>
            </a:r>
          </a:p>
        </p:txBody>
      </p:sp>
      <p:sp>
        <p:nvSpPr>
          <p:cNvPr id="468" name="s468"/>
          <p:cNvSpPr/>
          <p:nvPr/>
        </p:nvSpPr>
        <p:spPr>
          <a:xfrm>
            <a:off x="5552440" y="2717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5666740" y="2717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Lazy Pygmy Originals</a:t>
            </a:r>
          </a:p>
        </p:txBody>
      </p:sp>
      <p:sp>
        <p:nvSpPr>
          <p:cNvPr id="470" name="s470"/>
          <p:cNvSpPr/>
          <p:nvPr/>
        </p:nvSpPr>
        <p:spPr>
          <a:xfrm>
            <a:off x="2326640" y="3022600"/>
            <a:ext cx="6273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Description</a:t>
            </a:r>
          </a:p>
        </p:txBody>
      </p:sp>
      <p:sp>
        <p:nvSpPr>
          <p:cNvPr id="471" name="s471"/>
          <p:cNvSpPr/>
          <p:nvPr/>
        </p:nvSpPr>
        <p:spPr>
          <a:xfrm>
            <a:off x="2326640" y="3187700"/>
            <a:ext cx="6273800" cy="38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2440940" y="3251200"/>
            <a:ext cx="5892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Wooden shape-matching puzzle with 12 pieces for ages 3–5.</a:t>
            </a:r>
          </a:p>
        </p:txBody>
      </p:sp>
      <p:sp>
        <p:nvSpPr>
          <p:cNvPr id="473" name="s473"/>
          <p:cNvSpPr/>
          <p:nvPr/>
        </p:nvSpPr>
        <p:spPr>
          <a:xfrm>
            <a:off x="2326640" y="36195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CLASSIFICATION</a:t>
            </a:r>
          </a:p>
        </p:txBody>
      </p:sp>
      <p:sp>
        <p:nvSpPr>
          <p:cNvPr id="474" name="s474"/>
          <p:cNvSpPr/>
          <p:nvPr/>
        </p:nvSpPr>
        <p:spPr>
          <a:xfrm>
            <a:off x="2326640" y="38100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2326640" y="38481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Grade level</a:t>
            </a:r>
          </a:p>
        </p:txBody>
      </p:sp>
      <p:sp>
        <p:nvSpPr>
          <p:cNvPr id="476" name="s476"/>
          <p:cNvSpPr/>
          <p:nvPr/>
        </p:nvSpPr>
        <p:spPr>
          <a:xfrm>
            <a:off x="2326640" y="4013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7" name="s477"/>
          <p:cNvSpPr/>
          <p:nvPr/>
        </p:nvSpPr>
        <p:spPr>
          <a:xfrm>
            <a:off x="2440940" y="40132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Nursery / Pre-Primary</a:t>
            </a:r>
          </a:p>
        </p:txBody>
      </p:sp>
      <p:sp>
        <p:nvSpPr>
          <p:cNvPr id="478" name="s478"/>
          <p:cNvSpPr/>
          <p:nvPr/>
        </p:nvSpPr>
        <p:spPr>
          <a:xfrm rot="10800000">
            <a:off x="5158740" y="41084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5552440" y="38481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Age group</a:t>
            </a:r>
          </a:p>
        </p:txBody>
      </p:sp>
      <p:sp>
        <p:nvSpPr>
          <p:cNvPr id="480" name="s480"/>
          <p:cNvSpPr/>
          <p:nvPr/>
        </p:nvSpPr>
        <p:spPr>
          <a:xfrm>
            <a:off x="5552440" y="4013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1" name="s481"/>
          <p:cNvSpPr/>
          <p:nvPr/>
        </p:nvSpPr>
        <p:spPr>
          <a:xfrm>
            <a:off x="5666740" y="40132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3 – 5 years</a:t>
            </a:r>
          </a:p>
        </p:txBody>
      </p:sp>
      <p:sp>
        <p:nvSpPr>
          <p:cNvPr id="482" name="s482"/>
          <p:cNvSpPr/>
          <p:nvPr/>
        </p:nvSpPr>
        <p:spPr>
          <a:xfrm rot="10800000">
            <a:off x="8384540" y="41084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2326640" y="43180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Subject</a:t>
            </a:r>
          </a:p>
        </p:txBody>
      </p:sp>
      <p:sp>
        <p:nvSpPr>
          <p:cNvPr id="484" name="s484"/>
          <p:cNvSpPr/>
          <p:nvPr/>
        </p:nvSpPr>
        <p:spPr>
          <a:xfrm>
            <a:off x="2326640" y="4483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2440940" y="44831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Early Numeracy</a:t>
            </a:r>
          </a:p>
        </p:txBody>
      </p:sp>
      <p:sp>
        <p:nvSpPr>
          <p:cNvPr id="486" name="s486"/>
          <p:cNvSpPr/>
          <p:nvPr/>
        </p:nvSpPr>
        <p:spPr>
          <a:xfrm rot="10800000">
            <a:off x="5158740" y="45783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7" name="s487"/>
          <p:cNvSpPr/>
          <p:nvPr/>
        </p:nvSpPr>
        <p:spPr>
          <a:xfrm>
            <a:off x="5552440" y="43180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Unit type</a:t>
            </a:r>
          </a:p>
        </p:txBody>
      </p:sp>
      <p:sp>
        <p:nvSpPr>
          <p:cNvPr id="488" name="s488"/>
          <p:cNvSpPr/>
          <p:nvPr/>
        </p:nvSpPr>
        <p:spPr>
          <a:xfrm>
            <a:off x="5552440" y="4483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5666740" y="44831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Piece</a:t>
            </a:r>
          </a:p>
        </p:txBody>
      </p:sp>
      <p:sp>
        <p:nvSpPr>
          <p:cNvPr id="490" name="s490"/>
          <p:cNvSpPr/>
          <p:nvPr/>
        </p:nvSpPr>
        <p:spPr>
          <a:xfrm rot="10800000">
            <a:off x="8384540" y="45783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2326640" y="47879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PRICING &amp; STOCK</a:t>
            </a:r>
          </a:p>
        </p:txBody>
      </p:sp>
      <p:sp>
        <p:nvSpPr>
          <p:cNvPr id="492" name="s492"/>
          <p:cNvSpPr/>
          <p:nvPr/>
        </p:nvSpPr>
        <p:spPr>
          <a:xfrm>
            <a:off x="2326640" y="49784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2326640" y="50165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Cost price</a:t>
            </a:r>
          </a:p>
        </p:txBody>
      </p:sp>
      <p:sp>
        <p:nvSpPr>
          <p:cNvPr id="494" name="s494"/>
          <p:cNvSpPr/>
          <p:nvPr/>
        </p:nvSpPr>
        <p:spPr>
          <a:xfrm>
            <a:off x="2948940" y="50165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495" name="s495"/>
          <p:cNvSpPr/>
          <p:nvPr/>
        </p:nvSpPr>
        <p:spPr>
          <a:xfrm>
            <a:off x="2326640" y="51816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2440940" y="5181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3.20</a:t>
            </a:r>
          </a:p>
        </p:txBody>
      </p:sp>
      <p:sp>
        <p:nvSpPr>
          <p:cNvPr id="497" name="s497"/>
          <p:cNvSpPr/>
          <p:nvPr/>
        </p:nvSpPr>
        <p:spPr>
          <a:xfrm>
            <a:off x="4968240" y="5181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USD</a:t>
            </a:r>
          </a:p>
        </p:txBody>
      </p:sp>
      <p:sp>
        <p:nvSpPr>
          <p:cNvPr id="498" name="s498"/>
          <p:cNvSpPr/>
          <p:nvPr/>
        </p:nvSpPr>
        <p:spPr>
          <a:xfrm>
            <a:off x="5552440" y="50165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Selling price</a:t>
            </a:r>
          </a:p>
        </p:txBody>
      </p:sp>
      <p:sp>
        <p:nvSpPr>
          <p:cNvPr id="499" name="s499"/>
          <p:cNvSpPr/>
          <p:nvPr/>
        </p:nvSpPr>
        <p:spPr>
          <a:xfrm>
            <a:off x="6350000" y="50165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500" name="s500"/>
          <p:cNvSpPr/>
          <p:nvPr/>
        </p:nvSpPr>
        <p:spPr>
          <a:xfrm>
            <a:off x="5552440" y="51816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1" name="s501"/>
          <p:cNvSpPr/>
          <p:nvPr/>
        </p:nvSpPr>
        <p:spPr>
          <a:xfrm>
            <a:off x="5666740" y="5181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5.60</a:t>
            </a:r>
          </a:p>
        </p:txBody>
      </p:sp>
      <p:sp>
        <p:nvSpPr>
          <p:cNvPr id="502" name="s502"/>
          <p:cNvSpPr/>
          <p:nvPr/>
        </p:nvSpPr>
        <p:spPr>
          <a:xfrm>
            <a:off x="8194040" y="5181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USD</a:t>
            </a:r>
          </a:p>
        </p:txBody>
      </p:sp>
      <p:sp>
        <p:nvSpPr>
          <p:cNvPr id="503" name="s503"/>
          <p:cNvSpPr/>
          <p:nvPr/>
        </p:nvSpPr>
        <p:spPr>
          <a:xfrm>
            <a:off x="2326640" y="54864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Wholesale price</a:t>
            </a:r>
          </a:p>
        </p:txBody>
      </p:sp>
      <p:sp>
        <p:nvSpPr>
          <p:cNvPr id="504" name="s504"/>
          <p:cNvSpPr/>
          <p:nvPr/>
        </p:nvSpPr>
        <p:spPr>
          <a:xfrm>
            <a:off x="2326640" y="56515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2440940" y="56515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4.80</a:t>
            </a:r>
          </a:p>
        </p:txBody>
      </p:sp>
      <p:sp>
        <p:nvSpPr>
          <p:cNvPr id="506" name="s506"/>
          <p:cNvSpPr/>
          <p:nvPr/>
        </p:nvSpPr>
        <p:spPr>
          <a:xfrm>
            <a:off x="4968240" y="56515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USD</a:t>
            </a:r>
          </a:p>
        </p:txBody>
      </p:sp>
      <p:sp>
        <p:nvSpPr>
          <p:cNvPr id="507" name="s507"/>
          <p:cNvSpPr/>
          <p:nvPr/>
        </p:nvSpPr>
        <p:spPr>
          <a:xfrm>
            <a:off x="5552440" y="54864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Opening quantity</a:t>
            </a:r>
          </a:p>
        </p:txBody>
      </p:sp>
      <p:sp>
        <p:nvSpPr>
          <p:cNvPr id="508" name="s508"/>
          <p:cNvSpPr/>
          <p:nvPr/>
        </p:nvSpPr>
        <p:spPr>
          <a:xfrm>
            <a:off x="5552440" y="56515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5666740" y="56515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260</a:t>
            </a:r>
          </a:p>
        </p:txBody>
      </p:sp>
      <p:sp>
        <p:nvSpPr>
          <p:cNvPr id="510" name="s510"/>
          <p:cNvSpPr/>
          <p:nvPr/>
        </p:nvSpPr>
        <p:spPr>
          <a:xfrm>
            <a:off x="8194040" y="56515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pcs</a:t>
            </a:r>
          </a:p>
        </p:txBody>
      </p:sp>
      <p:sp>
        <p:nvSpPr>
          <p:cNvPr id="511" name="s511"/>
          <p:cNvSpPr/>
          <p:nvPr/>
        </p:nvSpPr>
        <p:spPr>
          <a:xfrm>
            <a:off x="2326640" y="59563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Reorder level</a:t>
            </a:r>
          </a:p>
        </p:txBody>
      </p:sp>
      <p:sp>
        <p:nvSpPr>
          <p:cNvPr id="512" name="s512"/>
          <p:cNvSpPr/>
          <p:nvPr/>
        </p:nvSpPr>
        <p:spPr>
          <a:xfrm>
            <a:off x="2326640" y="61214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2440940" y="61214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100</a:t>
            </a:r>
          </a:p>
        </p:txBody>
      </p:sp>
      <p:sp>
        <p:nvSpPr>
          <p:cNvPr id="514" name="s514"/>
          <p:cNvSpPr/>
          <p:nvPr/>
        </p:nvSpPr>
        <p:spPr>
          <a:xfrm>
            <a:off x="4968240" y="6121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pcs</a:t>
            </a:r>
          </a:p>
        </p:txBody>
      </p:sp>
      <p:sp>
        <p:nvSpPr>
          <p:cNvPr id="515" name="s515"/>
          <p:cNvSpPr/>
          <p:nvPr/>
        </p:nvSpPr>
        <p:spPr>
          <a:xfrm>
            <a:off x="5552440" y="59563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Maximum stock level</a:t>
            </a:r>
          </a:p>
        </p:txBody>
      </p:sp>
      <p:sp>
        <p:nvSpPr>
          <p:cNvPr id="516" name="s516"/>
          <p:cNvSpPr/>
          <p:nvPr/>
        </p:nvSpPr>
        <p:spPr>
          <a:xfrm>
            <a:off x="5552440" y="61214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7" name="s517"/>
          <p:cNvSpPr/>
          <p:nvPr/>
        </p:nvSpPr>
        <p:spPr>
          <a:xfrm>
            <a:off x="5666740" y="61214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600</a:t>
            </a:r>
          </a:p>
        </p:txBody>
      </p:sp>
      <p:sp>
        <p:nvSpPr>
          <p:cNvPr id="518" name="s518"/>
          <p:cNvSpPr/>
          <p:nvPr/>
        </p:nvSpPr>
        <p:spPr>
          <a:xfrm>
            <a:off x="8194040" y="6121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pcs</a:t>
            </a:r>
          </a:p>
        </p:txBody>
      </p:sp>
      <p:sp>
        <p:nvSpPr>
          <p:cNvPr id="519" name="s519"/>
          <p:cNvSpPr/>
          <p:nvPr/>
        </p:nvSpPr>
        <p:spPr>
          <a:xfrm>
            <a:off x="8930640" y="1422400"/>
            <a:ext cx="3002280" cy="248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s520"/>
          <p:cNvSpPr/>
          <p:nvPr/>
        </p:nvSpPr>
        <p:spPr>
          <a:xfrm>
            <a:off x="9108440" y="1562100"/>
            <a:ext cx="1478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Product Image</a:t>
            </a:r>
          </a:p>
        </p:txBody>
      </p:sp>
      <p:sp>
        <p:nvSpPr>
          <p:cNvPr id="521" name="s521"/>
          <p:cNvSpPr/>
          <p:nvPr/>
        </p:nvSpPr>
        <p:spPr>
          <a:xfrm>
            <a:off x="9108440" y="1778000"/>
            <a:ext cx="2641600" cy="1371600"/>
          </a:xfrm>
          <a:prstGeom prst="roundRect">
            <a:avLst>
              <a:gd name="adj" fmla="val 8000"/>
            </a:avLst>
          </a:prstGeom>
          <a:solidFill>
            <a:srgbClr val="F6F5F1"/>
          </a:solidFill>
          <a:ln w="12700">
            <a:solidFill>
              <a:srgbClr val="C9CFD8"/>
            </a:solidFill>
            <a:prstDash val="dash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10121900" y="1981200"/>
            <a:ext cx="6096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10248900" y="2133600"/>
            <a:ext cx="3556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s524"/>
          <p:cNvSpPr/>
          <p:nvPr/>
        </p:nvSpPr>
        <p:spPr>
          <a:xfrm>
            <a:off x="10248900" y="2222500"/>
            <a:ext cx="2794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10248900" y="2311400"/>
            <a:ext cx="355600" cy="381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9108440" y="2565400"/>
            <a:ext cx="264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Drag an image here or browse</a:t>
            </a:r>
          </a:p>
        </p:txBody>
      </p:sp>
      <p:sp>
        <p:nvSpPr>
          <p:cNvPr id="527" name="s527"/>
          <p:cNvSpPr/>
          <p:nvPr/>
        </p:nvSpPr>
        <p:spPr>
          <a:xfrm>
            <a:off x="9108440" y="2743200"/>
            <a:ext cx="264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PNG or JPG · square · min 600 × 600 px</a:t>
            </a:r>
          </a:p>
        </p:txBody>
      </p:sp>
      <p:sp>
        <p:nvSpPr>
          <p:cNvPr id="528" name="s528"/>
          <p:cNvSpPr/>
          <p:nvPr/>
        </p:nvSpPr>
        <p:spPr>
          <a:xfrm>
            <a:off x="9108440" y="3251200"/>
            <a:ext cx="1270000" cy="279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Browse files</a:t>
            </a:r>
          </a:p>
        </p:txBody>
      </p:sp>
      <p:sp>
        <p:nvSpPr>
          <p:cNvPr id="529" name="s529"/>
          <p:cNvSpPr/>
          <p:nvPr/>
        </p:nvSpPr>
        <p:spPr>
          <a:xfrm>
            <a:off x="10452100" y="3251200"/>
            <a:ext cx="1295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No file selected</a:t>
            </a:r>
          </a:p>
        </p:txBody>
      </p:sp>
      <p:sp>
        <p:nvSpPr>
          <p:cNvPr id="530" name="s530"/>
          <p:cNvSpPr/>
          <p:nvPr/>
        </p:nvSpPr>
        <p:spPr>
          <a:xfrm>
            <a:off x="9108440" y="3606800"/>
            <a:ext cx="264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Products with no image show a category placeholder.</a:t>
            </a:r>
          </a:p>
        </p:txBody>
      </p:sp>
      <p:sp>
        <p:nvSpPr>
          <p:cNvPr id="531" name="s531"/>
          <p:cNvSpPr/>
          <p:nvPr/>
        </p:nvSpPr>
        <p:spPr>
          <a:xfrm>
            <a:off x="8930640" y="4089400"/>
            <a:ext cx="3002280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2" name="s532"/>
          <p:cNvSpPr/>
          <p:nvPr/>
        </p:nvSpPr>
        <p:spPr>
          <a:xfrm>
            <a:off x="9108440" y="4229100"/>
            <a:ext cx="1478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Organisation</a:t>
            </a:r>
          </a:p>
        </p:txBody>
      </p:sp>
      <p:sp>
        <p:nvSpPr>
          <p:cNvPr id="533" name="s533"/>
          <p:cNvSpPr/>
          <p:nvPr/>
        </p:nvSpPr>
        <p:spPr>
          <a:xfrm>
            <a:off x="9108440" y="44704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Warehouse</a:t>
            </a:r>
          </a:p>
        </p:txBody>
      </p:sp>
      <p:sp>
        <p:nvSpPr>
          <p:cNvPr id="534" name="s534"/>
          <p:cNvSpPr/>
          <p:nvPr/>
        </p:nvSpPr>
        <p:spPr>
          <a:xfrm>
            <a:off x="9672320" y="44704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535" name="s535"/>
          <p:cNvSpPr/>
          <p:nvPr/>
        </p:nvSpPr>
        <p:spPr>
          <a:xfrm>
            <a:off x="9108440" y="4635500"/>
            <a:ext cx="26416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6" name="s536"/>
          <p:cNvSpPr/>
          <p:nvPr/>
        </p:nvSpPr>
        <p:spPr>
          <a:xfrm>
            <a:off x="9222740" y="4635500"/>
            <a:ext cx="226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WH-01 Central Warehouse</a:t>
            </a:r>
          </a:p>
        </p:txBody>
      </p:sp>
      <p:sp>
        <p:nvSpPr>
          <p:cNvPr id="537" name="s537"/>
          <p:cNvSpPr/>
          <p:nvPr/>
        </p:nvSpPr>
        <p:spPr>
          <a:xfrm rot="10800000">
            <a:off x="11534140" y="47307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9108440" y="49403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Supplier</a:t>
            </a:r>
          </a:p>
        </p:txBody>
      </p:sp>
      <p:sp>
        <p:nvSpPr>
          <p:cNvPr id="539" name="s539"/>
          <p:cNvSpPr/>
          <p:nvPr/>
        </p:nvSpPr>
        <p:spPr>
          <a:xfrm>
            <a:off x="9613900" y="49403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540" name="s540"/>
          <p:cNvSpPr/>
          <p:nvPr/>
        </p:nvSpPr>
        <p:spPr>
          <a:xfrm>
            <a:off x="9108440" y="5105400"/>
            <a:ext cx="26416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1" name="s541"/>
          <p:cNvSpPr/>
          <p:nvPr/>
        </p:nvSpPr>
        <p:spPr>
          <a:xfrm>
            <a:off x="9222740" y="5105400"/>
            <a:ext cx="226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SUP-007 Kakata Paper Mills</a:t>
            </a:r>
          </a:p>
        </p:txBody>
      </p:sp>
      <p:sp>
        <p:nvSpPr>
          <p:cNvPr id="542" name="s542"/>
          <p:cNvSpPr/>
          <p:nvPr/>
        </p:nvSpPr>
        <p:spPr>
          <a:xfrm rot="10800000">
            <a:off x="11534140" y="52006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9108440" y="5410200"/>
            <a:ext cx="127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Barcode</a:t>
            </a:r>
          </a:p>
        </p:txBody>
      </p:sp>
      <p:sp>
        <p:nvSpPr>
          <p:cNvPr id="544" name="s544"/>
          <p:cNvSpPr/>
          <p:nvPr/>
        </p:nvSpPr>
        <p:spPr>
          <a:xfrm>
            <a:off x="9108440" y="5575300"/>
            <a:ext cx="1270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5" name="s545"/>
          <p:cNvSpPr/>
          <p:nvPr/>
        </p:nvSpPr>
        <p:spPr>
          <a:xfrm>
            <a:off x="9222740" y="55753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6009812004</a:t>
            </a:r>
          </a:p>
        </p:txBody>
      </p:sp>
      <p:sp>
        <p:nvSpPr>
          <p:cNvPr id="546" name="s546"/>
          <p:cNvSpPr/>
          <p:nvPr/>
        </p:nvSpPr>
        <p:spPr>
          <a:xfrm>
            <a:off x="10480040" y="5410200"/>
            <a:ext cx="127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Batch number</a:t>
            </a:r>
          </a:p>
        </p:txBody>
      </p:sp>
      <p:sp>
        <p:nvSpPr>
          <p:cNvPr id="547" name="s547"/>
          <p:cNvSpPr/>
          <p:nvPr/>
        </p:nvSpPr>
        <p:spPr>
          <a:xfrm>
            <a:off x="10480040" y="5575300"/>
            <a:ext cx="1270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10594340" y="55753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B-2026-014</a:t>
            </a:r>
          </a:p>
        </p:txBody>
      </p:sp>
      <p:sp>
        <p:nvSpPr>
          <p:cNvPr id="549" name="s549"/>
          <p:cNvSpPr/>
          <p:nvPr/>
        </p:nvSpPr>
        <p:spPr>
          <a:xfrm>
            <a:off x="9108440" y="59436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0" name="s550"/>
          <p:cNvSpPr/>
          <p:nvPr/>
        </p:nvSpPr>
        <p:spPr>
          <a:xfrm>
            <a:off x="9108440" y="6057900"/>
            <a:ext cx="203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Publish to catalogue</a:t>
            </a:r>
          </a:p>
        </p:txBody>
      </p:sp>
      <p:sp>
        <p:nvSpPr>
          <p:cNvPr id="551" name="s551"/>
          <p:cNvSpPr/>
          <p:nvPr/>
        </p:nvSpPr>
        <p:spPr>
          <a:xfrm>
            <a:off x="9108440" y="6223000"/>
            <a:ext cx="2159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Visible on school order forms</a:t>
            </a:r>
          </a:p>
        </p:txBody>
      </p:sp>
      <p:sp>
        <p:nvSpPr>
          <p:cNvPr id="552" name="s552"/>
          <p:cNvSpPr/>
          <p:nvPr/>
        </p:nvSpPr>
        <p:spPr>
          <a:xfrm>
            <a:off x="11417300" y="6083300"/>
            <a:ext cx="330200" cy="177800"/>
          </a:xfrm>
          <a:prstGeom prst="roundRect">
            <a:avLst>
              <a:gd name="adj" fmla="val 50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3" name="s553"/>
          <p:cNvSpPr/>
          <p:nvPr/>
        </p:nvSpPr>
        <p:spPr>
          <a:xfrm>
            <a:off x="11582400" y="6102350"/>
            <a:ext cx="139700" cy="139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554" name="Copied Picture 554">
            <a:extLst>
              <a:ext uri="{FF2B5EF4-FFF2-40B4-BE49-F238E27FC236}">
                <a16:creationId xmlns:a16="http://schemas.microsoft.com/office/drawing/2014/main" id="{5A200BD9-3D1A-A816-57EF-7B7211F2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3680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8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101600" y="1485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101600" y="1485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Products  ›  ABC Beginner Book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443" name="s443"/>
          <p:cNvSpPr/>
          <p:nvPr/>
        </p:nvSpPr>
        <p:spPr>
          <a:xfrm>
            <a:off x="4432300" y="838200"/>
            <a:ext cx="8128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4" name="s444"/>
          <p:cNvSpPr/>
          <p:nvPr/>
        </p:nvSpPr>
        <p:spPr>
          <a:xfrm>
            <a:off x="4432300" y="838200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445" name="s445"/>
          <p:cNvSpPr/>
          <p:nvPr/>
        </p:nvSpPr>
        <p:spPr>
          <a:xfrm>
            <a:off x="2148840" y="1092200"/>
            <a:ext cx="584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BK-0142  ·  Books  ·  added 12 Mar 2025  ·  updated 2 minutes ago by Moses Kollie</a:t>
            </a:r>
          </a:p>
        </p:txBody>
      </p:sp>
      <p:sp>
        <p:nvSpPr>
          <p:cNvPr id="446" name="s446"/>
          <p:cNvSpPr/>
          <p:nvPr/>
        </p:nvSpPr>
        <p:spPr>
          <a:xfrm>
            <a:off x="10805160" y="812800"/>
            <a:ext cx="112776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10805160" y="812800"/>
            <a:ext cx="112776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Edit Product</a:t>
            </a:r>
          </a:p>
        </p:txBody>
      </p:sp>
      <p:sp>
        <p:nvSpPr>
          <p:cNvPr id="448" name="s448"/>
          <p:cNvSpPr/>
          <p:nvPr/>
        </p:nvSpPr>
        <p:spPr>
          <a:xfrm>
            <a:off x="9756140" y="812800"/>
            <a:ext cx="92202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9756140" y="812800"/>
            <a:ext cx="9220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Duplicate</a:t>
            </a:r>
          </a:p>
        </p:txBody>
      </p:sp>
      <p:sp>
        <p:nvSpPr>
          <p:cNvPr id="450" name="s450"/>
          <p:cNvSpPr/>
          <p:nvPr/>
        </p:nvSpPr>
        <p:spPr>
          <a:xfrm>
            <a:off x="891286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891286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B3261E"/>
                </a:solidFill>
                <a:latin typeface="Calibri"/>
              </a:rPr>
              <a:t>Delete</a:t>
            </a:r>
          </a:p>
        </p:txBody>
      </p:sp>
      <p:sp>
        <p:nvSpPr>
          <p:cNvPr id="452" name="s452"/>
          <p:cNvSpPr/>
          <p:nvPr/>
        </p:nvSpPr>
        <p:spPr>
          <a:xfrm>
            <a:off x="214884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Overview</a:t>
            </a:r>
          </a:p>
        </p:txBody>
      </p:sp>
      <p:sp>
        <p:nvSpPr>
          <p:cNvPr id="453" name="s453"/>
          <p:cNvSpPr/>
          <p:nvPr/>
        </p:nvSpPr>
        <p:spPr>
          <a:xfrm>
            <a:off x="2148840" y="1574800"/>
            <a:ext cx="858520" cy="254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3007360" y="1346200"/>
            <a:ext cx="145288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Inventory History</a:t>
            </a:r>
          </a:p>
        </p:txBody>
      </p:sp>
      <p:sp>
        <p:nvSpPr>
          <p:cNvPr id="455" name="s455"/>
          <p:cNvSpPr/>
          <p:nvPr/>
        </p:nvSpPr>
        <p:spPr>
          <a:xfrm>
            <a:off x="4460240" y="134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Sales</a:t>
            </a:r>
          </a:p>
        </p:txBody>
      </p:sp>
      <p:sp>
        <p:nvSpPr>
          <p:cNvPr id="456" name="s456"/>
          <p:cNvSpPr/>
          <p:nvPr/>
        </p:nvSpPr>
        <p:spPr>
          <a:xfrm>
            <a:off x="5120640" y="1346200"/>
            <a:ext cx="132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Purchase Orders</a:t>
            </a:r>
          </a:p>
        </p:txBody>
      </p:sp>
      <p:sp>
        <p:nvSpPr>
          <p:cNvPr id="457" name="s457"/>
          <p:cNvSpPr/>
          <p:nvPr/>
        </p:nvSpPr>
        <p:spPr>
          <a:xfrm>
            <a:off x="2148840" y="1593850"/>
            <a:ext cx="978408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2148840" y="1752600"/>
            <a:ext cx="6604000" cy="213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2326640" y="18923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Product Information</a:t>
            </a:r>
          </a:p>
        </p:txBody>
      </p:sp>
      <p:sp>
        <p:nvSpPr>
          <p:cNvPr id="460" name="s460"/>
          <p:cNvSpPr/>
          <p:nvPr/>
        </p:nvSpPr>
        <p:spPr>
          <a:xfrm>
            <a:off x="2326640" y="2108200"/>
            <a:ext cx="1524000" cy="15240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2578100" y="2489200"/>
            <a:ext cx="1016000" cy="1016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2578100" y="2692400"/>
            <a:ext cx="762000" cy="1016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2578100" y="2895600"/>
            <a:ext cx="1016000" cy="1016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2578100" y="31750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BK-0142</a:t>
            </a:r>
          </a:p>
        </p:txBody>
      </p:sp>
      <p:sp>
        <p:nvSpPr>
          <p:cNvPr id="465" name="s465"/>
          <p:cNvSpPr/>
          <p:nvPr/>
        </p:nvSpPr>
        <p:spPr>
          <a:xfrm>
            <a:off x="4028440" y="21336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Category</a:t>
            </a:r>
          </a:p>
        </p:txBody>
      </p:sp>
      <p:sp>
        <p:nvSpPr>
          <p:cNvPr id="466" name="s466"/>
          <p:cNvSpPr/>
          <p:nvPr/>
        </p:nvSpPr>
        <p:spPr>
          <a:xfrm>
            <a:off x="5190744" y="21336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Books</a:t>
            </a:r>
          </a:p>
        </p:txBody>
      </p:sp>
      <p:sp>
        <p:nvSpPr>
          <p:cNvPr id="467" name="s467"/>
          <p:cNvSpPr/>
          <p:nvPr/>
        </p:nvSpPr>
        <p:spPr>
          <a:xfrm>
            <a:off x="4028440" y="23622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Brand</a:t>
            </a:r>
          </a:p>
        </p:txBody>
      </p:sp>
      <p:sp>
        <p:nvSpPr>
          <p:cNvPr id="468" name="s468"/>
          <p:cNvSpPr/>
          <p:nvPr/>
        </p:nvSpPr>
        <p:spPr>
          <a:xfrm>
            <a:off x="5190744" y="23622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Lazy Pygmy Originals</a:t>
            </a:r>
          </a:p>
        </p:txBody>
      </p:sp>
      <p:sp>
        <p:nvSpPr>
          <p:cNvPr id="469" name="s469"/>
          <p:cNvSpPr/>
          <p:nvPr/>
        </p:nvSpPr>
        <p:spPr>
          <a:xfrm>
            <a:off x="4028440" y="25908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Grade level</a:t>
            </a:r>
          </a:p>
        </p:txBody>
      </p:sp>
      <p:sp>
        <p:nvSpPr>
          <p:cNvPr id="470" name="s470"/>
          <p:cNvSpPr/>
          <p:nvPr/>
        </p:nvSpPr>
        <p:spPr>
          <a:xfrm>
            <a:off x="5190744" y="25908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Nursery</a:t>
            </a:r>
          </a:p>
        </p:txBody>
      </p:sp>
      <p:sp>
        <p:nvSpPr>
          <p:cNvPr id="471" name="s471"/>
          <p:cNvSpPr/>
          <p:nvPr/>
        </p:nvSpPr>
        <p:spPr>
          <a:xfrm>
            <a:off x="4028440" y="28194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Age group</a:t>
            </a:r>
          </a:p>
        </p:txBody>
      </p:sp>
      <p:sp>
        <p:nvSpPr>
          <p:cNvPr id="472" name="s472"/>
          <p:cNvSpPr/>
          <p:nvPr/>
        </p:nvSpPr>
        <p:spPr>
          <a:xfrm>
            <a:off x="5190744" y="28194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3 – 5 years</a:t>
            </a:r>
          </a:p>
        </p:txBody>
      </p:sp>
      <p:sp>
        <p:nvSpPr>
          <p:cNvPr id="473" name="s473"/>
          <p:cNvSpPr/>
          <p:nvPr/>
        </p:nvSpPr>
        <p:spPr>
          <a:xfrm>
            <a:off x="4028440" y="30480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Subject</a:t>
            </a:r>
          </a:p>
        </p:txBody>
      </p:sp>
      <p:sp>
        <p:nvSpPr>
          <p:cNvPr id="474" name="s474"/>
          <p:cNvSpPr/>
          <p:nvPr/>
        </p:nvSpPr>
        <p:spPr>
          <a:xfrm>
            <a:off x="5190744" y="30480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Early Literacy</a:t>
            </a:r>
          </a:p>
        </p:txBody>
      </p:sp>
      <p:sp>
        <p:nvSpPr>
          <p:cNvPr id="475" name="s475"/>
          <p:cNvSpPr/>
          <p:nvPr/>
        </p:nvSpPr>
        <p:spPr>
          <a:xfrm>
            <a:off x="4028440" y="32766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Unit type</a:t>
            </a:r>
          </a:p>
        </p:txBody>
      </p:sp>
      <p:sp>
        <p:nvSpPr>
          <p:cNvPr id="476" name="s476"/>
          <p:cNvSpPr/>
          <p:nvPr/>
        </p:nvSpPr>
        <p:spPr>
          <a:xfrm>
            <a:off x="5190744" y="32766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Piece</a:t>
            </a:r>
          </a:p>
        </p:txBody>
      </p:sp>
      <p:sp>
        <p:nvSpPr>
          <p:cNvPr id="477" name="s477"/>
          <p:cNvSpPr/>
          <p:nvPr/>
        </p:nvSpPr>
        <p:spPr>
          <a:xfrm>
            <a:off x="6416040" y="21336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Barcode</a:t>
            </a:r>
          </a:p>
        </p:txBody>
      </p:sp>
      <p:sp>
        <p:nvSpPr>
          <p:cNvPr id="478" name="s478"/>
          <p:cNvSpPr/>
          <p:nvPr/>
        </p:nvSpPr>
        <p:spPr>
          <a:xfrm>
            <a:off x="7578344" y="21336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6009811042</a:t>
            </a:r>
          </a:p>
        </p:txBody>
      </p:sp>
      <p:sp>
        <p:nvSpPr>
          <p:cNvPr id="479" name="s479"/>
          <p:cNvSpPr/>
          <p:nvPr/>
        </p:nvSpPr>
        <p:spPr>
          <a:xfrm>
            <a:off x="6416040" y="23622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Batch number</a:t>
            </a:r>
          </a:p>
        </p:txBody>
      </p:sp>
      <p:sp>
        <p:nvSpPr>
          <p:cNvPr id="480" name="s480"/>
          <p:cNvSpPr/>
          <p:nvPr/>
        </p:nvSpPr>
        <p:spPr>
          <a:xfrm>
            <a:off x="7578344" y="23622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B-2025-072</a:t>
            </a:r>
          </a:p>
        </p:txBody>
      </p:sp>
      <p:sp>
        <p:nvSpPr>
          <p:cNvPr id="481" name="s481"/>
          <p:cNvSpPr/>
          <p:nvPr/>
        </p:nvSpPr>
        <p:spPr>
          <a:xfrm>
            <a:off x="6416040" y="25908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Date added</a:t>
            </a:r>
          </a:p>
        </p:txBody>
      </p:sp>
      <p:sp>
        <p:nvSpPr>
          <p:cNvPr id="482" name="s482"/>
          <p:cNvSpPr/>
          <p:nvPr/>
        </p:nvSpPr>
        <p:spPr>
          <a:xfrm>
            <a:off x="7578344" y="25908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12 Mar 2025</a:t>
            </a:r>
          </a:p>
        </p:txBody>
      </p:sp>
      <p:sp>
        <p:nvSpPr>
          <p:cNvPr id="483" name="s483"/>
          <p:cNvSpPr/>
          <p:nvPr/>
        </p:nvSpPr>
        <p:spPr>
          <a:xfrm>
            <a:off x="6416040" y="28194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Last updated</a:t>
            </a:r>
          </a:p>
        </p:txBody>
      </p:sp>
      <p:sp>
        <p:nvSpPr>
          <p:cNvPr id="484" name="s484"/>
          <p:cNvSpPr/>
          <p:nvPr/>
        </p:nvSpPr>
        <p:spPr>
          <a:xfrm>
            <a:off x="7578344" y="28194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7 Jan 2026</a:t>
            </a:r>
          </a:p>
        </p:txBody>
      </p:sp>
      <p:sp>
        <p:nvSpPr>
          <p:cNvPr id="485" name="s485"/>
          <p:cNvSpPr/>
          <p:nvPr/>
        </p:nvSpPr>
        <p:spPr>
          <a:xfrm>
            <a:off x="6416040" y="30480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86" name="s486"/>
          <p:cNvSpPr/>
          <p:nvPr/>
        </p:nvSpPr>
        <p:spPr>
          <a:xfrm>
            <a:off x="7578344" y="30480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487" name="s487"/>
          <p:cNvSpPr/>
          <p:nvPr/>
        </p:nvSpPr>
        <p:spPr>
          <a:xfrm>
            <a:off x="6416040" y="3276600"/>
            <a:ext cx="116230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Created by</a:t>
            </a:r>
          </a:p>
        </p:txBody>
      </p:sp>
      <p:sp>
        <p:nvSpPr>
          <p:cNvPr id="488" name="s488"/>
          <p:cNvSpPr/>
          <p:nvPr/>
        </p:nvSpPr>
        <p:spPr>
          <a:xfrm>
            <a:off x="7578344" y="3276600"/>
            <a:ext cx="1072896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89" name="s489"/>
          <p:cNvSpPr/>
          <p:nvPr/>
        </p:nvSpPr>
        <p:spPr>
          <a:xfrm>
            <a:off x="2326640" y="36830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Beginner alphabet reader with 32 illustrated pages.</a:t>
            </a:r>
          </a:p>
        </p:txBody>
      </p:sp>
      <p:sp>
        <p:nvSpPr>
          <p:cNvPr id="490" name="s490"/>
          <p:cNvSpPr/>
          <p:nvPr/>
        </p:nvSpPr>
        <p:spPr>
          <a:xfrm>
            <a:off x="2148840" y="4038600"/>
            <a:ext cx="6604000" cy="111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2326640" y="41783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Pricing</a:t>
            </a:r>
          </a:p>
        </p:txBody>
      </p:sp>
      <p:sp>
        <p:nvSpPr>
          <p:cNvPr id="492" name="s492"/>
          <p:cNvSpPr/>
          <p:nvPr/>
        </p:nvSpPr>
        <p:spPr>
          <a:xfrm>
            <a:off x="2326640" y="4394200"/>
            <a:ext cx="1473200" cy="6096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2326640" y="4394200"/>
            <a:ext cx="25400" cy="609600"/>
          </a:xfrm>
          <a:prstGeom prst="rect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4" name="s494"/>
          <p:cNvSpPr/>
          <p:nvPr/>
        </p:nvSpPr>
        <p:spPr>
          <a:xfrm>
            <a:off x="2479040" y="45085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Cost price</a:t>
            </a:r>
          </a:p>
        </p:txBody>
      </p:sp>
      <p:sp>
        <p:nvSpPr>
          <p:cNvPr id="495" name="s495"/>
          <p:cNvSpPr/>
          <p:nvPr/>
        </p:nvSpPr>
        <p:spPr>
          <a:xfrm>
            <a:off x="2479040" y="4660900"/>
            <a:ext cx="1219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$2.10</a:t>
            </a:r>
          </a:p>
        </p:txBody>
      </p:sp>
      <p:sp>
        <p:nvSpPr>
          <p:cNvPr id="496" name="s496"/>
          <p:cNvSpPr/>
          <p:nvPr/>
        </p:nvSpPr>
        <p:spPr>
          <a:xfrm>
            <a:off x="3926840" y="4394200"/>
            <a:ext cx="1473200" cy="6096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3926840" y="4394200"/>
            <a:ext cx="25400" cy="6096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4079240" y="45085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Selling price</a:t>
            </a:r>
          </a:p>
        </p:txBody>
      </p:sp>
      <p:sp>
        <p:nvSpPr>
          <p:cNvPr id="499" name="s499"/>
          <p:cNvSpPr/>
          <p:nvPr/>
        </p:nvSpPr>
        <p:spPr>
          <a:xfrm>
            <a:off x="4079240" y="4660900"/>
            <a:ext cx="1219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$3.50</a:t>
            </a:r>
          </a:p>
        </p:txBody>
      </p:sp>
      <p:sp>
        <p:nvSpPr>
          <p:cNvPr id="500" name="s500"/>
          <p:cNvSpPr/>
          <p:nvPr/>
        </p:nvSpPr>
        <p:spPr>
          <a:xfrm>
            <a:off x="5527040" y="4394200"/>
            <a:ext cx="1473200" cy="6096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1" name="s501"/>
          <p:cNvSpPr/>
          <p:nvPr/>
        </p:nvSpPr>
        <p:spPr>
          <a:xfrm>
            <a:off x="5527040" y="4394200"/>
            <a:ext cx="25400" cy="6096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2" name="s502"/>
          <p:cNvSpPr/>
          <p:nvPr/>
        </p:nvSpPr>
        <p:spPr>
          <a:xfrm>
            <a:off x="5679440" y="45085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Wholesale</a:t>
            </a:r>
          </a:p>
        </p:txBody>
      </p:sp>
      <p:sp>
        <p:nvSpPr>
          <p:cNvPr id="503" name="s503"/>
          <p:cNvSpPr/>
          <p:nvPr/>
        </p:nvSpPr>
        <p:spPr>
          <a:xfrm>
            <a:off x="5679440" y="4660900"/>
            <a:ext cx="1219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$2.95</a:t>
            </a:r>
          </a:p>
        </p:txBody>
      </p:sp>
      <p:sp>
        <p:nvSpPr>
          <p:cNvPr id="504" name="s504"/>
          <p:cNvSpPr/>
          <p:nvPr/>
        </p:nvSpPr>
        <p:spPr>
          <a:xfrm>
            <a:off x="7127240" y="4394200"/>
            <a:ext cx="1447800" cy="6096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7127240" y="4394200"/>
            <a:ext cx="25400" cy="609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6" name="s506"/>
          <p:cNvSpPr/>
          <p:nvPr/>
        </p:nvSpPr>
        <p:spPr>
          <a:xfrm>
            <a:off x="7279640" y="4508500"/>
            <a:ext cx="1193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Gross margin</a:t>
            </a:r>
          </a:p>
        </p:txBody>
      </p:sp>
      <p:sp>
        <p:nvSpPr>
          <p:cNvPr id="507" name="s507"/>
          <p:cNvSpPr/>
          <p:nvPr/>
        </p:nvSpPr>
        <p:spPr>
          <a:xfrm>
            <a:off x="7279640" y="4660900"/>
            <a:ext cx="1193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40.0%</a:t>
            </a:r>
          </a:p>
        </p:txBody>
      </p:sp>
      <p:sp>
        <p:nvSpPr>
          <p:cNvPr id="508" name="s508"/>
          <p:cNvSpPr/>
          <p:nvPr/>
        </p:nvSpPr>
        <p:spPr>
          <a:xfrm>
            <a:off x="2148840" y="5308600"/>
            <a:ext cx="6604000" cy="1193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2326640" y="54483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Sales Performance</a:t>
            </a:r>
          </a:p>
        </p:txBody>
      </p:sp>
      <p:sp>
        <p:nvSpPr>
          <p:cNvPr id="510" name="s510"/>
          <p:cNvSpPr/>
          <p:nvPr/>
        </p:nvSpPr>
        <p:spPr>
          <a:xfrm>
            <a:off x="7432040" y="54483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View report</a:t>
            </a:r>
          </a:p>
        </p:txBody>
      </p:sp>
      <p:sp>
        <p:nvSpPr>
          <p:cNvPr id="511" name="s511"/>
          <p:cNvSpPr/>
          <p:nvPr/>
        </p:nvSpPr>
        <p:spPr>
          <a:xfrm>
            <a:off x="2326640" y="5664200"/>
            <a:ext cx="1473200" cy="685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2326640" y="5664200"/>
            <a:ext cx="25400" cy="6858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2479040" y="57785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 sold (Jan)</a:t>
            </a:r>
          </a:p>
        </p:txBody>
      </p:sp>
      <p:sp>
        <p:nvSpPr>
          <p:cNvPr id="514" name="s514"/>
          <p:cNvSpPr/>
          <p:nvPr/>
        </p:nvSpPr>
        <p:spPr>
          <a:xfrm>
            <a:off x="2479040" y="5930900"/>
            <a:ext cx="1219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515" name="s515"/>
          <p:cNvSpPr/>
          <p:nvPr/>
        </p:nvSpPr>
        <p:spPr>
          <a:xfrm>
            <a:off x="2479040" y="62230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+18% vs Dec</a:t>
            </a:r>
          </a:p>
        </p:txBody>
      </p:sp>
      <p:sp>
        <p:nvSpPr>
          <p:cNvPr id="516" name="s516"/>
          <p:cNvSpPr/>
          <p:nvPr/>
        </p:nvSpPr>
        <p:spPr>
          <a:xfrm>
            <a:off x="3926840" y="5664200"/>
            <a:ext cx="1473200" cy="685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7" name="s517"/>
          <p:cNvSpPr/>
          <p:nvPr/>
        </p:nvSpPr>
        <p:spPr>
          <a:xfrm>
            <a:off x="3926840" y="5664200"/>
            <a:ext cx="25400" cy="685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8" name="s518"/>
          <p:cNvSpPr/>
          <p:nvPr/>
        </p:nvSpPr>
        <p:spPr>
          <a:xfrm>
            <a:off x="4079240" y="57785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Revenue (Jan)</a:t>
            </a:r>
          </a:p>
        </p:txBody>
      </p:sp>
      <p:sp>
        <p:nvSpPr>
          <p:cNvPr id="519" name="s519"/>
          <p:cNvSpPr/>
          <p:nvPr/>
        </p:nvSpPr>
        <p:spPr>
          <a:xfrm>
            <a:off x="4079240" y="5930900"/>
            <a:ext cx="1219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$4,340</a:t>
            </a:r>
          </a:p>
        </p:txBody>
      </p:sp>
      <p:sp>
        <p:nvSpPr>
          <p:cNvPr id="520" name="s520"/>
          <p:cNvSpPr/>
          <p:nvPr/>
        </p:nvSpPr>
        <p:spPr>
          <a:xfrm>
            <a:off x="4079240" y="62230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1,240 × $3.50</a:t>
            </a:r>
          </a:p>
        </p:txBody>
      </p:sp>
      <p:sp>
        <p:nvSpPr>
          <p:cNvPr id="521" name="s521"/>
          <p:cNvSpPr/>
          <p:nvPr/>
        </p:nvSpPr>
        <p:spPr>
          <a:xfrm>
            <a:off x="5527040" y="5664200"/>
            <a:ext cx="1473200" cy="685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5527040" y="5664200"/>
            <a:ext cx="25400" cy="6858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5679440" y="57785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Orders</a:t>
            </a:r>
          </a:p>
        </p:txBody>
      </p:sp>
      <p:sp>
        <p:nvSpPr>
          <p:cNvPr id="524" name="s524"/>
          <p:cNvSpPr/>
          <p:nvPr/>
        </p:nvSpPr>
        <p:spPr>
          <a:xfrm>
            <a:off x="5679440" y="5930900"/>
            <a:ext cx="1219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42</a:t>
            </a:r>
          </a:p>
        </p:txBody>
      </p:sp>
      <p:sp>
        <p:nvSpPr>
          <p:cNvPr id="525" name="s525"/>
          <p:cNvSpPr/>
          <p:nvPr/>
        </p:nvSpPr>
        <p:spPr>
          <a:xfrm>
            <a:off x="5679440" y="62230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across 31 schools</a:t>
            </a:r>
          </a:p>
        </p:txBody>
      </p:sp>
      <p:sp>
        <p:nvSpPr>
          <p:cNvPr id="526" name="s526"/>
          <p:cNvSpPr/>
          <p:nvPr/>
        </p:nvSpPr>
        <p:spPr>
          <a:xfrm>
            <a:off x="7127240" y="5664200"/>
            <a:ext cx="1447800" cy="685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7" name="s527"/>
          <p:cNvSpPr/>
          <p:nvPr/>
        </p:nvSpPr>
        <p:spPr>
          <a:xfrm>
            <a:off x="7127240" y="5664200"/>
            <a:ext cx="25400" cy="6858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8" name="s528"/>
          <p:cNvSpPr/>
          <p:nvPr/>
        </p:nvSpPr>
        <p:spPr>
          <a:xfrm>
            <a:off x="7279640" y="5778500"/>
            <a:ext cx="1193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Avg per order</a:t>
            </a:r>
          </a:p>
        </p:txBody>
      </p:sp>
      <p:sp>
        <p:nvSpPr>
          <p:cNvPr id="529" name="s529"/>
          <p:cNvSpPr/>
          <p:nvPr/>
        </p:nvSpPr>
        <p:spPr>
          <a:xfrm>
            <a:off x="7279640" y="5930900"/>
            <a:ext cx="1193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30</a:t>
            </a:r>
          </a:p>
        </p:txBody>
      </p:sp>
      <p:sp>
        <p:nvSpPr>
          <p:cNvPr id="530" name="s530"/>
          <p:cNvSpPr/>
          <p:nvPr/>
        </p:nvSpPr>
        <p:spPr>
          <a:xfrm>
            <a:off x="7279640" y="6223000"/>
            <a:ext cx="1193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pieces</a:t>
            </a:r>
          </a:p>
        </p:txBody>
      </p:sp>
      <p:sp>
        <p:nvSpPr>
          <p:cNvPr id="531" name="s531"/>
          <p:cNvSpPr/>
          <p:nvPr/>
        </p:nvSpPr>
        <p:spPr>
          <a:xfrm>
            <a:off x="8930640" y="1752600"/>
            <a:ext cx="3002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2" name="s532"/>
          <p:cNvSpPr/>
          <p:nvPr/>
        </p:nvSpPr>
        <p:spPr>
          <a:xfrm>
            <a:off x="9108440" y="1892300"/>
            <a:ext cx="1478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Inventory</a:t>
            </a:r>
          </a:p>
        </p:txBody>
      </p:sp>
      <p:sp>
        <p:nvSpPr>
          <p:cNvPr id="533" name="s533"/>
          <p:cNvSpPr/>
          <p:nvPr/>
        </p:nvSpPr>
        <p:spPr>
          <a:xfrm>
            <a:off x="9108440" y="2108200"/>
            <a:ext cx="2641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400" b="1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534" name="s534"/>
          <p:cNvSpPr/>
          <p:nvPr/>
        </p:nvSpPr>
        <p:spPr>
          <a:xfrm>
            <a:off x="9108440" y="2438400"/>
            <a:ext cx="264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 on hand at WH-01</a:t>
            </a:r>
          </a:p>
        </p:txBody>
      </p:sp>
      <p:sp>
        <p:nvSpPr>
          <p:cNvPr id="535" name="s535"/>
          <p:cNvSpPr/>
          <p:nvPr/>
        </p:nvSpPr>
        <p:spPr>
          <a:xfrm>
            <a:off x="9108440" y="2692400"/>
            <a:ext cx="2641600" cy="762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6" name="s536"/>
          <p:cNvSpPr/>
          <p:nvPr/>
        </p:nvSpPr>
        <p:spPr>
          <a:xfrm>
            <a:off x="9108440" y="2692400"/>
            <a:ext cx="1638300" cy="76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7" name="s537"/>
          <p:cNvSpPr/>
          <p:nvPr/>
        </p:nvSpPr>
        <p:spPr>
          <a:xfrm>
            <a:off x="9108440" y="28194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62% of 2,000 maximum stock level</a:t>
            </a:r>
          </a:p>
        </p:txBody>
      </p:sp>
      <p:sp>
        <p:nvSpPr>
          <p:cNvPr id="538" name="s538"/>
          <p:cNvSpPr/>
          <p:nvPr/>
        </p:nvSpPr>
        <p:spPr>
          <a:xfrm>
            <a:off x="9108440" y="30480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9108440" y="31242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Reserved for orders</a:t>
            </a:r>
          </a:p>
        </p:txBody>
      </p:sp>
      <p:sp>
        <p:nvSpPr>
          <p:cNvPr id="540" name="s540"/>
          <p:cNvSpPr/>
          <p:nvPr/>
        </p:nvSpPr>
        <p:spPr>
          <a:xfrm>
            <a:off x="10482072" y="3124200"/>
            <a:ext cx="1267968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180</a:t>
            </a:r>
          </a:p>
        </p:txBody>
      </p:sp>
      <p:sp>
        <p:nvSpPr>
          <p:cNvPr id="541" name="s541"/>
          <p:cNvSpPr/>
          <p:nvPr/>
        </p:nvSpPr>
        <p:spPr>
          <a:xfrm>
            <a:off x="9108440" y="33528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Available to sell</a:t>
            </a:r>
          </a:p>
        </p:txBody>
      </p:sp>
      <p:sp>
        <p:nvSpPr>
          <p:cNvPr id="542" name="s542"/>
          <p:cNvSpPr/>
          <p:nvPr/>
        </p:nvSpPr>
        <p:spPr>
          <a:xfrm>
            <a:off x="10482072" y="3352800"/>
            <a:ext cx="1267968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E8E5A"/>
                </a:solidFill>
                <a:latin typeface="Arial"/>
              </a:rPr>
              <a:t>1,060</a:t>
            </a:r>
          </a:p>
        </p:txBody>
      </p:sp>
      <p:sp>
        <p:nvSpPr>
          <p:cNvPr id="543" name="s543"/>
          <p:cNvSpPr/>
          <p:nvPr/>
        </p:nvSpPr>
        <p:spPr>
          <a:xfrm>
            <a:off x="9108440" y="35814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Reorder level</a:t>
            </a:r>
          </a:p>
        </p:txBody>
      </p:sp>
      <p:sp>
        <p:nvSpPr>
          <p:cNvPr id="544" name="s544"/>
          <p:cNvSpPr/>
          <p:nvPr/>
        </p:nvSpPr>
        <p:spPr>
          <a:xfrm>
            <a:off x="10482072" y="3581400"/>
            <a:ext cx="1267968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200</a:t>
            </a:r>
          </a:p>
        </p:txBody>
      </p:sp>
      <p:sp>
        <p:nvSpPr>
          <p:cNvPr id="545" name="s545"/>
          <p:cNvSpPr/>
          <p:nvPr/>
        </p:nvSpPr>
        <p:spPr>
          <a:xfrm>
            <a:off x="9108440" y="38100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Incoming (PO-2026-0117)</a:t>
            </a:r>
          </a:p>
        </p:txBody>
      </p:sp>
      <p:sp>
        <p:nvSpPr>
          <p:cNvPr id="546" name="s546"/>
          <p:cNvSpPr/>
          <p:nvPr/>
        </p:nvSpPr>
        <p:spPr>
          <a:xfrm>
            <a:off x="10482072" y="3810000"/>
            <a:ext cx="1267968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2C6ECB"/>
                </a:solidFill>
                <a:latin typeface="Arial"/>
              </a:rPr>
              <a:t>400</a:t>
            </a:r>
          </a:p>
        </p:txBody>
      </p:sp>
      <p:sp>
        <p:nvSpPr>
          <p:cNvPr id="547" name="s547"/>
          <p:cNvSpPr/>
          <p:nvPr/>
        </p:nvSpPr>
        <p:spPr>
          <a:xfrm>
            <a:off x="8930640" y="4191000"/>
            <a:ext cx="3002280" cy="2311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9108440" y="4330700"/>
            <a:ext cx="1478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Warehouse &amp; Supplier</a:t>
            </a:r>
          </a:p>
        </p:txBody>
      </p:sp>
      <p:sp>
        <p:nvSpPr>
          <p:cNvPr id="549" name="s549"/>
          <p:cNvSpPr/>
          <p:nvPr/>
        </p:nvSpPr>
        <p:spPr>
          <a:xfrm>
            <a:off x="9108440" y="4546600"/>
            <a:ext cx="264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1" spc="0" dirty="0">
                <a:solidFill>
                  <a:srgbClr val="10141A"/>
                </a:solidFill>
                <a:latin typeface="Calibri"/>
              </a:rPr>
              <a:t>WH-01 Central Warehouse</a:t>
            </a:r>
          </a:p>
        </p:txBody>
      </p:sp>
      <p:sp>
        <p:nvSpPr>
          <p:cNvPr id="550" name="s550"/>
          <p:cNvSpPr/>
          <p:nvPr/>
        </p:nvSpPr>
        <p:spPr>
          <a:xfrm>
            <a:off x="9108440" y="47244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Bushrod Island, Monrovia, Montserrado</a:t>
            </a:r>
          </a:p>
        </p:txBody>
      </p:sp>
      <p:sp>
        <p:nvSpPr>
          <p:cNvPr id="551" name="s551"/>
          <p:cNvSpPr/>
          <p:nvPr/>
        </p:nvSpPr>
        <p:spPr>
          <a:xfrm>
            <a:off x="9108440" y="49530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2" name="s552"/>
          <p:cNvSpPr/>
          <p:nvPr/>
        </p:nvSpPr>
        <p:spPr>
          <a:xfrm>
            <a:off x="9108440" y="5054600"/>
            <a:ext cx="304800" cy="304800"/>
          </a:xfrm>
          <a:prstGeom prst="ellipse">
            <a:avLst/>
          </a:prstGeom>
          <a:solidFill>
            <a:srgbClr val="2559A8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3" name="s553"/>
          <p:cNvSpPr/>
          <p:nvPr/>
        </p:nvSpPr>
        <p:spPr>
          <a:xfrm>
            <a:off x="9108440" y="5054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KP</a:t>
            </a:r>
          </a:p>
        </p:txBody>
      </p:sp>
      <p:sp>
        <p:nvSpPr>
          <p:cNvPr id="554" name="s554"/>
          <p:cNvSpPr/>
          <p:nvPr/>
        </p:nvSpPr>
        <p:spPr>
          <a:xfrm>
            <a:off x="9512300" y="5054600"/>
            <a:ext cx="2235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1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555" name="s555"/>
          <p:cNvSpPr/>
          <p:nvPr/>
        </p:nvSpPr>
        <p:spPr>
          <a:xfrm>
            <a:off x="9512300" y="5219700"/>
            <a:ext cx="2235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SUP-007  ·  Margibi County</a:t>
            </a:r>
          </a:p>
        </p:txBody>
      </p:sp>
      <p:sp>
        <p:nvSpPr>
          <p:cNvPr id="556" name="s556"/>
          <p:cNvSpPr/>
          <p:nvPr/>
        </p:nvSpPr>
        <p:spPr>
          <a:xfrm>
            <a:off x="9108440" y="54610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Payment terms</a:t>
            </a:r>
          </a:p>
        </p:txBody>
      </p:sp>
      <p:sp>
        <p:nvSpPr>
          <p:cNvPr id="557" name="s557"/>
          <p:cNvSpPr/>
          <p:nvPr/>
        </p:nvSpPr>
        <p:spPr>
          <a:xfrm>
            <a:off x="10482072" y="5461000"/>
            <a:ext cx="1267968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Net 30</a:t>
            </a:r>
          </a:p>
        </p:txBody>
      </p:sp>
      <p:sp>
        <p:nvSpPr>
          <p:cNvPr id="558" name="s558"/>
          <p:cNvSpPr/>
          <p:nvPr/>
        </p:nvSpPr>
        <p:spPr>
          <a:xfrm>
            <a:off x="9108440" y="56896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Average lead time</a:t>
            </a:r>
          </a:p>
        </p:txBody>
      </p:sp>
      <p:sp>
        <p:nvSpPr>
          <p:cNvPr id="559" name="s559"/>
          <p:cNvSpPr/>
          <p:nvPr/>
        </p:nvSpPr>
        <p:spPr>
          <a:xfrm>
            <a:off x="10482072" y="5689600"/>
            <a:ext cx="1267968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12 days</a:t>
            </a:r>
          </a:p>
        </p:txBody>
      </p:sp>
      <p:sp>
        <p:nvSpPr>
          <p:cNvPr id="560" name="s560"/>
          <p:cNvSpPr/>
          <p:nvPr/>
        </p:nvSpPr>
        <p:spPr>
          <a:xfrm>
            <a:off x="9108440" y="59182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Delivery reliability</a:t>
            </a:r>
          </a:p>
        </p:txBody>
      </p:sp>
      <p:sp>
        <p:nvSpPr>
          <p:cNvPr id="561" name="s561"/>
          <p:cNvSpPr/>
          <p:nvPr/>
        </p:nvSpPr>
        <p:spPr>
          <a:xfrm>
            <a:off x="10482072" y="5918200"/>
            <a:ext cx="1267968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E8E5A"/>
                </a:solidFill>
                <a:latin typeface="Calibri"/>
              </a:rPr>
              <a:t>94%</a:t>
            </a:r>
          </a:p>
        </p:txBody>
      </p:sp>
      <p:sp>
        <p:nvSpPr>
          <p:cNvPr id="562" name="s562"/>
          <p:cNvSpPr/>
          <p:nvPr/>
        </p:nvSpPr>
        <p:spPr>
          <a:xfrm>
            <a:off x="9108440" y="61468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Last received</a:t>
            </a:r>
          </a:p>
        </p:txBody>
      </p:sp>
      <p:sp>
        <p:nvSpPr>
          <p:cNvPr id="563" name="s563"/>
          <p:cNvSpPr/>
          <p:nvPr/>
        </p:nvSpPr>
        <p:spPr>
          <a:xfrm>
            <a:off x="10482072" y="6146800"/>
            <a:ext cx="1267968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28 Dec 2025</a:t>
            </a:r>
          </a:p>
        </p:txBody>
      </p:sp>
      <p:pic>
        <p:nvPicPr>
          <p:cNvPr id="564" name="Copied Picture 564">
            <a:extLst>
              <a:ext uri="{FF2B5EF4-FFF2-40B4-BE49-F238E27FC236}">
                <a16:creationId xmlns:a16="http://schemas.microsoft.com/office/drawing/2014/main" id="{5A200BD9-3D1A-A816-57EF-7B7211F2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3680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19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101600" y="1485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101600" y="1485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Products  ›  ABC Beginner Book  ›  Edit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Edit Product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584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BK-0142  ·  ABC Beginner Book  ·  last saved 7 Jan 2026, 09:14</a:t>
            </a:r>
          </a:p>
        </p:txBody>
      </p:sp>
      <p:sp>
        <p:nvSpPr>
          <p:cNvPr id="444" name="s444"/>
          <p:cNvSpPr/>
          <p:nvPr/>
        </p:nvSpPr>
        <p:spPr>
          <a:xfrm>
            <a:off x="10805160" y="812800"/>
            <a:ext cx="112776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805160" y="812800"/>
            <a:ext cx="112776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Save Changes</a:t>
            </a:r>
          </a:p>
        </p:txBody>
      </p:sp>
      <p:sp>
        <p:nvSpPr>
          <p:cNvPr id="446" name="s446"/>
          <p:cNvSpPr/>
          <p:nvPr/>
        </p:nvSpPr>
        <p:spPr>
          <a:xfrm>
            <a:off x="996188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96188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Cancel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320800"/>
            <a:ext cx="9784080" cy="381000"/>
          </a:xfrm>
          <a:prstGeom prst="roundRect">
            <a:avLst>
              <a:gd name="adj" fmla="val 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148840" y="1320800"/>
            <a:ext cx="31750" cy="3810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0" name="s450"/>
          <p:cNvSpPr/>
          <p:nvPr/>
        </p:nvSpPr>
        <p:spPr>
          <a:xfrm>
            <a:off x="2349500" y="1422400"/>
            <a:ext cx="177800" cy="1778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349500" y="1422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52" name="s452"/>
          <p:cNvSpPr/>
          <p:nvPr/>
        </p:nvSpPr>
        <p:spPr>
          <a:xfrm>
            <a:off x="2628900" y="13208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8A5A00"/>
                </a:solidFill>
                <a:latin typeface="Calibri"/>
              </a:rPr>
              <a:t>Unsaved changes — 3 fields modified</a:t>
            </a:r>
          </a:p>
        </p:txBody>
      </p:sp>
      <p:sp>
        <p:nvSpPr>
          <p:cNvPr id="453" name="s453"/>
          <p:cNvSpPr/>
          <p:nvPr/>
        </p:nvSpPr>
        <p:spPr>
          <a:xfrm>
            <a:off x="5461000" y="1320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5A00"/>
                </a:solidFill>
                <a:latin typeface="Calibri"/>
              </a:rPr>
              <a:t>Changes take effect on new orders only</a:t>
            </a:r>
          </a:p>
        </p:txBody>
      </p:sp>
      <p:sp>
        <p:nvSpPr>
          <p:cNvPr id="454" name="s454"/>
          <p:cNvSpPr/>
          <p:nvPr/>
        </p:nvSpPr>
        <p:spPr>
          <a:xfrm>
            <a:off x="9652000" y="1320800"/>
            <a:ext cx="101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Discard</a:t>
            </a:r>
          </a:p>
        </p:txBody>
      </p:sp>
      <p:sp>
        <p:nvSpPr>
          <p:cNvPr id="455" name="s455"/>
          <p:cNvSpPr/>
          <p:nvPr/>
        </p:nvSpPr>
        <p:spPr>
          <a:xfrm>
            <a:off x="10820400" y="1384300"/>
            <a:ext cx="939800" cy="254000"/>
          </a:xfrm>
          <a:prstGeom prst="roundRect">
            <a:avLst>
              <a:gd name="adj" fmla="val 12000"/>
            </a:avLst>
          </a:prstGeom>
          <a:solidFill>
            <a:srgbClr val="D0870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Review diff</a:t>
            </a:r>
          </a:p>
        </p:txBody>
      </p:sp>
      <p:sp>
        <p:nvSpPr>
          <p:cNvPr id="456" name="s456"/>
          <p:cNvSpPr/>
          <p:nvPr/>
        </p:nvSpPr>
        <p:spPr>
          <a:xfrm>
            <a:off x="2148840" y="1803400"/>
            <a:ext cx="6604000" cy="469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2326640" y="19431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Product Details</a:t>
            </a:r>
          </a:p>
        </p:txBody>
      </p:sp>
      <p:sp>
        <p:nvSpPr>
          <p:cNvPr id="458" name="s458"/>
          <p:cNvSpPr/>
          <p:nvPr/>
        </p:nvSpPr>
        <p:spPr>
          <a:xfrm>
            <a:off x="2326640" y="22352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PRODUCT INFORMATION</a:t>
            </a:r>
          </a:p>
        </p:txBody>
      </p:sp>
      <p:sp>
        <p:nvSpPr>
          <p:cNvPr id="459" name="s459"/>
          <p:cNvSpPr/>
          <p:nvPr/>
        </p:nvSpPr>
        <p:spPr>
          <a:xfrm>
            <a:off x="2326640" y="24257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2326640" y="24638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Product name</a:t>
            </a:r>
          </a:p>
        </p:txBody>
      </p:sp>
      <p:sp>
        <p:nvSpPr>
          <p:cNvPr id="461" name="s461"/>
          <p:cNvSpPr/>
          <p:nvPr/>
        </p:nvSpPr>
        <p:spPr>
          <a:xfrm>
            <a:off x="2326640" y="26289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2440940" y="26289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463" name="s463"/>
          <p:cNvSpPr/>
          <p:nvPr/>
        </p:nvSpPr>
        <p:spPr>
          <a:xfrm>
            <a:off x="5552440" y="24638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64" name="s464"/>
          <p:cNvSpPr/>
          <p:nvPr/>
        </p:nvSpPr>
        <p:spPr>
          <a:xfrm>
            <a:off x="5552440" y="26289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5666740" y="26289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8A93A0"/>
                </a:solidFill>
                <a:latin typeface="Arial"/>
              </a:rPr>
              <a:t>BK-0142</a:t>
            </a:r>
          </a:p>
        </p:txBody>
      </p:sp>
      <p:sp>
        <p:nvSpPr>
          <p:cNvPr id="466" name="s466"/>
          <p:cNvSpPr/>
          <p:nvPr/>
        </p:nvSpPr>
        <p:spPr>
          <a:xfrm>
            <a:off x="2326640" y="29337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Category</a:t>
            </a:r>
          </a:p>
        </p:txBody>
      </p:sp>
      <p:sp>
        <p:nvSpPr>
          <p:cNvPr id="467" name="s467"/>
          <p:cNvSpPr/>
          <p:nvPr/>
        </p:nvSpPr>
        <p:spPr>
          <a:xfrm>
            <a:off x="2326640" y="3098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8" name="s468"/>
          <p:cNvSpPr/>
          <p:nvPr/>
        </p:nvSpPr>
        <p:spPr>
          <a:xfrm>
            <a:off x="2440940" y="3098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Books</a:t>
            </a:r>
          </a:p>
        </p:txBody>
      </p:sp>
      <p:sp>
        <p:nvSpPr>
          <p:cNvPr id="469" name="s469"/>
          <p:cNvSpPr/>
          <p:nvPr/>
        </p:nvSpPr>
        <p:spPr>
          <a:xfrm rot="10800000">
            <a:off x="5158740" y="31940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5552440" y="29337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Brand</a:t>
            </a:r>
          </a:p>
        </p:txBody>
      </p:sp>
      <p:sp>
        <p:nvSpPr>
          <p:cNvPr id="471" name="s471"/>
          <p:cNvSpPr/>
          <p:nvPr/>
        </p:nvSpPr>
        <p:spPr>
          <a:xfrm>
            <a:off x="5552440" y="3098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5666740" y="3098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Lazy Pygmy Originals</a:t>
            </a:r>
          </a:p>
        </p:txBody>
      </p:sp>
      <p:sp>
        <p:nvSpPr>
          <p:cNvPr id="473" name="s473"/>
          <p:cNvSpPr/>
          <p:nvPr/>
        </p:nvSpPr>
        <p:spPr>
          <a:xfrm>
            <a:off x="2326640" y="3403600"/>
            <a:ext cx="6273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Description</a:t>
            </a:r>
          </a:p>
        </p:txBody>
      </p:sp>
      <p:sp>
        <p:nvSpPr>
          <p:cNvPr id="474" name="s474"/>
          <p:cNvSpPr/>
          <p:nvPr/>
        </p:nvSpPr>
        <p:spPr>
          <a:xfrm>
            <a:off x="3020060" y="3441700"/>
            <a:ext cx="76200" cy="762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7889240" y="3403600"/>
            <a:ext cx="711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modified</a:t>
            </a:r>
          </a:p>
        </p:txBody>
      </p:sp>
      <p:sp>
        <p:nvSpPr>
          <p:cNvPr id="476" name="s476"/>
          <p:cNvSpPr/>
          <p:nvPr/>
        </p:nvSpPr>
        <p:spPr>
          <a:xfrm>
            <a:off x="2326640" y="3568700"/>
            <a:ext cx="6273800" cy="38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0870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7" name="s477"/>
          <p:cNvSpPr/>
          <p:nvPr/>
        </p:nvSpPr>
        <p:spPr>
          <a:xfrm>
            <a:off x="2440940" y="3632200"/>
            <a:ext cx="5892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Beginner alphabet reader with 32 illustrated pages. Revised 2026 edition with new artwork.</a:t>
            </a:r>
          </a:p>
        </p:txBody>
      </p:sp>
      <p:sp>
        <p:nvSpPr>
          <p:cNvPr id="478" name="s478"/>
          <p:cNvSpPr/>
          <p:nvPr/>
        </p:nvSpPr>
        <p:spPr>
          <a:xfrm>
            <a:off x="2326640" y="40005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CLASSIFICATION</a:t>
            </a:r>
          </a:p>
        </p:txBody>
      </p:sp>
      <p:sp>
        <p:nvSpPr>
          <p:cNvPr id="479" name="s479"/>
          <p:cNvSpPr/>
          <p:nvPr/>
        </p:nvSpPr>
        <p:spPr>
          <a:xfrm>
            <a:off x="2326640" y="41910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0" name="s480"/>
          <p:cNvSpPr/>
          <p:nvPr/>
        </p:nvSpPr>
        <p:spPr>
          <a:xfrm>
            <a:off x="2326640" y="42291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Grade level</a:t>
            </a:r>
          </a:p>
        </p:txBody>
      </p:sp>
      <p:sp>
        <p:nvSpPr>
          <p:cNvPr id="481" name="s481"/>
          <p:cNvSpPr/>
          <p:nvPr/>
        </p:nvSpPr>
        <p:spPr>
          <a:xfrm>
            <a:off x="2326640" y="4394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2440940" y="43942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Nursery</a:t>
            </a:r>
          </a:p>
        </p:txBody>
      </p:sp>
      <p:sp>
        <p:nvSpPr>
          <p:cNvPr id="483" name="s483"/>
          <p:cNvSpPr/>
          <p:nvPr/>
        </p:nvSpPr>
        <p:spPr>
          <a:xfrm rot="10800000">
            <a:off x="5158740" y="44894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4" name="s484"/>
          <p:cNvSpPr/>
          <p:nvPr/>
        </p:nvSpPr>
        <p:spPr>
          <a:xfrm>
            <a:off x="5552440" y="42291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Age group</a:t>
            </a:r>
          </a:p>
        </p:txBody>
      </p:sp>
      <p:sp>
        <p:nvSpPr>
          <p:cNvPr id="485" name="s485"/>
          <p:cNvSpPr/>
          <p:nvPr/>
        </p:nvSpPr>
        <p:spPr>
          <a:xfrm>
            <a:off x="5552440" y="4394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6" name="s486"/>
          <p:cNvSpPr/>
          <p:nvPr/>
        </p:nvSpPr>
        <p:spPr>
          <a:xfrm>
            <a:off x="5666740" y="43942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3 – 5 years</a:t>
            </a:r>
          </a:p>
        </p:txBody>
      </p:sp>
      <p:sp>
        <p:nvSpPr>
          <p:cNvPr id="487" name="s487"/>
          <p:cNvSpPr/>
          <p:nvPr/>
        </p:nvSpPr>
        <p:spPr>
          <a:xfrm rot="10800000">
            <a:off x="8384540" y="44894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2326640" y="46990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Subject</a:t>
            </a:r>
          </a:p>
        </p:txBody>
      </p:sp>
      <p:sp>
        <p:nvSpPr>
          <p:cNvPr id="489" name="s489"/>
          <p:cNvSpPr/>
          <p:nvPr/>
        </p:nvSpPr>
        <p:spPr>
          <a:xfrm>
            <a:off x="2326640" y="4864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0" name="s490"/>
          <p:cNvSpPr/>
          <p:nvPr/>
        </p:nvSpPr>
        <p:spPr>
          <a:xfrm>
            <a:off x="2440940" y="48641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Early Literacy</a:t>
            </a:r>
          </a:p>
        </p:txBody>
      </p:sp>
      <p:sp>
        <p:nvSpPr>
          <p:cNvPr id="491" name="s491"/>
          <p:cNvSpPr/>
          <p:nvPr/>
        </p:nvSpPr>
        <p:spPr>
          <a:xfrm rot="10800000">
            <a:off x="5158740" y="49593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5552440" y="46990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Unit type</a:t>
            </a:r>
          </a:p>
        </p:txBody>
      </p:sp>
      <p:sp>
        <p:nvSpPr>
          <p:cNvPr id="493" name="s493"/>
          <p:cNvSpPr/>
          <p:nvPr/>
        </p:nvSpPr>
        <p:spPr>
          <a:xfrm>
            <a:off x="5552440" y="4864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4" name="s494"/>
          <p:cNvSpPr/>
          <p:nvPr/>
        </p:nvSpPr>
        <p:spPr>
          <a:xfrm>
            <a:off x="5666740" y="48641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Piece</a:t>
            </a:r>
          </a:p>
        </p:txBody>
      </p:sp>
      <p:sp>
        <p:nvSpPr>
          <p:cNvPr id="495" name="s495"/>
          <p:cNvSpPr/>
          <p:nvPr/>
        </p:nvSpPr>
        <p:spPr>
          <a:xfrm rot="10800000">
            <a:off x="8384540" y="49593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2326640" y="51689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PRICING &amp; STOCK</a:t>
            </a:r>
          </a:p>
        </p:txBody>
      </p:sp>
      <p:sp>
        <p:nvSpPr>
          <p:cNvPr id="497" name="s497"/>
          <p:cNvSpPr/>
          <p:nvPr/>
        </p:nvSpPr>
        <p:spPr>
          <a:xfrm>
            <a:off x="2326640" y="53594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2326640" y="53975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Cost price</a:t>
            </a:r>
          </a:p>
        </p:txBody>
      </p:sp>
      <p:sp>
        <p:nvSpPr>
          <p:cNvPr id="499" name="s499"/>
          <p:cNvSpPr/>
          <p:nvPr/>
        </p:nvSpPr>
        <p:spPr>
          <a:xfrm>
            <a:off x="2326640" y="55626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0" name="s500"/>
          <p:cNvSpPr/>
          <p:nvPr/>
        </p:nvSpPr>
        <p:spPr>
          <a:xfrm>
            <a:off x="2440940" y="5562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2.10</a:t>
            </a:r>
          </a:p>
        </p:txBody>
      </p:sp>
      <p:sp>
        <p:nvSpPr>
          <p:cNvPr id="501" name="s501"/>
          <p:cNvSpPr/>
          <p:nvPr/>
        </p:nvSpPr>
        <p:spPr>
          <a:xfrm>
            <a:off x="4968240" y="5562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USD</a:t>
            </a:r>
          </a:p>
        </p:txBody>
      </p:sp>
      <p:sp>
        <p:nvSpPr>
          <p:cNvPr id="502" name="s502"/>
          <p:cNvSpPr/>
          <p:nvPr/>
        </p:nvSpPr>
        <p:spPr>
          <a:xfrm>
            <a:off x="5552440" y="53975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Selling price</a:t>
            </a:r>
          </a:p>
        </p:txBody>
      </p:sp>
      <p:sp>
        <p:nvSpPr>
          <p:cNvPr id="503" name="s503"/>
          <p:cNvSpPr/>
          <p:nvPr/>
        </p:nvSpPr>
        <p:spPr>
          <a:xfrm>
            <a:off x="6362700" y="5435600"/>
            <a:ext cx="76200" cy="762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4" name="s504"/>
          <p:cNvSpPr/>
          <p:nvPr/>
        </p:nvSpPr>
        <p:spPr>
          <a:xfrm>
            <a:off x="7889240" y="5397500"/>
            <a:ext cx="711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modified</a:t>
            </a:r>
          </a:p>
        </p:txBody>
      </p:sp>
      <p:sp>
        <p:nvSpPr>
          <p:cNvPr id="505" name="s505"/>
          <p:cNvSpPr/>
          <p:nvPr/>
        </p:nvSpPr>
        <p:spPr>
          <a:xfrm>
            <a:off x="5552440" y="55626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0870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6" name="s506"/>
          <p:cNvSpPr/>
          <p:nvPr/>
        </p:nvSpPr>
        <p:spPr>
          <a:xfrm>
            <a:off x="5666740" y="5562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3.75</a:t>
            </a:r>
          </a:p>
        </p:txBody>
      </p:sp>
      <p:sp>
        <p:nvSpPr>
          <p:cNvPr id="507" name="s507"/>
          <p:cNvSpPr/>
          <p:nvPr/>
        </p:nvSpPr>
        <p:spPr>
          <a:xfrm>
            <a:off x="8194040" y="5562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USD</a:t>
            </a:r>
          </a:p>
        </p:txBody>
      </p:sp>
      <p:sp>
        <p:nvSpPr>
          <p:cNvPr id="508" name="s508"/>
          <p:cNvSpPr/>
          <p:nvPr/>
        </p:nvSpPr>
        <p:spPr>
          <a:xfrm>
            <a:off x="5552440" y="58420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8A93A0"/>
                </a:solidFill>
                <a:latin typeface="Calibri"/>
              </a:rPr>
              <a:t>Previously $3.50  ·  +7.1%</a:t>
            </a:r>
          </a:p>
        </p:txBody>
      </p:sp>
      <p:sp>
        <p:nvSpPr>
          <p:cNvPr id="509" name="s509"/>
          <p:cNvSpPr/>
          <p:nvPr/>
        </p:nvSpPr>
        <p:spPr>
          <a:xfrm>
            <a:off x="2326640" y="59690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Wholesale price</a:t>
            </a:r>
          </a:p>
        </p:txBody>
      </p:sp>
      <p:sp>
        <p:nvSpPr>
          <p:cNvPr id="510" name="s510"/>
          <p:cNvSpPr/>
          <p:nvPr/>
        </p:nvSpPr>
        <p:spPr>
          <a:xfrm>
            <a:off x="2326640" y="6134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1" name="s511"/>
          <p:cNvSpPr/>
          <p:nvPr/>
        </p:nvSpPr>
        <p:spPr>
          <a:xfrm>
            <a:off x="2440940" y="61341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2.95</a:t>
            </a:r>
          </a:p>
        </p:txBody>
      </p:sp>
      <p:sp>
        <p:nvSpPr>
          <p:cNvPr id="512" name="s512"/>
          <p:cNvSpPr/>
          <p:nvPr/>
        </p:nvSpPr>
        <p:spPr>
          <a:xfrm>
            <a:off x="4968240" y="61341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USD</a:t>
            </a:r>
          </a:p>
        </p:txBody>
      </p:sp>
      <p:sp>
        <p:nvSpPr>
          <p:cNvPr id="513" name="s513"/>
          <p:cNvSpPr/>
          <p:nvPr/>
        </p:nvSpPr>
        <p:spPr>
          <a:xfrm>
            <a:off x="5552440" y="59690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Reorder level</a:t>
            </a:r>
          </a:p>
        </p:txBody>
      </p:sp>
      <p:sp>
        <p:nvSpPr>
          <p:cNvPr id="514" name="s514"/>
          <p:cNvSpPr/>
          <p:nvPr/>
        </p:nvSpPr>
        <p:spPr>
          <a:xfrm>
            <a:off x="6362700" y="6007100"/>
            <a:ext cx="76200" cy="762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5" name="s515"/>
          <p:cNvSpPr/>
          <p:nvPr/>
        </p:nvSpPr>
        <p:spPr>
          <a:xfrm>
            <a:off x="7889240" y="5969000"/>
            <a:ext cx="711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modified</a:t>
            </a:r>
          </a:p>
        </p:txBody>
      </p:sp>
      <p:sp>
        <p:nvSpPr>
          <p:cNvPr id="516" name="s516"/>
          <p:cNvSpPr/>
          <p:nvPr/>
        </p:nvSpPr>
        <p:spPr>
          <a:xfrm>
            <a:off x="5552440" y="6134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0870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7" name="s517"/>
          <p:cNvSpPr/>
          <p:nvPr/>
        </p:nvSpPr>
        <p:spPr>
          <a:xfrm>
            <a:off x="5666740" y="61341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250</a:t>
            </a:r>
          </a:p>
        </p:txBody>
      </p:sp>
      <p:sp>
        <p:nvSpPr>
          <p:cNvPr id="518" name="s518"/>
          <p:cNvSpPr/>
          <p:nvPr/>
        </p:nvSpPr>
        <p:spPr>
          <a:xfrm>
            <a:off x="8194040" y="61341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pcs</a:t>
            </a:r>
          </a:p>
        </p:txBody>
      </p:sp>
      <p:sp>
        <p:nvSpPr>
          <p:cNvPr id="519" name="s519"/>
          <p:cNvSpPr/>
          <p:nvPr/>
        </p:nvSpPr>
        <p:spPr>
          <a:xfrm>
            <a:off x="8930640" y="1803400"/>
            <a:ext cx="3002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s520"/>
          <p:cNvSpPr/>
          <p:nvPr/>
        </p:nvSpPr>
        <p:spPr>
          <a:xfrm>
            <a:off x="9108440" y="1943100"/>
            <a:ext cx="1478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Product Image</a:t>
            </a:r>
          </a:p>
        </p:txBody>
      </p:sp>
      <p:sp>
        <p:nvSpPr>
          <p:cNvPr id="521" name="s521"/>
          <p:cNvSpPr/>
          <p:nvPr/>
        </p:nvSpPr>
        <p:spPr>
          <a:xfrm>
            <a:off x="9108440" y="2159000"/>
            <a:ext cx="1117600" cy="11176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9283700" y="2413000"/>
            <a:ext cx="762000" cy="889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9283700" y="2578100"/>
            <a:ext cx="558800" cy="889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s524"/>
          <p:cNvSpPr/>
          <p:nvPr/>
        </p:nvSpPr>
        <p:spPr>
          <a:xfrm>
            <a:off x="9283700" y="2743200"/>
            <a:ext cx="762000" cy="889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9108440" y="3327400"/>
            <a:ext cx="1117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0" spc="0" dirty="0">
                <a:solidFill>
                  <a:srgbClr val="5B6572"/>
                </a:solidFill>
                <a:latin typeface="Arial"/>
              </a:rPr>
              <a:t>BK-0142.jpg</a:t>
            </a:r>
          </a:p>
        </p:txBody>
      </p:sp>
      <p:sp>
        <p:nvSpPr>
          <p:cNvPr id="526" name="s526"/>
          <p:cNvSpPr/>
          <p:nvPr/>
        </p:nvSpPr>
        <p:spPr>
          <a:xfrm>
            <a:off x="10350500" y="2159000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Current image</a:t>
            </a:r>
          </a:p>
        </p:txBody>
      </p:sp>
      <p:sp>
        <p:nvSpPr>
          <p:cNvPr id="527" name="s527"/>
          <p:cNvSpPr/>
          <p:nvPr/>
        </p:nvSpPr>
        <p:spPr>
          <a:xfrm>
            <a:off x="10350500" y="23368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820 × 820 px</a:t>
            </a:r>
          </a:p>
        </p:txBody>
      </p:sp>
      <p:sp>
        <p:nvSpPr>
          <p:cNvPr id="528" name="s528"/>
          <p:cNvSpPr/>
          <p:nvPr/>
        </p:nvSpPr>
        <p:spPr>
          <a:xfrm>
            <a:off x="10350500" y="24892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142 KB · JPG</a:t>
            </a:r>
          </a:p>
        </p:txBody>
      </p:sp>
      <p:sp>
        <p:nvSpPr>
          <p:cNvPr id="529" name="s529"/>
          <p:cNvSpPr/>
          <p:nvPr/>
        </p:nvSpPr>
        <p:spPr>
          <a:xfrm>
            <a:off x="10350500" y="2717800"/>
            <a:ext cx="1320800" cy="25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Replace</a:t>
            </a:r>
          </a:p>
        </p:txBody>
      </p:sp>
      <p:sp>
        <p:nvSpPr>
          <p:cNvPr id="530" name="s530"/>
          <p:cNvSpPr/>
          <p:nvPr/>
        </p:nvSpPr>
        <p:spPr>
          <a:xfrm>
            <a:off x="10350500" y="3022600"/>
            <a:ext cx="1320800" cy="25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B3261E"/>
                </a:solidFill>
                <a:latin typeface="Calibri"/>
              </a:rPr>
              <a:t>Remove</a:t>
            </a:r>
          </a:p>
        </p:txBody>
      </p:sp>
      <p:sp>
        <p:nvSpPr>
          <p:cNvPr id="531" name="s531"/>
          <p:cNvSpPr/>
          <p:nvPr/>
        </p:nvSpPr>
        <p:spPr>
          <a:xfrm>
            <a:off x="9108440" y="3581400"/>
            <a:ext cx="264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Replacing the image updates every order form immediately.</a:t>
            </a:r>
          </a:p>
        </p:txBody>
      </p:sp>
      <p:sp>
        <p:nvSpPr>
          <p:cNvPr id="532" name="s532"/>
          <p:cNvSpPr/>
          <p:nvPr/>
        </p:nvSpPr>
        <p:spPr>
          <a:xfrm>
            <a:off x="8930640" y="4267200"/>
            <a:ext cx="3002280" cy="223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3" name="s533"/>
          <p:cNvSpPr/>
          <p:nvPr/>
        </p:nvSpPr>
        <p:spPr>
          <a:xfrm>
            <a:off x="9108440" y="4406900"/>
            <a:ext cx="1478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Organisation</a:t>
            </a:r>
          </a:p>
        </p:txBody>
      </p:sp>
      <p:sp>
        <p:nvSpPr>
          <p:cNvPr id="534" name="s534"/>
          <p:cNvSpPr/>
          <p:nvPr/>
        </p:nvSpPr>
        <p:spPr>
          <a:xfrm>
            <a:off x="9108440" y="46482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Warehouse</a:t>
            </a:r>
          </a:p>
        </p:txBody>
      </p:sp>
      <p:sp>
        <p:nvSpPr>
          <p:cNvPr id="535" name="s535"/>
          <p:cNvSpPr/>
          <p:nvPr/>
        </p:nvSpPr>
        <p:spPr>
          <a:xfrm>
            <a:off x="9108440" y="4813300"/>
            <a:ext cx="26416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6" name="s536"/>
          <p:cNvSpPr/>
          <p:nvPr/>
        </p:nvSpPr>
        <p:spPr>
          <a:xfrm>
            <a:off x="9222740" y="4813300"/>
            <a:ext cx="226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WH-01 Central Warehouse</a:t>
            </a:r>
          </a:p>
        </p:txBody>
      </p:sp>
      <p:sp>
        <p:nvSpPr>
          <p:cNvPr id="537" name="s537"/>
          <p:cNvSpPr/>
          <p:nvPr/>
        </p:nvSpPr>
        <p:spPr>
          <a:xfrm rot="10800000">
            <a:off x="11534140" y="49085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9108440" y="51181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Supplier</a:t>
            </a:r>
          </a:p>
        </p:txBody>
      </p:sp>
      <p:sp>
        <p:nvSpPr>
          <p:cNvPr id="539" name="s539"/>
          <p:cNvSpPr/>
          <p:nvPr/>
        </p:nvSpPr>
        <p:spPr>
          <a:xfrm>
            <a:off x="9108440" y="5283200"/>
            <a:ext cx="26416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0" name="s540"/>
          <p:cNvSpPr/>
          <p:nvPr/>
        </p:nvSpPr>
        <p:spPr>
          <a:xfrm>
            <a:off x="9222740" y="5283200"/>
            <a:ext cx="226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SUP-007 Kakata Paper Mills</a:t>
            </a:r>
          </a:p>
        </p:txBody>
      </p:sp>
      <p:sp>
        <p:nvSpPr>
          <p:cNvPr id="541" name="s541"/>
          <p:cNvSpPr/>
          <p:nvPr/>
        </p:nvSpPr>
        <p:spPr>
          <a:xfrm rot="10800000">
            <a:off x="11534140" y="53784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2" name="s542"/>
          <p:cNvSpPr/>
          <p:nvPr/>
        </p:nvSpPr>
        <p:spPr>
          <a:xfrm>
            <a:off x="9108440" y="5588000"/>
            <a:ext cx="127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Max stock</a:t>
            </a:r>
          </a:p>
        </p:txBody>
      </p:sp>
      <p:sp>
        <p:nvSpPr>
          <p:cNvPr id="543" name="s543"/>
          <p:cNvSpPr/>
          <p:nvPr/>
        </p:nvSpPr>
        <p:spPr>
          <a:xfrm>
            <a:off x="9108440" y="5753100"/>
            <a:ext cx="1270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4" name="s544"/>
          <p:cNvSpPr/>
          <p:nvPr/>
        </p:nvSpPr>
        <p:spPr>
          <a:xfrm>
            <a:off x="9222740" y="57531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2,000</a:t>
            </a:r>
          </a:p>
        </p:txBody>
      </p:sp>
      <p:sp>
        <p:nvSpPr>
          <p:cNvPr id="545" name="s545"/>
          <p:cNvSpPr/>
          <p:nvPr/>
        </p:nvSpPr>
        <p:spPr>
          <a:xfrm>
            <a:off x="10480040" y="5588000"/>
            <a:ext cx="127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546" name="s546"/>
          <p:cNvSpPr/>
          <p:nvPr/>
        </p:nvSpPr>
        <p:spPr>
          <a:xfrm>
            <a:off x="10480040" y="5753100"/>
            <a:ext cx="1270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7" name="s547"/>
          <p:cNvSpPr/>
          <p:nvPr/>
        </p:nvSpPr>
        <p:spPr>
          <a:xfrm>
            <a:off x="10594340" y="57531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In Stock</a:t>
            </a:r>
          </a:p>
        </p:txBody>
      </p:sp>
      <p:sp>
        <p:nvSpPr>
          <p:cNvPr id="548" name="s548"/>
          <p:cNvSpPr/>
          <p:nvPr/>
        </p:nvSpPr>
        <p:spPr>
          <a:xfrm rot="10800000">
            <a:off x="11534140" y="58483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9" name="s549"/>
          <p:cNvSpPr/>
          <p:nvPr/>
        </p:nvSpPr>
        <p:spPr>
          <a:xfrm>
            <a:off x="9108440" y="61214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0" name="s550"/>
          <p:cNvSpPr/>
          <p:nvPr/>
        </p:nvSpPr>
        <p:spPr>
          <a:xfrm>
            <a:off x="9108440" y="6210300"/>
            <a:ext cx="203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Published to catalogue</a:t>
            </a:r>
          </a:p>
        </p:txBody>
      </p:sp>
      <p:sp>
        <p:nvSpPr>
          <p:cNvPr id="551" name="s551"/>
          <p:cNvSpPr/>
          <p:nvPr/>
        </p:nvSpPr>
        <p:spPr>
          <a:xfrm>
            <a:off x="11417300" y="6223000"/>
            <a:ext cx="330200" cy="177800"/>
          </a:xfrm>
          <a:prstGeom prst="roundRect">
            <a:avLst>
              <a:gd name="adj" fmla="val 50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2" name="s552"/>
          <p:cNvSpPr/>
          <p:nvPr/>
        </p:nvSpPr>
        <p:spPr>
          <a:xfrm>
            <a:off x="11582400" y="6242050"/>
            <a:ext cx="139700" cy="139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553" name="Copied Picture 553">
            <a:extLst>
              <a:ext uri="{FF2B5EF4-FFF2-40B4-BE49-F238E27FC236}">
                <a16:creationId xmlns:a16="http://schemas.microsoft.com/office/drawing/2014/main" id="{5A200BD9-3D1A-A816-57EF-7B7211F2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3680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0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101600" y="1485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101600" y="1485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Products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8128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Products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143000"/>
            <a:ext cx="584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245 products  ·  18 low stock  ·  7 out of stock</a:t>
            </a:r>
          </a:p>
        </p:txBody>
      </p:sp>
      <p:sp>
        <p:nvSpPr>
          <p:cNvPr id="444" name="s444"/>
          <p:cNvSpPr/>
          <p:nvPr/>
        </p:nvSpPr>
        <p:spPr>
          <a:xfrm>
            <a:off x="10485120" y="838200"/>
            <a:ext cx="144780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Add Product</a:t>
            </a:r>
          </a:p>
        </p:txBody>
      </p:sp>
      <p:sp>
        <p:nvSpPr>
          <p:cNvPr id="445" name="s445"/>
          <p:cNvSpPr/>
          <p:nvPr/>
        </p:nvSpPr>
        <p:spPr>
          <a:xfrm>
            <a:off x="2148840" y="1422400"/>
            <a:ext cx="978408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6" name="s446"/>
          <p:cNvSpPr/>
          <p:nvPr/>
        </p:nvSpPr>
        <p:spPr>
          <a:xfrm>
            <a:off x="2148840" y="1422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2326640" y="1422400"/>
            <a:ext cx="736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48" name="s448"/>
          <p:cNvSpPr/>
          <p:nvPr/>
        </p:nvSpPr>
        <p:spPr>
          <a:xfrm>
            <a:off x="3241040" y="1422400"/>
            <a:ext cx="241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49" name="s449"/>
          <p:cNvSpPr/>
          <p:nvPr/>
        </p:nvSpPr>
        <p:spPr>
          <a:xfrm>
            <a:off x="5831840" y="14224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CATEGORY</a:t>
            </a:r>
          </a:p>
        </p:txBody>
      </p:sp>
      <p:sp>
        <p:nvSpPr>
          <p:cNvPr id="450" name="s450"/>
          <p:cNvSpPr/>
          <p:nvPr/>
        </p:nvSpPr>
        <p:spPr>
          <a:xfrm>
            <a:off x="7178040" y="14224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WAREHOUSE</a:t>
            </a:r>
          </a:p>
        </p:txBody>
      </p:sp>
      <p:sp>
        <p:nvSpPr>
          <p:cNvPr id="451" name="s451"/>
          <p:cNvSpPr/>
          <p:nvPr/>
        </p:nvSpPr>
        <p:spPr>
          <a:xfrm>
            <a:off x="8524240" y="14224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PRICE</a:t>
            </a:r>
          </a:p>
        </p:txBody>
      </p:sp>
      <p:sp>
        <p:nvSpPr>
          <p:cNvPr id="452" name="s452"/>
          <p:cNvSpPr/>
          <p:nvPr/>
        </p:nvSpPr>
        <p:spPr>
          <a:xfrm>
            <a:off x="9413240" y="14224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QTY</a:t>
            </a:r>
          </a:p>
        </p:txBody>
      </p:sp>
      <p:sp>
        <p:nvSpPr>
          <p:cNvPr id="453" name="s453"/>
          <p:cNvSpPr/>
          <p:nvPr/>
        </p:nvSpPr>
        <p:spPr>
          <a:xfrm>
            <a:off x="10226040" y="1422400"/>
            <a:ext cx="1016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54" name="s454"/>
          <p:cNvSpPr/>
          <p:nvPr/>
        </p:nvSpPr>
        <p:spPr>
          <a:xfrm>
            <a:off x="2148840" y="1987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2148840" y="17272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6" name="s456"/>
          <p:cNvSpPr/>
          <p:nvPr/>
        </p:nvSpPr>
        <p:spPr>
          <a:xfrm>
            <a:off x="2326640" y="16891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BK-0142</a:t>
            </a:r>
          </a:p>
        </p:txBody>
      </p:sp>
      <p:sp>
        <p:nvSpPr>
          <p:cNvPr id="457" name="s457"/>
          <p:cNvSpPr/>
          <p:nvPr/>
        </p:nvSpPr>
        <p:spPr>
          <a:xfrm>
            <a:off x="3241040" y="16891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460" name="s460"/>
          <p:cNvSpPr/>
          <p:nvPr/>
        </p:nvSpPr>
        <p:spPr>
          <a:xfrm>
            <a:off x="8524240" y="16891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$3.50</a:t>
            </a:r>
          </a:p>
        </p:txBody>
      </p:sp>
      <p:sp>
        <p:nvSpPr>
          <p:cNvPr id="461" name="s461"/>
          <p:cNvSpPr/>
          <p:nvPr/>
        </p:nvSpPr>
        <p:spPr>
          <a:xfrm>
            <a:off x="9413240" y="16891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462" name="s462"/>
          <p:cNvSpPr/>
          <p:nvPr/>
        </p:nvSpPr>
        <p:spPr>
          <a:xfrm>
            <a:off x="10226040" y="17526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10226040" y="17526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464" name="s464"/>
          <p:cNvSpPr/>
          <p:nvPr/>
        </p:nvSpPr>
        <p:spPr>
          <a:xfrm>
            <a:off x="2148840" y="2292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2148840" y="20320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2326640" y="1993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BK-0148</a:t>
            </a:r>
          </a:p>
        </p:txBody>
      </p:sp>
      <p:sp>
        <p:nvSpPr>
          <p:cNvPr id="467" name="s467"/>
          <p:cNvSpPr/>
          <p:nvPr/>
        </p:nvSpPr>
        <p:spPr>
          <a:xfrm>
            <a:off x="3241040" y="19939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My First Mathematics Book</a:t>
            </a:r>
          </a:p>
        </p:txBody>
      </p:sp>
      <p:sp>
        <p:nvSpPr>
          <p:cNvPr id="470" name="s470"/>
          <p:cNvSpPr/>
          <p:nvPr/>
        </p:nvSpPr>
        <p:spPr>
          <a:xfrm>
            <a:off x="8524240" y="19939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$4.00</a:t>
            </a:r>
          </a:p>
        </p:txBody>
      </p:sp>
      <p:sp>
        <p:nvSpPr>
          <p:cNvPr id="471" name="s471"/>
          <p:cNvSpPr/>
          <p:nvPr/>
        </p:nvSpPr>
        <p:spPr>
          <a:xfrm>
            <a:off x="9413240" y="1993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860</a:t>
            </a:r>
          </a:p>
        </p:txBody>
      </p:sp>
      <p:sp>
        <p:nvSpPr>
          <p:cNvPr id="472" name="s472"/>
          <p:cNvSpPr/>
          <p:nvPr/>
        </p:nvSpPr>
        <p:spPr>
          <a:xfrm>
            <a:off x="10226040" y="20574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3" name="s473"/>
          <p:cNvSpPr/>
          <p:nvPr/>
        </p:nvSpPr>
        <p:spPr>
          <a:xfrm>
            <a:off x="10226040" y="20574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474" name="s474"/>
          <p:cNvSpPr/>
          <p:nvPr/>
        </p:nvSpPr>
        <p:spPr>
          <a:xfrm>
            <a:off x="2148840" y="2597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2148840" y="23368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6" name="s476"/>
          <p:cNvSpPr/>
          <p:nvPr/>
        </p:nvSpPr>
        <p:spPr>
          <a:xfrm>
            <a:off x="2326640" y="22987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BK-0151</a:t>
            </a:r>
          </a:p>
        </p:txBody>
      </p:sp>
      <p:sp>
        <p:nvSpPr>
          <p:cNvPr id="477" name="s477"/>
          <p:cNvSpPr/>
          <p:nvPr/>
        </p:nvSpPr>
        <p:spPr>
          <a:xfrm>
            <a:off x="3241040" y="22987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Early Reading Level 1</a:t>
            </a:r>
          </a:p>
        </p:txBody>
      </p:sp>
      <p:sp>
        <p:nvSpPr>
          <p:cNvPr id="480" name="s480"/>
          <p:cNvSpPr/>
          <p:nvPr/>
        </p:nvSpPr>
        <p:spPr>
          <a:xfrm>
            <a:off x="8524240" y="2298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$3.75</a:t>
            </a:r>
          </a:p>
        </p:txBody>
      </p:sp>
      <p:sp>
        <p:nvSpPr>
          <p:cNvPr id="481" name="s481"/>
          <p:cNvSpPr/>
          <p:nvPr/>
        </p:nvSpPr>
        <p:spPr>
          <a:xfrm>
            <a:off x="9413240" y="22987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640</a:t>
            </a:r>
          </a:p>
        </p:txBody>
      </p:sp>
      <p:sp>
        <p:nvSpPr>
          <p:cNvPr id="482" name="s482"/>
          <p:cNvSpPr/>
          <p:nvPr/>
        </p:nvSpPr>
        <p:spPr>
          <a:xfrm>
            <a:off x="10226040" y="23622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10226040" y="23622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484" name="s484"/>
          <p:cNvSpPr/>
          <p:nvPr/>
        </p:nvSpPr>
        <p:spPr>
          <a:xfrm>
            <a:off x="2148840" y="2901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2148840" y="26416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6" name="s486"/>
          <p:cNvSpPr/>
          <p:nvPr/>
        </p:nvSpPr>
        <p:spPr>
          <a:xfrm>
            <a:off x="2326640" y="26035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BK-0156</a:t>
            </a:r>
          </a:p>
        </p:txBody>
      </p:sp>
      <p:sp>
        <p:nvSpPr>
          <p:cNvPr id="487" name="s487"/>
          <p:cNvSpPr/>
          <p:nvPr/>
        </p:nvSpPr>
        <p:spPr>
          <a:xfrm>
            <a:off x="3241040" y="26035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Science Discovery Book</a:t>
            </a:r>
          </a:p>
        </p:txBody>
      </p:sp>
      <p:sp>
        <p:nvSpPr>
          <p:cNvPr id="490" name="s490"/>
          <p:cNvSpPr/>
          <p:nvPr/>
        </p:nvSpPr>
        <p:spPr>
          <a:xfrm>
            <a:off x="8524240" y="2603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$4.60</a:t>
            </a:r>
          </a:p>
        </p:txBody>
      </p:sp>
      <p:sp>
        <p:nvSpPr>
          <p:cNvPr id="491" name="s491"/>
          <p:cNvSpPr/>
          <p:nvPr/>
        </p:nvSpPr>
        <p:spPr>
          <a:xfrm>
            <a:off x="9413240" y="26035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112</a:t>
            </a:r>
          </a:p>
        </p:txBody>
      </p:sp>
      <p:sp>
        <p:nvSpPr>
          <p:cNvPr id="492" name="s492"/>
          <p:cNvSpPr/>
          <p:nvPr/>
        </p:nvSpPr>
        <p:spPr>
          <a:xfrm>
            <a:off x="10226040" y="26670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10226040" y="26670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494" name="s494"/>
          <p:cNvSpPr/>
          <p:nvPr/>
        </p:nvSpPr>
        <p:spPr>
          <a:xfrm>
            <a:off x="2148840" y="3206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2148840" y="29464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2326640" y="29083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PZ-0088</a:t>
            </a:r>
          </a:p>
        </p:txBody>
      </p:sp>
      <p:sp>
        <p:nvSpPr>
          <p:cNvPr id="497" name="s497"/>
          <p:cNvSpPr/>
          <p:nvPr/>
        </p:nvSpPr>
        <p:spPr>
          <a:xfrm>
            <a:off x="3241040" y="29083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500" name="s500"/>
          <p:cNvSpPr/>
          <p:nvPr/>
        </p:nvSpPr>
        <p:spPr>
          <a:xfrm>
            <a:off x="8524240" y="2908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$5.75</a:t>
            </a:r>
          </a:p>
        </p:txBody>
      </p:sp>
      <p:sp>
        <p:nvSpPr>
          <p:cNvPr id="501" name="s501"/>
          <p:cNvSpPr/>
          <p:nvPr/>
        </p:nvSpPr>
        <p:spPr>
          <a:xfrm>
            <a:off x="9413240" y="29083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502" name="s502"/>
          <p:cNvSpPr/>
          <p:nvPr/>
        </p:nvSpPr>
        <p:spPr>
          <a:xfrm>
            <a:off x="10226040" y="29718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10226040" y="29718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04" name="s504"/>
          <p:cNvSpPr/>
          <p:nvPr/>
        </p:nvSpPr>
        <p:spPr>
          <a:xfrm>
            <a:off x="2148840" y="3511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2148840" y="32512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6" name="s506"/>
          <p:cNvSpPr/>
          <p:nvPr/>
        </p:nvSpPr>
        <p:spPr>
          <a:xfrm>
            <a:off x="2326640" y="32131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PZ-0091</a:t>
            </a:r>
          </a:p>
        </p:txBody>
      </p:sp>
      <p:sp>
        <p:nvSpPr>
          <p:cNvPr id="507" name="s507"/>
          <p:cNvSpPr/>
          <p:nvPr/>
        </p:nvSpPr>
        <p:spPr>
          <a:xfrm>
            <a:off x="3241040" y="32131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Numbers Puzzle</a:t>
            </a:r>
          </a:p>
        </p:txBody>
      </p:sp>
      <p:sp>
        <p:nvSpPr>
          <p:cNvPr id="510" name="s510"/>
          <p:cNvSpPr/>
          <p:nvPr/>
        </p:nvSpPr>
        <p:spPr>
          <a:xfrm>
            <a:off x="8524240" y="32131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$5.40</a:t>
            </a:r>
          </a:p>
        </p:txBody>
      </p:sp>
      <p:sp>
        <p:nvSpPr>
          <p:cNvPr id="511" name="s511"/>
          <p:cNvSpPr/>
          <p:nvPr/>
        </p:nvSpPr>
        <p:spPr>
          <a:xfrm>
            <a:off x="9413240" y="32131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42</a:t>
            </a:r>
          </a:p>
        </p:txBody>
      </p:sp>
      <p:sp>
        <p:nvSpPr>
          <p:cNvPr id="512" name="s512"/>
          <p:cNvSpPr/>
          <p:nvPr/>
        </p:nvSpPr>
        <p:spPr>
          <a:xfrm>
            <a:off x="10226040" y="32766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10226040" y="32766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14" name="s514"/>
          <p:cNvSpPr/>
          <p:nvPr/>
        </p:nvSpPr>
        <p:spPr>
          <a:xfrm>
            <a:off x="2148840" y="3816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5" name="s515"/>
          <p:cNvSpPr/>
          <p:nvPr/>
        </p:nvSpPr>
        <p:spPr>
          <a:xfrm>
            <a:off x="2148840" y="35560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6" name="s516"/>
          <p:cNvSpPr/>
          <p:nvPr/>
        </p:nvSpPr>
        <p:spPr>
          <a:xfrm>
            <a:off x="2326640" y="3517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AC-0031</a:t>
            </a:r>
          </a:p>
        </p:txBody>
      </p:sp>
      <p:sp>
        <p:nvSpPr>
          <p:cNvPr id="517" name="s517"/>
          <p:cNvSpPr/>
          <p:nvPr/>
        </p:nvSpPr>
        <p:spPr>
          <a:xfrm>
            <a:off x="3241040" y="35179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English Alphabet Flashcards</a:t>
            </a:r>
          </a:p>
        </p:txBody>
      </p:sp>
      <p:sp>
        <p:nvSpPr>
          <p:cNvPr id="520" name="s520"/>
          <p:cNvSpPr/>
          <p:nvPr/>
        </p:nvSpPr>
        <p:spPr>
          <a:xfrm>
            <a:off x="8524240" y="35179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$2.90</a:t>
            </a:r>
          </a:p>
        </p:txBody>
      </p:sp>
      <p:sp>
        <p:nvSpPr>
          <p:cNvPr id="521" name="s521"/>
          <p:cNvSpPr/>
          <p:nvPr/>
        </p:nvSpPr>
        <p:spPr>
          <a:xfrm>
            <a:off x="9413240" y="35179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0</a:t>
            </a:r>
          </a:p>
        </p:txBody>
      </p:sp>
      <p:sp>
        <p:nvSpPr>
          <p:cNvPr id="522" name="s522"/>
          <p:cNvSpPr/>
          <p:nvPr/>
        </p:nvSpPr>
        <p:spPr>
          <a:xfrm>
            <a:off x="10226040" y="35814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10226040" y="35814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B3261E"/>
                </a:solidFill>
                <a:latin typeface="Calibri"/>
              </a:rPr>
              <a:t>Out of Stock</a:t>
            </a:r>
          </a:p>
        </p:txBody>
      </p:sp>
      <p:sp>
        <p:nvSpPr>
          <p:cNvPr id="524" name="s524"/>
          <p:cNvSpPr/>
          <p:nvPr/>
        </p:nvSpPr>
        <p:spPr>
          <a:xfrm>
            <a:off x="2148840" y="4121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2148840" y="38608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2326640" y="38227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GC-0057</a:t>
            </a:r>
          </a:p>
        </p:txBody>
      </p:sp>
      <p:sp>
        <p:nvSpPr>
          <p:cNvPr id="527" name="s527"/>
          <p:cNvSpPr/>
          <p:nvPr/>
        </p:nvSpPr>
        <p:spPr>
          <a:xfrm>
            <a:off x="3241040" y="38227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Memory Matching Cards</a:t>
            </a:r>
          </a:p>
        </p:txBody>
      </p:sp>
      <p:sp>
        <p:nvSpPr>
          <p:cNvPr id="530" name="s530"/>
          <p:cNvSpPr/>
          <p:nvPr/>
        </p:nvSpPr>
        <p:spPr>
          <a:xfrm>
            <a:off x="8524240" y="3822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$3.40</a:t>
            </a:r>
          </a:p>
        </p:txBody>
      </p:sp>
      <p:sp>
        <p:nvSpPr>
          <p:cNvPr id="531" name="s531"/>
          <p:cNvSpPr/>
          <p:nvPr/>
        </p:nvSpPr>
        <p:spPr>
          <a:xfrm>
            <a:off x="9413240" y="38227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312</a:t>
            </a:r>
          </a:p>
        </p:txBody>
      </p:sp>
      <p:sp>
        <p:nvSpPr>
          <p:cNvPr id="532" name="s532"/>
          <p:cNvSpPr/>
          <p:nvPr/>
        </p:nvSpPr>
        <p:spPr>
          <a:xfrm>
            <a:off x="10226040" y="38862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3" name="s533"/>
          <p:cNvSpPr/>
          <p:nvPr/>
        </p:nvSpPr>
        <p:spPr>
          <a:xfrm>
            <a:off x="10226040" y="38862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34" name="s534"/>
          <p:cNvSpPr/>
          <p:nvPr/>
        </p:nvSpPr>
        <p:spPr>
          <a:xfrm>
            <a:off x="2148840" y="4425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5" name="s535"/>
          <p:cNvSpPr/>
          <p:nvPr/>
        </p:nvSpPr>
        <p:spPr>
          <a:xfrm>
            <a:off x="2148840" y="41656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6" name="s536"/>
          <p:cNvSpPr/>
          <p:nvPr/>
        </p:nvSpPr>
        <p:spPr>
          <a:xfrm>
            <a:off x="2326640" y="41275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CB-0104</a:t>
            </a:r>
          </a:p>
        </p:txBody>
      </p:sp>
      <p:sp>
        <p:nvSpPr>
          <p:cNvPr id="537" name="s537"/>
          <p:cNvSpPr/>
          <p:nvPr/>
        </p:nvSpPr>
        <p:spPr>
          <a:xfrm>
            <a:off x="3241040" y="41275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Handwriting Copybook</a:t>
            </a:r>
          </a:p>
        </p:txBody>
      </p:sp>
      <p:sp>
        <p:nvSpPr>
          <p:cNvPr id="540" name="s540"/>
          <p:cNvSpPr/>
          <p:nvPr/>
        </p:nvSpPr>
        <p:spPr>
          <a:xfrm>
            <a:off x="8524240" y="4127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$1.60</a:t>
            </a:r>
          </a:p>
        </p:txBody>
      </p:sp>
      <p:sp>
        <p:nvSpPr>
          <p:cNvPr id="541" name="s541"/>
          <p:cNvSpPr/>
          <p:nvPr/>
        </p:nvSpPr>
        <p:spPr>
          <a:xfrm>
            <a:off x="9413240" y="41275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940</a:t>
            </a:r>
          </a:p>
        </p:txBody>
      </p:sp>
      <p:sp>
        <p:nvSpPr>
          <p:cNvPr id="542" name="s542"/>
          <p:cNvSpPr/>
          <p:nvPr/>
        </p:nvSpPr>
        <p:spPr>
          <a:xfrm>
            <a:off x="10226040" y="41910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10226040" y="41910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44" name="s544"/>
          <p:cNvSpPr/>
          <p:nvPr/>
        </p:nvSpPr>
        <p:spPr>
          <a:xfrm>
            <a:off x="2326640" y="6096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Showing 1–9 of 245 products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C8564-07AB-4530-88A4-D3E8FDA914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A">
              <a:alpha val="55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8" name="s458"/>
          <p:cNvSpPr/>
          <p:nvPr/>
        </p:nvSpPr>
        <p:spPr>
          <a:xfrm>
            <a:off x="5831840" y="1689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459" name="s459"/>
          <p:cNvSpPr/>
          <p:nvPr/>
        </p:nvSpPr>
        <p:spPr>
          <a:xfrm>
            <a:off x="7178040" y="1689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WH-01</a:t>
            </a:r>
          </a:p>
        </p:txBody>
      </p:sp>
      <p:sp>
        <p:nvSpPr>
          <p:cNvPr id="468" name="s468"/>
          <p:cNvSpPr/>
          <p:nvPr/>
        </p:nvSpPr>
        <p:spPr>
          <a:xfrm>
            <a:off x="5831840" y="1993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469" name="s469"/>
          <p:cNvSpPr/>
          <p:nvPr/>
        </p:nvSpPr>
        <p:spPr>
          <a:xfrm>
            <a:off x="7178040" y="1993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WH-01</a:t>
            </a:r>
          </a:p>
        </p:txBody>
      </p:sp>
      <p:sp>
        <p:nvSpPr>
          <p:cNvPr id="478" name="s478"/>
          <p:cNvSpPr/>
          <p:nvPr/>
        </p:nvSpPr>
        <p:spPr>
          <a:xfrm>
            <a:off x="5831840" y="2298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479" name="s479"/>
          <p:cNvSpPr/>
          <p:nvPr/>
        </p:nvSpPr>
        <p:spPr>
          <a:xfrm>
            <a:off x="7178040" y="2298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WH-02</a:t>
            </a:r>
          </a:p>
        </p:txBody>
      </p:sp>
      <p:sp>
        <p:nvSpPr>
          <p:cNvPr id="488" name="s488"/>
          <p:cNvSpPr/>
          <p:nvPr/>
        </p:nvSpPr>
        <p:spPr>
          <a:xfrm>
            <a:off x="5831840" y="2603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489" name="s489"/>
          <p:cNvSpPr/>
          <p:nvPr/>
        </p:nvSpPr>
        <p:spPr>
          <a:xfrm>
            <a:off x="7178040" y="2603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WH-02</a:t>
            </a:r>
          </a:p>
        </p:txBody>
      </p:sp>
      <p:sp>
        <p:nvSpPr>
          <p:cNvPr id="498" name="s498"/>
          <p:cNvSpPr/>
          <p:nvPr/>
        </p:nvSpPr>
        <p:spPr>
          <a:xfrm>
            <a:off x="5831840" y="29083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499" name="s499"/>
          <p:cNvSpPr/>
          <p:nvPr/>
        </p:nvSpPr>
        <p:spPr>
          <a:xfrm>
            <a:off x="7178040" y="29083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WH-01</a:t>
            </a:r>
          </a:p>
        </p:txBody>
      </p:sp>
      <p:sp>
        <p:nvSpPr>
          <p:cNvPr id="508" name="s508"/>
          <p:cNvSpPr/>
          <p:nvPr/>
        </p:nvSpPr>
        <p:spPr>
          <a:xfrm>
            <a:off x="5831840" y="3213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509" name="s509"/>
          <p:cNvSpPr/>
          <p:nvPr/>
        </p:nvSpPr>
        <p:spPr>
          <a:xfrm>
            <a:off x="7178040" y="3213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WH-03</a:t>
            </a:r>
          </a:p>
        </p:txBody>
      </p:sp>
      <p:sp>
        <p:nvSpPr>
          <p:cNvPr id="518" name="s518"/>
          <p:cNvSpPr/>
          <p:nvPr/>
        </p:nvSpPr>
        <p:spPr>
          <a:xfrm>
            <a:off x="5831840" y="3517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Alphabet Cards</a:t>
            </a:r>
          </a:p>
        </p:txBody>
      </p:sp>
      <p:sp>
        <p:nvSpPr>
          <p:cNvPr id="519" name="s519"/>
          <p:cNvSpPr/>
          <p:nvPr/>
        </p:nvSpPr>
        <p:spPr>
          <a:xfrm>
            <a:off x="7178040" y="3517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WH-01</a:t>
            </a:r>
          </a:p>
        </p:txBody>
      </p:sp>
      <p:sp>
        <p:nvSpPr>
          <p:cNvPr id="528" name="s528"/>
          <p:cNvSpPr/>
          <p:nvPr/>
        </p:nvSpPr>
        <p:spPr>
          <a:xfrm>
            <a:off x="5831840" y="3822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Game Cards</a:t>
            </a:r>
          </a:p>
        </p:txBody>
      </p:sp>
      <p:sp>
        <p:nvSpPr>
          <p:cNvPr id="529" name="s529"/>
          <p:cNvSpPr/>
          <p:nvPr/>
        </p:nvSpPr>
        <p:spPr>
          <a:xfrm>
            <a:off x="7178040" y="3822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WH-02</a:t>
            </a:r>
          </a:p>
        </p:txBody>
      </p:sp>
      <p:sp>
        <p:nvSpPr>
          <p:cNvPr id="538" name="s538"/>
          <p:cNvSpPr/>
          <p:nvPr/>
        </p:nvSpPr>
        <p:spPr>
          <a:xfrm>
            <a:off x="5831840" y="4127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Copybooks</a:t>
            </a:r>
          </a:p>
        </p:txBody>
      </p:sp>
      <p:sp>
        <p:nvSpPr>
          <p:cNvPr id="539" name="s539"/>
          <p:cNvSpPr/>
          <p:nvPr/>
        </p:nvSpPr>
        <p:spPr>
          <a:xfrm>
            <a:off x="7178040" y="4127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5B6572"/>
                </a:solidFill>
                <a:latin typeface="Calibri"/>
              </a:rPr>
              <a:t>WH-01</a:t>
            </a:r>
          </a:p>
        </p:txBody>
      </p:sp>
      <p:sp>
        <p:nvSpPr>
          <p:cNvPr id="3900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2A">
              <a:alpha val="6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6" name="s546"/>
          <p:cNvSpPr/>
          <p:nvPr/>
        </p:nvSpPr>
        <p:spPr>
          <a:xfrm>
            <a:off x="3302000" y="1701800"/>
            <a:ext cx="5588000" cy="345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rotWithShape="0">
              <a:srgbClr val="000000">
                <a:alpha val="34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47" name="s547"/>
          <p:cNvSpPr/>
          <p:nvPr/>
        </p:nvSpPr>
        <p:spPr>
          <a:xfrm>
            <a:off x="3606800" y="2006600"/>
            <a:ext cx="431800" cy="431800"/>
          </a:xfrm>
          <a:prstGeom prst="ellipse">
            <a:avLst/>
          </a:prstGeom>
          <a:solidFill>
            <a:srgbClr val="B3261E">
              <a:alpha val="14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3606800" y="20066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700" b="1" spc="0" dirty="0">
                <a:solidFill>
                  <a:srgbClr val="B3261E"/>
                </a:solidFill>
                <a:latin typeface="Calibri"/>
              </a:rPr>
              <a:t>!</a:t>
            </a:r>
          </a:p>
        </p:txBody>
      </p:sp>
      <p:sp>
        <p:nvSpPr>
          <p:cNvPr id="549" name="s549"/>
          <p:cNvSpPr/>
          <p:nvPr/>
        </p:nvSpPr>
        <p:spPr>
          <a:xfrm>
            <a:off x="4191000" y="1981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spc="0" dirty="0">
                <a:solidFill>
                  <a:srgbClr val="10141A"/>
                </a:solidFill>
                <a:latin typeface="Calibri"/>
              </a:rPr>
              <a:t>Delete this product?</a:t>
            </a:r>
          </a:p>
        </p:txBody>
      </p:sp>
      <p:sp>
        <p:nvSpPr>
          <p:cNvPr id="550" name="s550"/>
          <p:cNvSpPr/>
          <p:nvPr/>
        </p:nvSpPr>
        <p:spPr>
          <a:xfrm>
            <a:off x="4191000" y="2260600"/>
            <a:ext cx="431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BK-0142  ·  ABC Beginner Book</a:t>
            </a:r>
          </a:p>
        </p:txBody>
      </p:sp>
      <p:sp>
        <p:nvSpPr>
          <p:cNvPr id="551" name="s551"/>
          <p:cNvSpPr/>
          <p:nvPr/>
        </p:nvSpPr>
        <p:spPr>
          <a:xfrm>
            <a:off x="8432800" y="1930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0" spc="0" dirty="0">
                <a:solidFill>
                  <a:srgbClr val="8A93A0"/>
                </a:solidFill>
                <a:latin typeface="Calibri"/>
              </a:rPr>
              <a:t>✕</a:t>
            </a:r>
          </a:p>
        </p:txBody>
      </p:sp>
      <p:sp>
        <p:nvSpPr>
          <p:cNvPr id="552" name="s552"/>
          <p:cNvSpPr/>
          <p:nvPr/>
        </p:nvSpPr>
        <p:spPr>
          <a:xfrm>
            <a:off x="3606800" y="2616200"/>
            <a:ext cx="4978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This permanently removes the product from the catalogue and from every school order form. It cannot be undone.</a:t>
            </a:r>
          </a:p>
        </p:txBody>
      </p:sp>
      <p:sp>
        <p:nvSpPr>
          <p:cNvPr id="553" name="s553"/>
          <p:cNvSpPr/>
          <p:nvPr/>
        </p:nvSpPr>
        <p:spPr>
          <a:xfrm>
            <a:off x="3606800" y="3048000"/>
            <a:ext cx="4978400" cy="990600"/>
          </a:xfrm>
          <a:prstGeom prst="roundRect">
            <a:avLst>
              <a:gd name="adj" fmla="val 6000"/>
            </a:avLst>
          </a:prstGeom>
          <a:solidFill>
            <a:srgbClr val="B3261E">
              <a:alpha val="7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4" name="s554"/>
          <p:cNvSpPr/>
          <p:nvPr/>
        </p:nvSpPr>
        <p:spPr>
          <a:xfrm>
            <a:off x="3606800" y="3048000"/>
            <a:ext cx="31750" cy="990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5" name="s555"/>
          <p:cNvSpPr/>
          <p:nvPr/>
        </p:nvSpPr>
        <p:spPr>
          <a:xfrm>
            <a:off x="3784600" y="314960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100" dirty="0">
                <a:solidFill>
                  <a:srgbClr val="B3261E"/>
                </a:solidFill>
                <a:latin typeface="Calibri"/>
              </a:rPr>
              <a:t>BEFORE YOU DELETE</a:t>
            </a:r>
          </a:p>
        </p:txBody>
      </p:sp>
      <p:sp>
        <p:nvSpPr>
          <p:cNvPr id="556" name="s556"/>
          <p:cNvSpPr/>
          <p:nvPr/>
        </p:nvSpPr>
        <p:spPr>
          <a:xfrm>
            <a:off x="3810000" y="3403600"/>
            <a:ext cx="50800" cy="508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7" name="s557"/>
          <p:cNvSpPr/>
          <p:nvPr/>
        </p:nvSpPr>
        <p:spPr>
          <a:xfrm>
            <a:off x="3962400" y="3327400"/>
            <a:ext cx="444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1,240 units on hand at WH-01 will be written off</a:t>
            </a:r>
          </a:p>
        </p:txBody>
      </p:sp>
      <p:sp>
        <p:nvSpPr>
          <p:cNvPr id="558" name="s558"/>
          <p:cNvSpPr/>
          <p:nvPr/>
        </p:nvSpPr>
        <p:spPr>
          <a:xfrm>
            <a:off x="3810000" y="3606800"/>
            <a:ext cx="50800" cy="508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9" name="s559"/>
          <p:cNvSpPr/>
          <p:nvPr/>
        </p:nvSpPr>
        <p:spPr>
          <a:xfrm>
            <a:off x="3962400" y="3530600"/>
            <a:ext cx="444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180 units are reserved on 3 open orders</a:t>
            </a:r>
          </a:p>
        </p:txBody>
      </p:sp>
      <p:sp>
        <p:nvSpPr>
          <p:cNvPr id="560" name="s560"/>
          <p:cNvSpPr/>
          <p:nvPr/>
        </p:nvSpPr>
        <p:spPr>
          <a:xfrm>
            <a:off x="3810000" y="3810000"/>
            <a:ext cx="50800" cy="508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1" name="s561"/>
          <p:cNvSpPr/>
          <p:nvPr/>
        </p:nvSpPr>
        <p:spPr>
          <a:xfrm>
            <a:off x="3962400" y="3733800"/>
            <a:ext cx="444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Appears in 42 orders in the last 12 months</a:t>
            </a:r>
          </a:p>
        </p:txBody>
      </p:sp>
      <p:sp>
        <p:nvSpPr>
          <p:cNvPr id="562" name="s562"/>
          <p:cNvSpPr/>
          <p:nvPr/>
        </p:nvSpPr>
        <p:spPr>
          <a:xfrm>
            <a:off x="3606800" y="4191000"/>
            <a:ext cx="152400" cy="152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3" name="s563"/>
          <p:cNvSpPr/>
          <p:nvPr/>
        </p:nvSpPr>
        <p:spPr>
          <a:xfrm>
            <a:off x="3860800" y="4165600"/>
            <a:ext cx="4724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I understand this product is on open orders</a:t>
            </a:r>
          </a:p>
        </p:txBody>
      </p:sp>
      <p:sp>
        <p:nvSpPr>
          <p:cNvPr id="564" name="s564"/>
          <p:cNvSpPr/>
          <p:nvPr/>
        </p:nvSpPr>
        <p:spPr>
          <a:xfrm>
            <a:off x="3606800" y="44704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Prefer to keep the history? Set the status to Discontinued instead.</a:t>
            </a:r>
          </a:p>
        </p:txBody>
      </p:sp>
      <p:sp>
        <p:nvSpPr>
          <p:cNvPr id="565" name="s565"/>
          <p:cNvSpPr/>
          <p:nvPr/>
        </p:nvSpPr>
        <p:spPr>
          <a:xfrm>
            <a:off x="6477000" y="4597400"/>
            <a:ext cx="9144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Cancel</a:t>
            </a:r>
          </a:p>
        </p:txBody>
      </p:sp>
      <p:sp>
        <p:nvSpPr>
          <p:cNvPr id="566" name="s566"/>
          <p:cNvSpPr/>
          <p:nvPr/>
        </p:nvSpPr>
        <p:spPr>
          <a:xfrm>
            <a:off x="7493000" y="4597400"/>
            <a:ext cx="1092200" cy="330200"/>
          </a:xfrm>
          <a:prstGeom prst="roundRect">
            <a:avLst>
              <a:gd name="adj" fmla="val 12000"/>
            </a:avLst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pic>
        <p:nvPicPr>
          <p:cNvPr id="3901" name="Copied Picture 3901">
            <a:extLst>
              <a:ext uri="{FF2B5EF4-FFF2-40B4-BE49-F238E27FC236}">
                <a16:creationId xmlns:a16="http://schemas.microsoft.com/office/drawing/2014/main" id="{5A200BD9-3D1A-A816-57EF-7B7211F2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3680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73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101600" y="1485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101600" y="1485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Products  ›  ABC Beginner Book  ›  Inventory history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Inventory History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BK-0142  ·  ABC Beginner Book  ·  27 Dec 2025 – 7 Jan 2026  ·  9 movements</a:t>
            </a:r>
          </a:p>
        </p:txBody>
      </p:sp>
      <p:sp>
        <p:nvSpPr>
          <p:cNvPr id="444" name="s444"/>
          <p:cNvSpPr/>
          <p:nvPr/>
        </p:nvSpPr>
        <p:spPr>
          <a:xfrm>
            <a:off x="10942320" y="812800"/>
            <a:ext cx="9906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942320" y="8128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 CSV</a:t>
            </a:r>
          </a:p>
        </p:txBody>
      </p:sp>
      <p:sp>
        <p:nvSpPr>
          <p:cNvPr id="446" name="s446"/>
          <p:cNvSpPr/>
          <p:nvPr/>
        </p:nvSpPr>
        <p:spPr>
          <a:xfrm>
            <a:off x="9687560" y="812800"/>
            <a:ext cx="112776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687560" y="812800"/>
            <a:ext cx="112776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Last 90 days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Overview</a:t>
            </a:r>
          </a:p>
        </p:txBody>
      </p:sp>
      <p:sp>
        <p:nvSpPr>
          <p:cNvPr id="449" name="s449"/>
          <p:cNvSpPr/>
          <p:nvPr/>
        </p:nvSpPr>
        <p:spPr>
          <a:xfrm>
            <a:off x="3007360" y="1346200"/>
            <a:ext cx="145288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Inventory History</a:t>
            </a:r>
          </a:p>
        </p:txBody>
      </p:sp>
      <p:sp>
        <p:nvSpPr>
          <p:cNvPr id="450" name="s450"/>
          <p:cNvSpPr/>
          <p:nvPr/>
        </p:nvSpPr>
        <p:spPr>
          <a:xfrm>
            <a:off x="3007360" y="1574800"/>
            <a:ext cx="1452880" cy="254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4460240" y="134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Sales</a:t>
            </a:r>
          </a:p>
        </p:txBody>
      </p:sp>
      <p:sp>
        <p:nvSpPr>
          <p:cNvPr id="452" name="s452"/>
          <p:cNvSpPr/>
          <p:nvPr/>
        </p:nvSpPr>
        <p:spPr>
          <a:xfrm>
            <a:off x="5120640" y="1346200"/>
            <a:ext cx="132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Purchase Orders</a:t>
            </a:r>
          </a:p>
        </p:txBody>
      </p:sp>
      <p:sp>
        <p:nvSpPr>
          <p:cNvPr id="453" name="s453"/>
          <p:cNvSpPr/>
          <p:nvPr/>
        </p:nvSpPr>
        <p:spPr>
          <a:xfrm>
            <a:off x="2148840" y="1593850"/>
            <a:ext cx="978408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2148840" y="1752600"/>
            <a:ext cx="2312670" cy="81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2148840" y="1752600"/>
            <a:ext cx="31750" cy="812800"/>
          </a:xfrm>
          <a:prstGeom prst="rect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6" name="s456"/>
          <p:cNvSpPr/>
          <p:nvPr/>
        </p:nvSpPr>
        <p:spPr>
          <a:xfrm>
            <a:off x="2301240" y="18796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Opening balance</a:t>
            </a:r>
          </a:p>
        </p:txBody>
      </p:sp>
      <p:sp>
        <p:nvSpPr>
          <p:cNvPr id="457" name="s457"/>
          <p:cNvSpPr/>
          <p:nvPr/>
        </p:nvSpPr>
        <p:spPr>
          <a:xfrm>
            <a:off x="2301240" y="2032000"/>
            <a:ext cx="205867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10141A"/>
                </a:solidFill>
                <a:latin typeface="Arial"/>
              </a:rPr>
              <a:t>980</a:t>
            </a:r>
          </a:p>
        </p:txBody>
      </p:sp>
      <p:sp>
        <p:nvSpPr>
          <p:cNvPr id="458" name="s458"/>
          <p:cNvSpPr/>
          <p:nvPr/>
        </p:nvSpPr>
        <p:spPr>
          <a:xfrm>
            <a:off x="2301240" y="23241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27 Dec 2025</a:t>
            </a:r>
          </a:p>
        </p:txBody>
      </p:sp>
      <p:sp>
        <p:nvSpPr>
          <p:cNvPr id="459" name="s459"/>
          <p:cNvSpPr/>
          <p:nvPr/>
        </p:nvSpPr>
        <p:spPr>
          <a:xfrm>
            <a:off x="4639310" y="1752600"/>
            <a:ext cx="2312670" cy="81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4639310" y="1752600"/>
            <a:ext cx="31750" cy="8128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4791710" y="18796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Total stock in</a:t>
            </a:r>
          </a:p>
        </p:txBody>
      </p:sp>
      <p:sp>
        <p:nvSpPr>
          <p:cNvPr id="462" name="s462"/>
          <p:cNvSpPr/>
          <p:nvPr/>
        </p:nvSpPr>
        <p:spPr>
          <a:xfrm>
            <a:off x="4791710" y="2032000"/>
            <a:ext cx="205867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10141A"/>
                </a:solidFill>
                <a:latin typeface="Arial"/>
              </a:rPr>
              <a:t>+1,224</a:t>
            </a:r>
          </a:p>
        </p:txBody>
      </p:sp>
      <p:sp>
        <p:nvSpPr>
          <p:cNvPr id="463" name="s463"/>
          <p:cNvSpPr/>
          <p:nvPr/>
        </p:nvSpPr>
        <p:spPr>
          <a:xfrm>
            <a:off x="4791710" y="23241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2 purchases · 1 return</a:t>
            </a:r>
          </a:p>
        </p:txBody>
      </p:sp>
      <p:sp>
        <p:nvSpPr>
          <p:cNvPr id="464" name="s464"/>
          <p:cNvSpPr/>
          <p:nvPr/>
        </p:nvSpPr>
        <p:spPr>
          <a:xfrm>
            <a:off x="7129780" y="1752600"/>
            <a:ext cx="2312670" cy="81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7129780" y="1752600"/>
            <a:ext cx="31750" cy="8128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7282180" y="18796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Total stock out</a:t>
            </a:r>
          </a:p>
        </p:txBody>
      </p:sp>
      <p:sp>
        <p:nvSpPr>
          <p:cNvPr id="467" name="s467"/>
          <p:cNvSpPr/>
          <p:nvPr/>
        </p:nvSpPr>
        <p:spPr>
          <a:xfrm>
            <a:off x="7282180" y="2032000"/>
            <a:ext cx="205867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10141A"/>
                </a:solidFill>
                <a:latin typeface="Arial"/>
              </a:rPr>
              <a:t>−964</a:t>
            </a:r>
          </a:p>
        </p:txBody>
      </p:sp>
      <p:sp>
        <p:nvSpPr>
          <p:cNvPr id="468" name="s468"/>
          <p:cNvSpPr/>
          <p:nvPr/>
        </p:nvSpPr>
        <p:spPr>
          <a:xfrm>
            <a:off x="7282180" y="23241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4 sales · 1 transfer · 1 adjustment</a:t>
            </a:r>
          </a:p>
        </p:txBody>
      </p:sp>
      <p:sp>
        <p:nvSpPr>
          <p:cNvPr id="469" name="s469"/>
          <p:cNvSpPr/>
          <p:nvPr/>
        </p:nvSpPr>
        <p:spPr>
          <a:xfrm>
            <a:off x="9620250" y="1752600"/>
            <a:ext cx="2312670" cy="81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9620250" y="1752600"/>
            <a:ext cx="31750" cy="8128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9772650" y="18796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Closing balance</a:t>
            </a:r>
          </a:p>
        </p:txBody>
      </p:sp>
      <p:sp>
        <p:nvSpPr>
          <p:cNvPr id="472" name="s472"/>
          <p:cNvSpPr/>
          <p:nvPr/>
        </p:nvSpPr>
        <p:spPr>
          <a:xfrm>
            <a:off x="9772650" y="2032000"/>
            <a:ext cx="205867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473" name="s473"/>
          <p:cNvSpPr/>
          <p:nvPr/>
        </p:nvSpPr>
        <p:spPr>
          <a:xfrm>
            <a:off x="9772650" y="23241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7 Jan 2026</a:t>
            </a:r>
          </a:p>
        </p:txBody>
      </p:sp>
      <p:sp>
        <p:nvSpPr>
          <p:cNvPr id="474" name="s474"/>
          <p:cNvSpPr/>
          <p:nvPr/>
        </p:nvSpPr>
        <p:spPr>
          <a:xfrm>
            <a:off x="2148840" y="2717800"/>
            <a:ext cx="9784080" cy="378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2326640" y="2857500"/>
            <a:ext cx="8006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Stock Movements</a:t>
            </a:r>
          </a:p>
        </p:txBody>
      </p:sp>
      <p:sp>
        <p:nvSpPr>
          <p:cNvPr id="476" name="s476"/>
          <p:cNvSpPr/>
          <p:nvPr/>
        </p:nvSpPr>
        <p:spPr>
          <a:xfrm>
            <a:off x="10358120" y="28575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Filter by type</a:t>
            </a:r>
          </a:p>
        </p:txBody>
      </p:sp>
      <p:sp>
        <p:nvSpPr>
          <p:cNvPr id="477" name="s477"/>
          <p:cNvSpPr/>
          <p:nvPr/>
        </p:nvSpPr>
        <p:spPr>
          <a:xfrm>
            <a:off x="2148840" y="3200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2326640" y="3200400"/>
            <a:ext cx="1168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TRANSACTION</a:t>
            </a:r>
          </a:p>
        </p:txBody>
      </p:sp>
      <p:sp>
        <p:nvSpPr>
          <p:cNvPr id="479" name="s479"/>
          <p:cNvSpPr/>
          <p:nvPr/>
        </p:nvSpPr>
        <p:spPr>
          <a:xfrm>
            <a:off x="3571240" y="3200400"/>
            <a:ext cx="889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DATE</a:t>
            </a:r>
          </a:p>
        </p:txBody>
      </p:sp>
      <p:sp>
        <p:nvSpPr>
          <p:cNvPr id="480" name="s480"/>
          <p:cNvSpPr/>
          <p:nvPr/>
        </p:nvSpPr>
        <p:spPr>
          <a:xfrm>
            <a:off x="4536440" y="3200400"/>
            <a:ext cx="111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TYPE</a:t>
            </a:r>
          </a:p>
        </p:txBody>
      </p:sp>
      <p:sp>
        <p:nvSpPr>
          <p:cNvPr id="481" name="s481"/>
          <p:cNvSpPr/>
          <p:nvPr/>
        </p:nvSpPr>
        <p:spPr>
          <a:xfrm>
            <a:off x="5730240" y="3200400"/>
            <a:ext cx="177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MOVEMENT</a:t>
            </a:r>
          </a:p>
        </p:txBody>
      </p:sp>
      <p:sp>
        <p:nvSpPr>
          <p:cNvPr id="482" name="s482"/>
          <p:cNvSpPr/>
          <p:nvPr/>
        </p:nvSpPr>
        <p:spPr>
          <a:xfrm>
            <a:off x="7584440" y="3200400"/>
            <a:ext cx="558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QTY</a:t>
            </a:r>
          </a:p>
        </p:txBody>
      </p:sp>
      <p:sp>
        <p:nvSpPr>
          <p:cNvPr id="483" name="s483"/>
          <p:cNvSpPr/>
          <p:nvPr/>
        </p:nvSpPr>
        <p:spPr>
          <a:xfrm>
            <a:off x="8219440" y="3200400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BALANCE</a:t>
            </a:r>
          </a:p>
        </p:txBody>
      </p:sp>
      <p:sp>
        <p:nvSpPr>
          <p:cNvPr id="484" name="s484"/>
          <p:cNvSpPr/>
          <p:nvPr/>
        </p:nvSpPr>
        <p:spPr>
          <a:xfrm>
            <a:off x="8981440" y="32004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EMPLOYEE</a:t>
            </a:r>
          </a:p>
        </p:txBody>
      </p:sp>
      <p:sp>
        <p:nvSpPr>
          <p:cNvPr id="485" name="s485"/>
          <p:cNvSpPr/>
          <p:nvPr/>
        </p:nvSpPr>
        <p:spPr>
          <a:xfrm>
            <a:off x="10276840" y="3200400"/>
            <a:ext cx="111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REFERENCE</a:t>
            </a:r>
          </a:p>
        </p:txBody>
      </p:sp>
      <p:sp>
        <p:nvSpPr>
          <p:cNvPr id="486" name="s486"/>
          <p:cNvSpPr/>
          <p:nvPr/>
        </p:nvSpPr>
        <p:spPr>
          <a:xfrm>
            <a:off x="2148840" y="3765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7" name="s487"/>
          <p:cNvSpPr/>
          <p:nvPr/>
        </p:nvSpPr>
        <p:spPr>
          <a:xfrm>
            <a:off x="2148840" y="35052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2326640" y="34671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ORD-2026-0086</a:t>
            </a:r>
          </a:p>
        </p:txBody>
      </p:sp>
      <p:sp>
        <p:nvSpPr>
          <p:cNvPr id="489" name="s489"/>
          <p:cNvSpPr/>
          <p:nvPr/>
        </p:nvSpPr>
        <p:spPr>
          <a:xfrm>
            <a:off x="3571240" y="34671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7 Jan 2026</a:t>
            </a:r>
          </a:p>
        </p:txBody>
      </p:sp>
      <p:sp>
        <p:nvSpPr>
          <p:cNvPr id="490" name="s490"/>
          <p:cNvSpPr/>
          <p:nvPr/>
        </p:nvSpPr>
        <p:spPr>
          <a:xfrm>
            <a:off x="4536440" y="35306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4536440" y="35306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492" name="s492"/>
          <p:cNvSpPr/>
          <p:nvPr/>
        </p:nvSpPr>
        <p:spPr>
          <a:xfrm>
            <a:off x="5730240" y="34671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WH-01 → Nimba Community School</a:t>
            </a:r>
          </a:p>
        </p:txBody>
      </p:sp>
      <p:sp>
        <p:nvSpPr>
          <p:cNvPr id="493" name="s493"/>
          <p:cNvSpPr/>
          <p:nvPr/>
        </p:nvSpPr>
        <p:spPr>
          <a:xfrm>
            <a:off x="7584440" y="34671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−316</a:t>
            </a:r>
          </a:p>
        </p:txBody>
      </p:sp>
      <p:sp>
        <p:nvSpPr>
          <p:cNvPr id="494" name="s494"/>
          <p:cNvSpPr/>
          <p:nvPr/>
        </p:nvSpPr>
        <p:spPr>
          <a:xfrm>
            <a:off x="8219440" y="3467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495" name="s495"/>
          <p:cNvSpPr/>
          <p:nvPr/>
        </p:nvSpPr>
        <p:spPr>
          <a:xfrm>
            <a:off x="8981440" y="3467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Grace Doe</a:t>
            </a:r>
          </a:p>
        </p:txBody>
      </p:sp>
      <p:sp>
        <p:nvSpPr>
          <p:cNvPr id="496" name="s496"/>
          <p:cNvSpPr/>
          <p:nvPr/>
        </p:nvSpPr>
        <p:spPr>
          <a:xfrm>
            <a:off x="10276840" y="34671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Order</a:t>
            </a:r>
          </a:p>
        </p:txBody>
      </p:sp>
      <p:sp>
        <p:nvSpPr>
          <p:cNvPr id="497" name="s497"/>
          <p:cNvSpPr/>
          <p:nvPr/>
        </p:nvSpPr>
        <p:spPr>
          <a:xfrm>
            <a:off x="2148840" y="4070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2148840" y="38100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9" name="s499"/>
          <p:cNvSpPr/>
          <p:nvPr/>
        </p:nvSpPr>
        <p:spPr>
          <a:xfrm>
            <a:off x="2326640" y="37719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ORD-2026-0084</a:t>
            </a:r>
          </a:p>
        </p:txBody>
      </p:sp>
      <p:sp>
        <p:nvSpPr>
          <p:cNvPr id="500" name="s500"/>
          <p:cNvSpPr/>
          <p:nvPr/>
        </p:nvSpPr>
        <p:spPr>
          <a:xfrm>
            <a:off x="3571240" y="37719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6 Jan 2026</a:t>
            </a:r>
          </a:p>
        </p:txBody>
      </p:sp>
      <p:sp>
        <p:nvSpPr>
          <p:cNvPr id="501" name="s501"/>
          <p:cNvSpPr/>
          <p:nvPr/>
        </p:nvSpPr>
        <p:spPr>
          <a:xfrm>
            <a:off x="4536440" y="38354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2" name="s502"/>
          <p:cNvSpPr/>
          <p:nvPr/>
        </p:nvSpPr>
        <p:spPr>
          <a:xfrm>
            <a:off x="4536440" y="38354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503" name="s503"/>
          <p:cNvSpPr/>
          <p:nvPr/>
        </p:nvSpPr>
        <p:spPr>
          <a:xfrm>
            <a:off x="5730240" y="37719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WH-01 → St. Teresa Primary</a:t>
            </a:r>
          </a:p>
        </p:txBody>
      </p:sp>
      <p:sp>
        <p:nvSpPr>
          <p:cNvPr id="504" name="s504"/>
          <p:cNvSpPr/>
          <p:nvPr/>
        </p:nvSpPr>
        <p:spPr>
          <a:xfrm>
            <a:off x="7584440" y="37719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−120</a:t>
            </a:r>
          </a:p>
        </p:txBody>
      </p:sp>
      <p:sp>
        <p:nvSpPr>
          <p:cNvPr id="505" name="s505"/>
          <p:cNvSpPr/>
          <p:nvPr/>
        </p:nvSpPr>
        <p:spPr>
          <a:xfrm>
            <a:off x="8219440" y="3771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1,556</a:t>
            </a:r>
          </a:p>
        </p:txBody>
      </p:sp>
      <p:sp>
        <p:nvSpPr>
          <p:cNvPr id="506" name="s506"/>
          <p:cNvSpPr/>
          <p:nvPr/>
        </p:nvSpPr>
        <p:spPr>
          <a:xfrm>
            <a:off x="8981440" y="3771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Grace Doe</a:t>
            </a:r>
          </a:p>
        </p:txBody>
      </p:sp>
      <p:sp>
        <p:nvSpPr>
          <p:cNvPr id="507" name="s507"/>
          <p:cNvSpPr/>
          <p:nvPr/>
        </p:nvSpPr>
        <p:spPr>
          <a:xfrm>
            <a:off x="10276840" y="3771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Order</a:t>
            </a:r>
          </a:p>
        </p:txBody>
      </p:sp>
      <p:sp>
        <p:nvSpPr>
          <p:cNvPr id="508" name="s508"/>
          <p:cNvSpPr/>
          <p:nvPr/>
        </p:nvSpPr>
        <p:spPr>
          <a:xfrm>
            <a:off x="2148840" y="4375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2148840" y="41148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0" name="s510"/>
          <p:cNvSpPr/>
          <p:nvPr/>
        </p:nvSpPr>
        <p:spPr>
          <a:xfrm>
            <a:off x="2326640" y="40767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PO-2026-0117</a:t>
            </a:r>
          </a:p>
        </p:txBody>
      </p:sp>
      <p:sp>
        <p:nvSpPr>
          <p:cNvPr id="511" name="s511"/>
          <p:cNvSpPr/>
          <p:nvPr/>
        </p:nvSpPr>
        <p:spPr>
          <a:xfrm>
            <a:off x="3571240" y="40767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5 Jan 2026</a:t>
            </a:r>
          </a:p>
        </p:txBody>
      </p:sp>
      <p:sp>
        <p:nvSpPr>
          <p:cNvPr id="512" name="s512"/>
          <p:cNvSpPr/>
          <p:nvPr/>
        </p:nvSpPr>
        <p:spPr>
          <a:xfrm>
            <a:off x="4536440" y="41402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4536440" y="41402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Purchase</a:t>
            </a:r>
          </a:p>
        </p:txBody>
      </p:sp>
      <p:sp>
        <p:nvSpPr>
          <p:cNvPr id="514" name="s514"/>
          <p:cNvSpPr/>
          <p:nvPr/>
        </p:nvSpPr>
        <p:spPr>
          <a:xfrm>
            <a:off x="5730240" y="40767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Kakata Paper Mills → WH-01</a:t>
            </a:r>
          </a:p>
        </p:txBody>
      </p:sp>
      <p:sp>
        <p:nvSpPr>
          <p:cNvPr id="515" name="s515"/>
          <p:cNvSpPr/>
          <p:nvPr/>
        </p:nvSpPr>
        <p:spPr>
          <a:xfrm>
            <a:off x="7584440" y="40767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+400</a:t>
            </a:r>
          </a:p>
        </p:txBody>
      </p:sp>
      <p:sp>
        <p:nvSpPr>
          <p:cNvPr id="516" name="s516"/>
          <p:cNvSpPr/>
          <p:nvPr/>
        </p:nvSpPr>
        <p:spPr>
          <a:xfrm>
            <a:off x="8219440" y="4076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1,676</a:t>
            </a:r>
          </a:p>
        </p:txBody>
      </p:sp>
      <p:sp>
        <p:nvSpPr>
          <p:cNvPr id="517" name="s517"/>
          <p:cNvSpPr/>
          <p:nvPr/>
        </p:nvSpPr>
        <p:spPr>
          <a:xfrm>
            <a:off x="8981440" y="4076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James Kollie</a:t>
            </a:r>
          </a:p>
        </p:txBody>
      </p:sp>
      <p:sp>
        <p:nvSpPr>
          <p:cNvPr id="518" name="s518"/>
          <p:cNvSpPr/>
          <p:nvPr/>
        </p:nvSpPr>
        <p:spPr>
          <a:xfrm>
            <a:off x="10276840" y="40767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Purchase order</a:t>
            </a:r>
          </a:p>
        </p:txBody>
      </p:sp>
      <p:sp>
        <p:nvSpPr>
          <p:cNvPr id="519" name="s519"/>
          <p:cNvSpPr/>
          <p:nvPr/>
        </p:nvSpPr>
        <p:spPr>
          <a:xfrm>
            <a:off x="2148840" y="4679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s520"/>
          <p:cNvSpPr/>
          <p:nvPr/>
        </p:nvSpPr>
        <p:spPr>
          <a:xfrm>
            <a:off x="2148840" y="44196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1" name="s521"/>
          <p:cNvSpPr/>
          <p:nvPr/>
        </p:nvSpPr>
        <p:spPr>
          <a:xfrm>
            <a:off x="2326640" y="43815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ADJ-2026-0019</a:t>
            </a:r>
          </a:p>
        </p:txBody>
      </p:sp>
      <p:sp>
        <p:nvSpPr>
          <p:cNvPr id="522" name="s522"/>
          <p:cNvSpPr/>
          <p:nvPr/>
        </p:nvSpPr>
        <p:spPr>
          <a:xfrm>
            <a:off x="3571240" y="43815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4 Jan 2026</a:t>
            </a:r>
          </a:p>
        </p:txBody>
      </p:sp>
      <p:sp>
        <p:nvSpPr>
          <p:cNvPr id="523" name="s523"/>
          <p:cNvSpPr/>
          <p:nvPr/>
        </p:nvSpPr>
        <p:spPr>
          <a:xfrm>
            <a:off x="4536440" y="44450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s524"/>
          <p:cNvSpPr/>
          <p:nvPr/>
        </p:nvSpPr>
        <p:spPr>
          <a:xfrm>
            <a:off x="4536440" y="44450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B3261E"/>
                </a:solidFill>
                <a:latin typeface="Calibri"/>
              </a:rPr>
              <a:t>Adjustment</a:t>
            </a:r>
          </a:p>
        </p:txBody>
      </p:sp>
      <p:sp>
        <p:nvSpPr>
          <p:cNvPr id="525" name="s525"/>
          <p:cNvSpPr/>
          <p:nvPr/>
        </p:nvSpPr>
        <p:spPr>
          <a:xfrm>
            <a:off x="5730240" y="4381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WH-01 · damaged in storage</a:t>
            </a:r>
          </a:p>
        </p:txBody>
      </p:sp>
      <p:sp>
        <p:nvSpPr>
          <p:cNvPr id="526" name="s526"/>
          <p:cNvSpPr/>
          <p:nvPr/>
        </p:nvSpPr>
        <p:spPr>
          <a:xfrm>
            <a:off x="7584440" y="43815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−8</a:t>
            </a:r>
          </a:p>
        </p:txBody>
      </p:sp>
      <p:sp>
        <p:nvSpPr>
          <p:cNvPr id="527" name="s527"/>
          <p:cNvSpPr/>
          <p:nvPr/>
        </p:nvSpPr>
        <p:spPr>
          <a:xfrm>
            <a:off x="8219440" y="4381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1,276</a:t>
            </a:r>
          </a:p>
        </p:txBody>
      </p:sp>
      <p:sp>
        <p:nvSpPr>
          <p:cNvPr id="528" name="s528"/>
          <p:cNvSpPr/>
          <p:nvPr/>
        </p:nvSpPr>
        <p:spPr>
          <a:xfrm>
            <a:off x="8981440" y="4381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529" name="s529"/>
          <p:cNvSpPr/>
          <p:nvPr/>
        </p:nvSpPr>
        <p:spPr>
          <a:xfrm>
            <a:off x="10276840" y="43815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Adjustment</a:t>
            </a:r>
          </a:p>
        </p:txBody>
      </p:sp>
      <p:sp>
        <p:nvSpPr>
          <p:cNvPr id="530" name="s530"/>
          <p:cNvSpPr/>
          <p:nvPr/>
        </p:nvSpPr>
        <p:spPr>
          <a:xfrm>
            <a:off x="2148840" y="4984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1" name="s531"/>
          <p:cNvSpPr/>
          <p:nvPr/>
        </p:nvSpPr>
        <p:spPr>
          <a:xfrm>
            <a:off x="2148840" y="47244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2" name="s532"/>
          <p:cNvSpPr/>
          <p:nvPr/>
        </p:nvSpPr>
        <p:spPr>
          <a:xfrm>
            <a:off x="2326640" y="46863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TRF-2026-0042</a:t>
            </a:r>
          </a:p>
        </p:txBody>
      </p:sp>
      <p:sp>
        <p:nvSpPr>
          <p:cNvPr id="533" name="s533"/>
          <p:cNvSpPr/>
          <p:nvPr/>
        </p:nvSpPr>
        <p:spPr>
          <a:xfrm>
            <a:off x="3571240" y="46863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3 Jan 2026</a:t>
            </a:r>
          </a:p>
        </p:txBody>
      </p:sp>
      <p:sp>
        <p:nvSpPr>
          <p:cNvPr id="534" name="s534"/>
          <p:cNvSpPr/>
          <p:nvPr/>
        </p:nvSpPr>
        <p:spPr>
          <a:xfrm>
            <a:off x="4536440" y="47498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5" name="s535"/>
          <p:cNvSpPr/>
          <p:nvPr/>
        </p:nvSpPr>
        <p:spPr>
          <a:xfrm>
            <a:off x="4536440" y="47498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Transfer</a:t>
            </a:r>
          </a:p>
        </p:txBody>
      </p:sp>
      <p:sp>
        <p:nvSpPr>
          <p:cNvPr id="536" name="s536"/>
          <p:cNvSpPr/>
          <p:nvPr/>
        </p:nvSpPr>
        <p:spPr>
          <a:xfrm>
            <a:off x="5730240" y="46863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WH-01 → WH-02 Paynesville</a:t>
            </a:r>
          </a:p>
        </p:txBody>
      </p:sp>
      <p:sp>
        <p:nvSpPr>
          <p:cNvPr id="537" name="s537"/>
          <p:cNvSpPr/>
          <p:nvPr/>
        </p:nvSpPr>
        <p:spPr>
          <a:xfrm>
            <a:off x="7584440" y="46863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−200</a:t>
            </a:r>
          </a:p>
        </p:txBody>
      </p:sp>
      <p:sp>
        <p:nvSpPr>
          <p:cNvPr id="538" name="s538"/>
          <p:cNvSpPr/>
          <p:nvPr/>
        </p:nvSpPr>
        <p:spPr>
          <a:xfrm>
            <a:off x="8219440" y="4686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1,284</a:t>
            </a:r>
          </a:p>
        </p:txBody>
      </p:sp>
      <p:sp>
        <p:nvSpPr>
          <p:cNvPr id="539" name="s539"/>
          <p:cNvSpPr/>
          <p:nvPr/>
        </p:nvSpPr>
        <p:spPr>
          <a:xfrm>
            <a:off x="8981440" y="46863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540" name="s540"/>
          <p:cNvSpPr/>
          <p:nvPr/>
        </p:nvSpPr>
        <p:spPr>
          <a:xfrm>
            <a:off x="10276840" y="46863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Transfer</a:t>
            </a:r>
          </a:p>
        </p:txBody>
      </p:sp>
      <p:sp>
        <p:nvSpPr>
          <p:cNvPr id="541" name="s541"/>
          <p:cNvSpPr/>
          <p:nvPr/>
        </p:nvSpPr>
        <p:spPr>
          <a:xfrm>
            <a:off x="2148840" y="5289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2" name="s542"/>
          <p:cNvSpPr/>
          <p:nvPr/>
        </p:nvSpPr>
        <p:spPr>
          <a:xfrm>
            <a:off x="2148840" y="50292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2326640" y="49911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ORD-2026-0079</a:t>
            </a:r>
          </a:p>
        </p:txBody>
      </p:sp>
      <p:sp>
        <p:nvSpPr>
          <p:cNvPr id="544" name="s544"/>
          <p:cNvSpPr/>
          <p:nvPr/>
        </p:nvSpPr>
        <p:spPr>
          <a:xfrm>
            <a:off x="3571240" y="49911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2 Jan 2026</a:t>
            </a:r>
          </a:p>
        </p:txBody>
      </p:sp>
      <p:sp>
        <p:nvSpPr>
          <p:cNvPr id="545" name="s545"/>
          <p:cNvSpPr/>
          <p:nvPr/>
        </p:nvSpPr>
        <p:spPr>
          <a:xfrm>
            <a:off x="4536440" y="50546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6" name="s546"/>
          <p:cNvSpPr/>
          <p:nvPr/>
        </p:nvSpPr>
        <p:spPr>
          <a:xfrm>
            <a:off x="4536440" y="50546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547" name="s547"/>
          <p:cNvSpPr/>
          <p:nvPr/>
        </p:nvSpPr>
        <p:spPr>
          <a:xfrm>
            <a:off x="5730240" y="49911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WH-01 → Nimba Community School</a:t>
            </a:r>
          </a:p>
        </p:txBody>
      </p:sp>
      <p:sp>
        <p:nvSpPr>
          <p:cNvPr id="548" name="s548"/>
          <p:cNvSpPr/>
          <p:nvPr/>
        </p:nvSpPr>
        <p:spPr>
          <a:xfrm>
            <a:off x="7584440" y="49911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−180</a:t>
            </a:r>
          </a:p>
        </p:txBody>
      </p:sp>
      <p:sp>
        <p:nvSpPr>
          <p:cNvPr id="549" name="s549"/>
          <p:cNvSpPr/>
          <p:nvPr/>
        </p:nvSpPr>
        <p:spPr>
          <a:xfrm>
            <a:off x="8219440" y="4991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1,484</a:t>
            </a:r>
          </a:p>
        </p:txBody>
      </p:sp>
      <p:sp>
        <p:nvSpPr>
          <p:cNvPr id="550" name="s550"/>
          <p:cNvSpPr/>
          <p:nvPr/>
        </p:nvSpPr>
        <p:spPr>
          <a:xfrm>
            <a:off x="8981440" y="4991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Grace Doe</a:t>
            </a:r>
          </a:p>
        </p:txBody>
      </p:sp>
      <p:sp>
        <p:nvSpPr>
          <p:cNvPr id="551" name="s551"/>
          <p:cNvSpPr/>
          <p:nvPr/>
        </p:nvSpPr>
        <p:spPr>
          <a:xfrm>
            <a:off x="10276840" y="49911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Order</a:t>
            </a:r>
          </a:p>
        </p:txBody>
      </p:sp>
      <p:sp>
        <p:nvSpPr>
          <p:cNvPr id="552" name="s552"/>
          <p:cNvSpPr/>
          <p:nvPr/>
        </p:nvSpPr>
        <p:spPr>
          <a:xfrm>
            <a:off x="2148840" y="5594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3" name="s553"/>
          <p:cNvSpPr/>
          <p:nvPr/>
        </p:nvSpPr>
        <p:spPr>
          <a:xfrm>
            <a:off x="2148840" y="5334000"/>
            <a:ext cx="25400" cy="228600"/>
          </a:xfrm>
          <a:prstGeom prst="rect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4" name="s554"/>
          <p:cNvSpPr/>
          <p:nvPr/>
        </p:nvSpPr>
        <p:spPr>
          <a:xfrm>
            <a:off x="2326640" y="52959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RTN-2026-0011</a:t>
            </a:r>
          </a:p>
        </p:txBody>
      </p:sp>
      <p:sp>
        <p:nvSpPr>
          <p:cNvPr id="555" name="s555"/>
          <p:cNvSpPr/>
          <p:nvPr/>
        </p:nvSpPr>
        <p:spPr>
          <a:xfrm>
            <a:off x="3571240" y="52959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30 Dec 2025</a:t>
            </a:r>
          </a:p>
        </p:txBody>
      </p:sp>
      <p:sp>
        <p:nvSpPr>
          <p:cNvPr id="556" name="s556"/>
          <p:cNvSpPr/>
          <p:nvPr/>
        </p:nvSpPr>
        <p:spPr>
          <a:xfrm>
            <a:off x="4536440" y="53594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5B6572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7" name="s557"/>
          <p:cNvSpPr/>
          <p:nvPr/>
        </p:nvSpPr>
        <p:spPr>
          <a:xfrm>
            <a:off x="4536440" y="53594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5B6572"/>
                </a:solidFill>
                <a:latin typeface="Calibri"/>
              </a:rPr>
              <a:t>Return</a:t>
            </a:r>
          </a:p>
        </p:txBody>
      </p:sp>
      <p:sp>
        <p:nvSpPr>
          <p:cNvPr id="558" name="s558"/>
          <p:cNvSpPr/>
          <p:nvPr/>
        </p:nvSpPr>
        <p:spPr>
          <a:xfrm>
            <a:off x="5730240" y="52959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Bong Mission Kindergarten → WH-01</a:t>
            </a:r>
          </a:p>
        </p:txBody>
      </p:sp>
      <p:sp>
        <p:nvSpPr>
          <p:cNvPr id="559" name="s559"/>
          <p:cNvSpPr/>
          <p:nvPr/>
        </p:nvSpPr>
        <p:spPr>
          <a:xfrm>
            <a:off x="7584440" y="52959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+24</a:t>
            </a:r>
          </a:p>
        </p:txBody>
      </p:sp>
      <p:sp>
        <p:nvSpPr>
          <p:cNvPr id="560" name="s560"/>
          <p:cNvSpPr/>
          <p:nvPr/>
        </p:nvSpPr>
        <p:spPr>
          <a:xfrm>
            <a:off x="8219440" y="5295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1,664</a:t>
            </a:r>
          </a:p>
        </p:txBody>
      </p:sp>
      <p:sp>
        <p:nvSpPr>
          <p:cNvPr id="561" name="s561"/>
          <p:cNvSpPr/>
          <p:nvPr/>
        </p:nvSpPr>
        <p:spPr>
          <a:xfrm>
            <a:off x="8981440" y="5295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562" name="s562"/>
          <p:cNvSpPr/>
          <p:nvPr/>
        </p:nvSpPr>
        <p:spPr>
          <a:xfrm>
            <a:off x="10276840" y="5295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Return</a:t>
            </a:r>
          </a:p>
        </p:txBody>
      </p:sp>
      <p:sp>
        <p:nvSpPr>
          <p:cNvPr id="563" name="s563"/>
          <p:cNvSpPr/>
          <p:nvPr/>
        </p:nvSpPr>
        <p:spPr>
          <a:xfrm>
            <a:off x="2148840" y="5899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4" name="s564"/>
          <p:cNvSpPr/>
          <p:nvPr/>
        </p:nvSpPr>
        <p:spPr>
          <a:xfrm>
            <a:off x="2148840" y="56388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5" name="s565"/>
          <p:cNvSpPr/>
          <p:nvPr/>
        </p:nvSpPr>
        <p:spPr>
          <a:xfrm>
            <a:off x="2326640" y="56007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ORD-2026-0074</a:t>
            </a:r>
          </a:p>
        </p:txBody>
      </p:sp>
      <p:sp>
        <p:nvSpPr>
          <p:cNvPr id="566" name="s566"/>
          <p:cNvSpPr/>
          <p:nvPr/>
        </p:nvSpPr>
        <p:spPr>
          <a:xfrm>
            <a:off x="3571240" y="56007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28 Dec 2025</a:t>
            </a:r>
          </a:p>
        </p:txBody>
      </p:sp>
      <p:sp>
        <p:nvSpPr>
          <p:cNvPr id="567" name="s567"/>
          <p:cNvSpPr/>
          <p:nvPr/>
        </p:nvSpPr>
        <p:spPr>
          <a:xfrm>
            <a:off x="4536440" y="56642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8" name="s568"/>
          <p:cNvSpPr/>
          <p:nvPr/>
        </p:nvSpPr>
        <p:spPr>
          <a:xfrm>
            <a:off x="4536440" y="56642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569" name="s569"/>
          <p:cNvSpPr/>
          <p:nvPr/>
        </p:nvSpPr>
        <p:spPr>
          <a:xfrm>
            <a:off x="5730240" y="56007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WH-01 → Kakata Nursery Academy</a:t>
            </a:r>
          </a:p>
        </p:txBody>
      </p:sp>
      <p:sp>
        <p:nvSpPr>
          <p:cNvPr id="570" name="s570"/>
          <p:cNvSpPr/>
          <p:nvPr/>
        </p:nvSpPr>
        <p:spPr>
          <a:xfrm>
            <a:off x="7584440" y="56007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−140</a:t>
            </a:r>
          </a:p>
        </p:txBody>
      </p:sp>
      <p:sp>
        <p:nvSpPr>
          <p:cNvPr id="571" name="s571"/>
          <p:cNvSpPr/>
          <p:nvPr/>
        </p:nvSpPr>
        <p:spPr>
          <a:xfrm>
            <a:off x="8219440" y="5600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1,640</a:t>
            </a:r>
          </a:p>
        </p:txBody>
      </p:sp>
      <p:sp>
        <p:nvSpPr>
          <p:cNvPr id="572" name="s572"/>
          <p:cNvSpPr/>
          <p:nvPr/>
        </p:nvSpPr>
        <p:spPr>
          <a:xfrm>
            <a:off x="8981440" y="5600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Grace Doe</a:t>
            </a:r>
          </a:p>
        </p:txBody>
      </p:sp>
      <p:sp>
        <p:nvSpPr>
          <p:cNvPr id="573" name="s573"/>
          <p:cNvSpPr/>
          <p:nvPr/>
        </p:nvSpPr>
        <p:spPr>
          <a:xfrm>
            <a:off x="10276840" y="56007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Order</a:t>
            </a:r>
          </a:p>
        </p:txBody>
      </p:sp>
      <p:sp>
        <p:nvSpPr>
          <p:cNvPr id="574" name="s574"/>
          <p:cNvSpPr/>
          <p:nvPr/>
        </p:nvSpPr>
        <p:spPr>
          <a:xfrm>
            <a:off x="2148840" y="6203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5" name="s575"/>
          <p:cNvSpPr/>
          <p:nvPr/>
        </p:nvSpPr>
        <p:spPr>
          <a:xfrm>
            <a:off x="2148840" y="59436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6" name="s576"/>
          <p:cNvSpPr/>
          <p:nvPr/>
        </p:nvSpPr>
        <p:spPr>
          <a:xfrm>
            <a:off x="2326640" y="59055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PO-2026-0109</a:t>
            </a:r>
          </a:p>
        </p:txBody>
      </p:sp>
      <p:sp>
        <p:nvSpPr>
          <p:cNvPr id="577" name="s577"/>
          <p:cNvSpPr/>
          <p:nvPr/>
        </p:nvSpPr>
        <p:spPr>
          <a:xfrm>
            <a:off x="3571240" y="59055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27 Dec 2025</a:t>
            </a:r>
          </a:p>
        </p:txBody>
      </p:sp>
      <p:sp>
        <p:nvSpPr>
          <p:cNvPr id="578" name="s578"/>
          <p:cNvSpPr/>
          <p:nvPr/>
        </p:nvSpPr>
        <p:spPr>
          <a:xfrm>
            <a:off x="4536440" y="59690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9" name="s579"/>
          <p:cNvSpPr/>
          <p:nvPr/>
        </p:nvSpPr>
        <p:spPr>
          <a:xfrm>
            <a:off x="4536440" y="59690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Purchase</a:t>
            </a:r>
          </a:p>
        </p:txBody>
      </p:sp>
      <p:sp>
        <p:nvSpPr>
          <p:cNvPr id="580" name="s580"/>
          <p:cNvSpPr/>
          <p:nvPr/>
        </p:nvSpPr>
        <p:spPr>
          <a:xfrm>
            <a:off x="5730240" y="5905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Kakata Paper Mills → WH-01</a:t>
            </a:r>
          </a:p>
        </p:txBody>
      </p:sp>
      <p:sp>
        <p:nvSpPr>
          <p:cNvPr id="581" name="s581"/>
          <p:cNvSpPr/>
          <p:nvPr/>
        </p:nvSpPr>
        <p:spPr>
          <a:xfrm>
            <a:off x="7584440" y="59055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+800</a:t>
            </a:r>
          </a:p>
        </p:txBody>
      </p:sp>
      <p:sp>
        <p:nvSpPr>
          <p:cNvPr id="582" name="s582"/>
          <p:cNvSpPr/>
          <p:nvPr/>
        </p:nvSpPr>
        <p:spPr>
          <a:xfrm>
            <a:off x="8219440" y="5905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1,780</a:t>
            </a:r>
          </a:p>
        </p:txBody>
      </p:sp>
      <p:sp>
        <p:nvSpPr>
          <p:cNvPr id="583" name="s583"/>
          <p:cNvSpPr/>
          <p:nvPr/>
        </p:nvSpPr>
        <p:spPr>
          <a:xfrm>
            <a:off x="8981440" y="5905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James Kollie</a:t>
            </a:r>
          </a:p>
        </p:txBody>
      </p:sp>
      <p:sp>
        <p:nvSpPr>
          <p:cNvPr id="584" name="s584"/>
          <p:cNvSpPr/>
          <p:nvPr/>
        </p:nvSpPr>
        <p:spPr>
          <a:xfrm>
            <a:off x="10276840" y="59055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Purchase order</a:t>
            </a:r>
          </a:p>
        </p:txBody>
      </p:sp>
      <p:sp>
        <p:nvSpPr>
          <p:cNvPr id="585" name="s585"/>
          <p:cNvSpPr/>
          <p:nvPr/>
        </p:nvSpPr>
        <p:spPr>
          <a:xfrm>
            <a:off x="2326640" y="6248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9 movements  ·  net change +260 units</a:t>
            </a:r>
          </a:p>
        </p:txBody>
      </p:sp>
      <p:sp>
        <p:nvSpPr>
          <p:cNvPr id="586" name="s586"/>
          <p:cNvSpPr/>
          <p:nvPr/>
        </p:nvSpPr>
        <p:spPr>
          <a:xfrm>
            <a:off x="8122920" y="6248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Balances reconcile to the inventory ledger</a:t>
            </a:r>
          </a:p>
        </p:txBody>
      </p:sp>
      <p:pic>
        <p:nvPicPr>
          <p:cNvPr id="587" name="Copied Picture 587">
            <a:extLst>
              <a:ext uri="{FF2B5EF4-FFF2-40B4-BE49-F238E27FC236}">
                <a16:creationId xmlns:a16="http://schemas.microsoft.com/office/drawing/2014/main" id="{5A200BD9-3D1A-A816-57EF-7B7211F2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3680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3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101600" y="1130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7" name="s407"/>
          <p:cNvSpPr/>
          <p:nvPr/>
        </p:nvSpPr>
        <p:spPr>
          <a:xfrm>
            <a:off x="101600" y="1130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Inventory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Inventory Overview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Live stock position across 3 warehouses  ·  updated 7 Jan 2026, 09:42</a:t>
            </a:r>
          </a:p>
        </p:txBody>
      </p:sp>
      <p:sp>
        <p:nvSpPr>
          <p:cNvPr id="444" name="s444"/>
          <p:cNvSpPr/>
          <p:nvPr/>
        </p:nvSpPr>
        <p:spPr>
          <a:xfrm>
            <a:off x="10530840" y="812800"/>
            <a:ext cx="140208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530840" y="812800"/>
            <a:ext cx="14020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Stock Transfer</a:t>
            </a:r>
          </a:p>
        </p:txBody>
      </p:sp>
      <p:sp>
        <p:nvSpPr>
          <p:cNvPr id="446" name="s446"/>
          <p:cNvSpPr/>
          <p:nvPr/>
        </p:nvSpPr>
        <p:spPr>
          <a:xfrm>
            <a:off x="968756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68756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448" name="s448"/>
          <p:cNvSpPr/>
          <p:nvPr/>
        </p:nvSpPr>
        <p:spPr>
          <a:xfrm>
            <a:off x="8158480" y="812800"/>
            <a:ext cx="14020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8158480" y="812800"/>
            <a:ext cx="14020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Stock Adjustment</a:t>
            </a:r>
          </a:p>
        </p:txBody>
      </p:sp>
      <p:sp>
        <p:nvSpPr>
          <p:cNvPr id="450" name="s450"/>
          <p:cNvSpPr/>
          <p:nvPr/>
        </p:nvSpPr>
        <p:spPr>
          <a:xfrm>
            <a:off x="2148840" y="1422400"/>
            <a:ext cx="128905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148840" y="1422400"/>
            <a:ext cx="31750" cy="838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2275840" y="15367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Total products</a:t>
            </a:r>
          </a:p>
        </p:txBody>
      </p:sp>
      <p:sp>
        <p:nvSpPr>
          <p:cNvPr id="453" name="s453"/>
          <p:cNvSpPr/>
          <p:nvPr/>
        </p:nvSpPr>
        <p:spPr>
          <a:xfrm>
            <a:off x="2275840" y="1689100"/>
            <a:ext cx="10858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245</a:t>
            </a:r>
          </a:p>
        </p:txBody>
      </p:sp>
      <p:sp>
        <p:nvSpPr>
          <p:cNvPr id="454" name="s454"/>
          <p:cNvSpPr/>
          <p:nvPr/>
        </p:nvSpPr>
        <p:spPr>
          <a:xfrm>
            <a:off x="3564890" y="1422400"/>
            <a:ext cx="128905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3564890" y="1422400"/>
            <a:ext cx="31750" cy="838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6" name="s456"/>
          <p:cNvSpPr/>
          <p:nvPr/>
        </p:nvSpPr>
        <p:spPr>
          <a:xfrm>
            <a:off x="3691890" y="15367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Total units</a:t>
            </a:r>
          </a:p>
        </p:txBody>
      </p:sp>
      <p:sp>
        <p:nvSpPr>
          <p:cNvPr id="457" name="s457"/>
          <p:cNvSpPr/>
          <p:nvPr/>
        </p:nvSpPr>
        <p:spPr>
          <a:xfrm>
            <a:off x="3691890" y="1689100"/>
            <a:ext cx="10858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18,450</a:t>
            </a:r>
          </a:p>
        </p:txBody>
      </p:sp>
      <p:sp>
        <p:nvSpPr>
          <p:cNvPr id="458" name="s458"/>
          <p:cNvSpPr/>
          <p:nvPr/>
        </p:nvSpPr>
        <p:spPr>
          <a:xfrm>
            <a:off x="4980940" y="1422400"/>
            <a:ext cx="128905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4980940" y="1422400"/>
            <a:ext cx="31750" cy="8382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5107940" y="15367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Inventory value</a:t>
            </a:r>
          </a:p>
        </p:txBody>
      </p:sp>
      <p:sp>
        <p:nvSpPr>
          <p:cNvPr id="461" name="s461"/>
          <p:cNvSpPr/>
          <p:nvPr/>
        </p:nvSpPr>
        <p:spPr>
          <a:xfrm>
            <a:off x="5107940" y="1689100"/>
            <a:ext cx="10858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$42,850</a:t>
            </a:r>
          </a:p>
        </p:txBody>
      </p:sp>
      <p:sp>
        <p:nvSpPr>
          <p:cNvPr id="462" name="s462"/>
          <p:cNvSpPr/>
          <p:nvPr/>
        </p:nvSpPr>
        <p:spPr>
          <a:xfrm>
            <a:off x="6396990" y="1422400"/>
            <a:ext cx="128905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6396990" y="1422400"/>
            <a:ext cx="31750" cy="8382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6523990" y="15367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Low stock</a:t>
            </a:r>
          </a:p>
        </p:txBody>
      </p:sp>
      <p:sp>
        <p:nvSpPr>
          <p:cNvPr id="465" name="s465"/>
          <p:cNvSpPr/>
          <p:nvPr/>
        </p:nvSpPr>
        <p:spPr>
          <a:xfrm>
            <a:off x="6523990" y="1689100"/>
            <a:ext cx="10858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18</a:t>
            </a:r>
          </a:p>
        </p:txBody>
      </p:sp>
      <p:sp>
        <p:nvSpPr>
          <p:cNvPr id="466" name="s466"/>
          <p:cNvSpPr/>
          <p:nvPr/>
        </p:nvSpPr>
        <p:spPr>
          <a:xfrm>
            <a:off x="6523990" y="19812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below reorder</a:t>
            </a:r>
          </a:p>
        </p:txBody>
      </p:sp>
      <p:sp>
        <p:nvSpPr>
          <p:cNvPr id="467" name="s467"/>
          <p:cNvSpPr/>
          <p:nvPr/>
        </p:nvSpPr>
        <p:spPr>
          <a:xfrm>
            <a:off x="7813040" y="1422400"/>
            <a:ext cx="128905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8" name="s468"/>
          <p:cNvSpPr/>
          <p:nvPr/>
        </p:nvSpPr>
        <p:spPr>
          <a:xfrm>
            <a:off x="7813040" y="1422400"/>
            <a:ext cx="31750" cy="8382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7940040" y="15367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Out of stock</a:t>
            </a:r>
          </a:p>
        </p:txBody>
      </p:sp>
      <p:sp>
        <p:nvSpPr>
          <p:cNvPr id="470" name="s470"/>
          <p:cNvSpPr/>
          <p:nvPr/>
        </p:nvSpPr>
        <p:spPr>
          <a:xfrm>
            <a:off x="7940040" y="1689100"/>
            <a:ext cx="10858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7</a:t>
            </a:r>
          </a:p>
        </p:txBody>
      </p:sp>
      <p:sp>
        <p:nvSpPr>
          <p:cNvPr id="471" name="s471"/>
          <p:cNvSpPr/>
          <p:nvPr/>
        </p:nvSpPr>
        <p:spPr>
          <a:xfrm>
            <a:off x="7940040" y="19812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needs PO</a:t>
            </a:r>
          </a:p>
        </p:txBody>
      </p:sp>
      <p:sp>
        <p:nvSpPr>
          <p:cNvPr id="472" name="s472"/>
          <p:cNvSpPr/>
          <p:nvPr/>
        </p:nvSpPr>
        <p:spPr>
          <a:xfrm>
            <a:off x="9229090" y="1422400"/>
            <a:ext cx="128905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3" name="s473"/>
          <p:cNvSpPr/>
          <p:nvPr/>
        </p:nvSpPr>
        <p:spPr>
          <a:xfrm>
            <a:off x="9229090" y="1422400"/>
            <a:ext cx="31750" cy="8382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4" name="s474"/>
          <p:cNvSpPr/>
          <p:nvPr/>
        </p:nvSpPr>
        <p:spPr>
          <a:xfrm>
            <a:off x="9356090" y="15367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Incoming</a:t>
            </a:r>
          </a:p>
        </p:txBody>
      </p:sp>
      <p:sp>
        <p:nvSpPr>
          <p:cNvPr id="475" name="s475"/>
          <p:cNvSpPr/>
          <p:nvPr/>
        </p:nvSpPr>
        <p:spPr>
          <a:xfrm>
            <a:off x="9356090" y="1689100"/>
            <a:ext cx="10858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2,340</a:t>
            </a:r>
          </a:p>
        </p:txBody>
      </p:sp>
      <p:sp>
        <p:nvSpPr>
          <p:cNvPr id="476" name="s476"/>
          <p:cNvSpPr/>
          <p:nvPr/>
        </p:nvSpPr>
        <p:spPr>
          <a:xfrm>
            <a:off x="9356090" y="19812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3 open POs</a:t>
            </a:r>
          </a:p>
        </p:txBody>
      </p:sp>
      <p:sp>
        <p:nvSpPr>
          <p:cNvPr id="477" name="s477"/>
          <p:cNvSpPr/>
          <p:nvPr/>
        </p:nvSpPr>
        <p:spPr>
          <a:xfrm>
            <a:off x="10645140" y="1422400"/>
            <a:ext cx="128905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10645140" y="1422400"/>
            <a:ext cx="31750" cy="838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10772140" y="15367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Reserved</a:t>
            </a:r>
          </a:p>
        </p:txBody>
      </p:sp>
      <p:sp>
        <p:nvSpPr>
          <p:cNvPr id="480" name="s480"/>
          <p:cNvSpPr/>
          <p:nvPr/>
        </p:nvSpPr>
        <p:spPr>
          <a:xfrm>
            <a:off x="10772140" y="1689100"/>
            <a:ext cx="10858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1,180</a:t>
            </a:r>
          </a:p>
        </p:txBody>
      </p:sp>
      <p:sp>
        <p:nvSpPr>
          <p:cNvPr id="481" name="s481"/>
          <p:cNvSpPr/>
          <p:nvPr/>
        </p:nvSpPr>
        <p:spPr>
          <a:xfrm>
            <a:off x="10772140" y="1981200"/>
            <a:ext cx="10858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on 24 orders</a:t>
            </a:r>
          </a:p>
        </p:txBody>
      </p:sp>
      <p:sp>
        <p:nvSpPr>
          <p:cNvPr id="482" name="s482"/>
          <p:cNvSpPr/>
          <p:nvPr/>
        </p:nvSpPr>
        <p:spPr>
          <a:xfrm>
            <a:off x="2148840" y="2489200"/>
            <a:ext cx="9784080" cy="401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2326640" y="2628900"/>
            <a:ext cx="8006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Stock by Product</a:t>
            </a:r>
          </a:p>
        </p:txBody>
      </p:sp>
      <p:sp>
        <p:nvSpPr>
          <p:cNvPr id="484" name="s484"/>
          <p:cNvSpPr/>
          <p:nvPr/>
        </p:nvSpPr>
        <p:spPr>
          <a:xfrm>
            <a:off x="2326640" y="2895600"/>
            <a:ext cx="108585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2453640" y="2895600"/>
            <a:ext cx="73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Category: </a:t>
            </a:r>
          </a:p>
        </p:txBody>
      </p:sp>
      <p:sp>
        <p:nvSpPr>
          <p:cNvPr id="486" name="s486"/>
          <p:cNvSpPr/>
          <p:nvPr/>
        </p:nvSpPr>
        <p:spPr>
          <a:xfrm>
            <a:off x="3022600" y="2895600"/>
            <a:ext cx="7048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All</a:t>
            </a:r>
          </a:p>
        </p:txBody>
      </p:sp>
      <p:sp>
        <p:nvSpPr>
          <p:cNvPr id="487" name="s487"/>
          <p:cNvSpPr/>
          <p:nvPr/>
        </p:nvSpPr>
        <p:spPr>
          <a:xfrm rot="10800000">
            <a:off x="3221990" y="300990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3514090" y="2895600"/>
            <a:ext cx="114427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3641090" y="2895600"/>
            <a:ext cx="7886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Warehouse: </a:t>
            </a:r>
          </a:p>
        </p:txBody>
      </p:sp>
      <p:sp>
        <p:nvSpPr>
          <p:cNvPr id="490" name="s490"/>
          <p:cNvSpPr/>
          <p:nvPr/>
        </p:nvSpPr>
        <p:spPr>
          <a:xfrm>
            <a:off x="4268470" y="2895600"/>
            <a:ext cx="7632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All</a:t>
            </a:r>
          </a:p>
        </p:txBody>
      </p:sp>
      <p:sp>
        <p:nvSpPr>
          <p:cNvPr id="491" name="s491"/>
          <p:cNvSpPr/>
          <p:nvPr/>
        </p:nvSpPr>
        <p:spPr>
          <a:xfrm rot="10800000">
            <a:off x="4467860" y="300990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4759960" y="2895600"/>
            <a:ext cx="96901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4886960" y="2895600"/>
            <a:ext cx="61341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Status: </a:t>
            </a:r>
          </a:p>
        </p:txBody>
      </p:sp>
      <p:sp>
        <p:nvSpPr>
          <p:cNvPr id="494" name="s494"/>
          <p:cNvSpPr/>
          <p:nvPr/>
        </p:nvSpPr>
        <p:spPr>
          <a:xfrm>
            <a:off x="5339080" y="2895600"/>
            <a:ext cx="58801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All</a:t>
            </a:r>
          </a:p>
        </p:txBody>
      </p:sp>
      <p:sp>
        <p:nvSpPr>
          <p:cNvPr id="495" name="s495"/>
          <p:cNvSpPr/>
          <p:nvPr/>
        </p:nvSpPr>
        <p:spPr>
          <a:xfrm rot="10800000">
            <a:off x="5538470" y="300990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5830570" y="2895600"/>
            <a:ext cx="147447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5957570" y="2895600"/>
            <a:ext cx="11188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Sort: </a:t>
            </a:r>
          </a:p>
        </p:txBody>
      </p:sp>
      <p:sp>
        <p:nvSpPr>
          <p:cNvPr id="498" name="s498"/>
          <p:cNvSpPr/>
          <p:nvPr/>
        </p:nvSpPr>
        <p:spPr>
          <a:xfrm>
            <a:off x="6292850" y="2895600"/>
            <a:ext cx="10934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Qty ascending</a:t>
            </a:r>
          </a:p>
        </p:txBody>
      </p:sp>
      <p:sp>
        <p:nvSpPr>
          <p:cNvPr id="499" name="s499"/>
          <p:cNvSpPr/>
          <p:nvPr/>
        </p:nvSpPr>
        <p:spPr>
          <a:xfrm rot="10800000">
            <a:off x="7114540" y="300990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0" name="s500"/>
          <p:cNvSpPr/>
          <p:nvPr/>
        </p:nvSpPr>
        <p:spPr>
          <a:xfrm>
            <a:off x="9418320" y="2895600"/>
            <a:ext cx="114300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Columns</a:t>
            </a:r>
          </a:p>
        </p:txBody>
      </p:sp>
      <p:sp>
        <p:nvSpPr>
          <p:cNvPr id="501" name="s501"/>
          <p:cNvSpPr/>
          <p:nvPr/>
        </p:nvSpPr>
        <p:spPr>
          <a:xfrm>
            <a:off x="10662920" y="2895600"/>
            <a:ext cx="109220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Export CSV</a:t>
            </a:r>
          </a:p>
        </p:txBody>
      </p:sp>
      <p:sp>
        <p:nvSpPr>
          <p:cNvPr id="502" name="s502"/>
          <p:cNvSpPr/>
          <p:nvPr/>
        </p:nvSpPr>
        <p:spPr>
          <a:xfrm>
            <a:off x="2148840" y="33020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2326640" y="330200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504" name="s504"/>
          <p:cNvSpPr/>
          <p:nvPr/>
        </p:nvSpPr>
        <p:spPr>
          <a:xfrm>
            <a:off x="3164840" y="3302000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505" name="s505"/>
          <p:cNvSpPr/>
          <p:nvPr/>
        </p:nvSpPr>
        <p:spPr>
          <a:xfrm>
            <a:off x="5374640" y="3302000"/>
            <a:ext cx="990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WAREHOUSE</a:t>
            </a:r>
          </a:p>
        </p:txBody>
      </p:sp>
      <p:sp>
        <p:nvSpPr>
          <p:cNvPr id="506" name="s506"/>
          <p:cNvSpPr/>
          <p:nvPr/>
        </p:nvSpPr>
        <p:spPr>
          <a:xfrm>
            <a:off x="6441440" y="33020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ON HAND</a:t>
            </a:r>
          </a:p>
        </p:txBody>
      </p:sp>
      <p:sp>
        <p:nvSpPr>
          <p:cNvPr id="507" name="s507"/>
          <p:cNvSpPr/>
          <p:nvPr/>
        </p:nvSpPr>
        <p:spPr>
          <a:xfrm>
            <a:off x="7228840" y="3302000"/>
            <a:ext cx="660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RESERVED</a:t>
            </a:r>
          </a:p>
        </p:txBody>
      </p:sp>
      <p:sp>
        <p:nvSpPr>
          <p:cNvPr id="508" name="s508"/>
          <p:cNvSpPr/>
          <p:nvPr/>
        </p:nvSpPr>
        <p:spPr>
          <a:xfrm>
            <a:off x="7965440" y="33020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AVAILABLE</a:t>
            </a:r>
          </a:p>
        </p:txBody>
      </p:sp>
      <p:sp>
        <p:nvSpPr>
          <p:cNvPr id="509" name="s509"/>
          <p:cNvSpPr/>
          <p:nvPr/>
        </p:nvSpPr>
        <p:spPr>
          <a:xfrm>
            <a:off x="8752840" y="3302000"/>
            <a:ext cx="635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REORDER</a:t>
            </a:r>
          </a:p>
        </p:txBody>
      </p:sp>
      <p:sp>
        <p:nvSpPr>
          <p:cNvPr id="510" name="s510"/>
          <p:cNvSpPr/>
          <p:nvPr/>
        </p:nvSpPr>
        <p:spPr>
          <a:xfrm>
            <a:off x="9464040" y="3302000"/>
            <a:ext cx="990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511" name="s511"/>
          <p:cNvSpPr/>
          <p:nvPr/>
        </p:nvSpPr>
        <p:spPr>
          <a:xfrm>
            <a:off x="10530840" y="3302000"/>
            <a:ext cx="965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60" dirty="0">
                <a:solidFill>
                  <a:srgbClr val="5B6572"/>
                </a:solidFill>
                <a:latin typeface="Calibri"/>
              </a:rPr>
              <a:t>LAST UPDATED</a:t>
            </a:r>
          </a:p>
        </p:txBody>
      </p:sp>
      <p:sp>
        <p:nvSpPr>
          <p:cNvPr id="512" name="s512"/>
          <p:cNvSpPr/>
          <p:nvPr/>
        </p:nvSpPr>
        <p:spPr>
          <a:xfrm>
            <a:off x="2148840" y="3867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2148840" y="36068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s514"/>
          <p:cNvSpPr/>
          <p:nvPr/>
        </p:nvSpPr>
        <p:spPr>
          <a:xfrm>
            <a:off x="2326640" y="35687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BK-0142</a:t>
            </a:r>
          </a:p>
        </p:txBody>
      </p:sp>
      <p:sp>
        <p:nvSpPr>
          <p:cNvPr id="515" name="s515"/>
          <p:cNvSpPr/>
          <p:nvPr/>
        </p:nvSpPr>
        <p:spPr>
          <a:xfrm>
            <a:off x="3164840" y="35687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16" name="s516"/>
          <p:cNvSpPr/>
          <p:nvPr/>
        </p:nvSpPr>
        <p:spPr>
          <a:xfrm>
            <a:off x="5374640" y="35687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17" name="s517"/>
          <p:cNvSpPr/>
          <p:nvPr/>
        </p:nvSpPr>
        <p:spPr>
          <a:xfrm>
            <a:off x="6441440" y="3568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518" name="s518"/>
          <p:cNvSpPr/>
          <p:nvPr/>
        </p:nvSpPr>
        <p:spPr>
          <a:xfrm>
            <a:off x="7228840" y="35687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180</a:t>
            </a:r>
          </a:p>
        </p:txBody>
      </p:sp>
      <p:sp>
        <p:nvSpPr>
          <p:cNvPr id="519" name="s519"/>
          <p:cNvSpPr/>
          <p:nvPr/>
        </p:nvSpPr>
        <p:spPr>
          <a:xfrm>
            <a:off x="7965440" y="3568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1,060</a:t>
            </a:r>
          </a:p>
        </p:txBody>
      </p:sp>
      <p:sp>
        <p:nvSpPr>
          <p:cNvPr id="520" name="s520"/>
          <p:cNvSpPr/>
          <p:nvPr/>
        </p:nvSpPr>
        <p:spPr>
          <a:xfrm>
            <a:off x="8752840" y="3568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200</a:t>
            </a:r>
          </a:p>
        </p:txBody>
      </p:sp>
      <p:sp>
        <p:nvSpPr>
          <p:cNvPr id="521" name="s521"/>
          <p:cNvSpPr/>
          <p:nvPr/>
        </p:nvSpPr>
        <p:spPr>
          <a:xfrm>
            <a:off x="9464040" y="3632200"/>
            <a:ext cx="9906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9464040" y="3632200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23" name="s523"/>
          <p:cNvSpPr/>
          <p:nvPr/>
        </p:nvSpPr>
        <p:spPr>
          <a:xfrm>
            <a:off x="10530840" y="35687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2 min ago</a:t>
            </a:r>
          </a:p>
        </p:txBody>
      </p:sp>
      <p:sp>
        <p:nvSpPr>
          <p:cNvPr id="524" name="s524"/>
          <p:cNvSpPr/>
          <p:nvPr/>
        </p:nvSpPr>
        <p:spPr>
          <a:xfrm>
            <a:off x="2148840" y="4171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2148840" y="39116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2326640" y="3873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BK-0148</a:t>
            </a:r>
          </a:p>
        </p:txBody>
      </p:sp>
      <p:sp>
        <p:nvSpPr>
          <p:cNvPr id="527" name="s527"/>
          <p:cNvSpPr/>
          <p:nvPr/>
        </p:nvSpPr>
        <p:spPr>
          <a:xfrm>
            <a:off x="3164840" y="38735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My First Mathematics Book</a:t>
            </a:r>
          </a:p>
        </p:txBody>
      </p:sp>
      <p:sp>
        <p:nvSpPr>
          <p:cNvPr id="528" name="s528"/>
          <p:cNvSpPr/>
          <p:nvPr/>
        </p:nvSpPr>
        <p:spPr>
          <a:xfrm>
            <a:off x="5374640" y="38735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29" name="s529"/>
          <p:cNvSpPr/>
          <p:nvPr/>
        </p:nvSpPr>
        <p:spPr>
          <a:xfrm>
            <a:off x="6441440" y="3873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860</a:t>
            </a:r>
          </a:p>
        </p:txBody>
      </p:sp>
      <p:sp>
        <p:nvSpPr>
          <p:cNvPr id="530" name="s530"/>
          <p:cNvSpPr/>
          <p:nvPr/>
        </p:nvSpPr>
        <p:spPr>
          <a:xfrm>
            <a:off x="7228840" y="38735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120</a:t>
            </a:r>
          </a:p>
        </p:txBody>
      </p:sp>
      <p:sp>
        <p:nvSpPr>
          <p:cNvPr id="531" name="s531"/>
          <p:cNvSpPr/>
          <p:nvPr/>
        </p:nvSpPr>
        <p:spPr>
          <a:xfrm>
            <a:off x="7965440" y="3873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740</a:t>
            </a:r>
          </a:p>
        </p:txBody>
      </p:sp>
      <p:sp>
        <p:nvSpPr>
          <p:cNvPr id="532" name="s532"/>
          <p:cNvSpPr/>
          <p:nvPr/>
        </p:nvSpPr>
        <p:spPr>
          <a:xfrm>
            <a:off x="8752840" y="3873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200</a:t>
            </a:r>
          </a:p>
        </p:txBody>
      </p:sp>
      <p:sp>
        <p:nvSpPr>
          <p:cNvPr id="533" name="s533"/>
          <p:cNvSpPr/>
          <p:nvPr/>
        </p:nvSpPr>
        <p:spPr>
          <a:xfrm>
            <a:off x="9464040" y="3937000"/>
            <a:ext cx="9906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9464040" y="3937000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35" name="s535"/>
          <p:cNvSpPr/>
          <p:nvPr/>
        </p:nvSpPr>
        <p:spPr>
          <a:xfrm>
            <a:off x="10530840" y="38735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18 min ago</a:t>
            </a:r>
          </a:p>
        </p:txBody>
      </p:sp>
      <p:sp>
        <p:nvSpPr>
          <p:cNvPr id="536" name="s536"/>
          <p:cNvSpPr/>
          <p:nvPr/>
        </p:nvSpPr>
        <p:spPr>
          <a:xfrm>
            <a:off x="2148840" y="4476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7" name="s537"/>
          <p:cNvSpPr/>
          <p:nvPr/>
        </p:nvSpPr>
        <p:spPr>
          <a:xfrm>
            <a:off x="2148840" y="42164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2326640" y="41783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BK-0151</a:t>
            </a:r>
          </a:p>
        </p:txBody>
      </p:sp>
      <p:sp>
        <p:nvSpPr>
          <p:cNvPr id="539" name="s539"/>
          <p:cNvSpPr/>
          <p:nvPr/>
        </p:nvSpPr>
        <p:spPr>
          <a:xfrm>
            <a:off x="3164840" y="41783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Early Reading Level 1</a:t>
            </a:r>
          </a:p>
        </p:txBody>
      </p:sp>
      <p:sp>
        <p:nvSpPr>
          <p:cNvPr id="540" name="s540"/>
          <p:cNvSpPr/>
          <p:nvPr/>
        </p:nvSpPr>
        <p:spPr>
          <a:xfrm>
            <a:off x="5374640" y="41783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541" name="s541"/>
          <p:cNvSpPr/>
          <p:nvPr/>
        </p:nvSpPr>
        <p:spPr>
          <a:xfrm>
            <a:off x="6441440" y="4178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640</a:t>
            </a:r>
          </a:p>
        </p:txBody>
      </p:sp>
      <p:sp>
        <p:nvSpPr>
          <p:cNvPr id="542" name="s542"/>
          <p:cNvSpPr/>
          <p:nvPr/>
        </p:nvSpPr>
        <p:spPr>
          <a:xfrm>
            <a:off x="7228840" y="41783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60</a:t>
            </a:r>
          </a:p>
        </p:txBody>
      </p:sp>
      <p:sp>
        <p:nvSpPr>
          <p:cNvPr id="543" name="s543"/>
          <p:cNvSpPr/>
          <p:nvPr/>
        </p:nvSpPr>
        <p:spPr>
          <a:xfrm>
            <a:off x="7965440" y="4178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580</a:t>
            </a:r>
          </a:p>
        </p:txBody>
      </p:sp>
      <p:sp>
        <p:nvSpPr>
          <p:cNvPr id="544" name="s544"/>
          <p:cNvSpPr/>
          <p:nvPr/>
        </p:nvSpPr>
        <p:spPr>
          <a:xfrm>
            <a:off x="8752840" y="41783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150</a:t>
            </a:r>
          </a:p>
        </p:txBody>
      </p:sp>
      <p:sp>
        <p:nvSpPr>
          <p:cNvPr id="545" name="s545"/>
          <p:cNvSpPr/>
          <p:nvPr/>
        </p:nvSpPr>
        <p:spPr>
          <a:xfrm>
            <a:off x="9464040" y="4241800"/>
            <a:ext cx="9906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6" name="s546"/>
          <p:cNvSpPr/>
          <p:nvPr/>
        </p:nvSpPr>
        <p:spPr>
          <a:xfrm>
            <a:off x="9464040" y="4241800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47" name="s547"/>
          <p:cNvSpPr/>
          <p:nvPr/>
        </p:nvSpPr>
        <p:spPr>
          <a:xfrm>
            <a:off x="10530840" y="41783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 hr ago</a:t>
            </a:r>
          </a:p>
        </p:txBody>
      </p:sp>
      <p:sp>
        <p:nvSpPr>
          <p:cNvPr id="548" name="s548"/>
          <p:cNvSpPr/>
          <p:nvPr/>
        </p:nvSpPr>
        <p:spPr>
          <a:xfrm>
            <a:off x="2148840" y="4781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9" name="s549"/>
          <p:cNvSpPr/>
          <p:nvPr/>
        </p:nvSpPr>
        <p:spPr>
          <a:xfrm>
            <a:off x="2148840" y="45212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0" name="s550"/>
          <p:cNvSpPr/>
          <p:nvPr/>
        </p:nvSpPr>
        <p:spPr>
          <a:xfrm>
            <a:off x="2326640" y="44831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BK-0156</a:t>
            </a:r>
          </a:p>
        </p:txBody>
      </p:sp>
      <p:sp>
        <p:nvSpPr>
          <p:cNvPr id="551" name="s551"/>
          <p:cNvSpPr/>
          <p:nvPr/>
        </p:nvSpPr>
        <p:spPr>
          <a:xfrm>
            <a:off x="3164840" y="44831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Science Discovery Book</a:t>
            </a:r>
          </a:p>
        </p:txBody>
      </p:sp>
      <p:sp>
        <p:nvSpPr>
          <p:cNvPr id="552" name="s552"/>
          <p:cNvSpPr/>
          <p:nvPr/>
        </p:nvSpPr>
        <p:spPr>
          <a:xfrm>
            <a:off x="5374640" y="44831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553" name="s553"/>
          <p:cNvSpPr/>
          <p:nvPr/>
        </p:nvSpPr>
        <p:spPr>
          <a:xfrm>
            <a:off x="6441440" y="44831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112</a:t>
            </a:r>
          </a:p>
        </p:txBody>
      </p:sp>
      <p:sp>
        <p:nvSpPr>
          <p:cNvPr id="554" name="s554"/>
          <p:cNvSpPr/>
          <p:nvPr/>
        </p:nvSpPr>
        <p:spPr>
          <a:xfrm>
            <a:off x="7228840" y="44831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40</a:t>
            </a:r>
          </a:p>
        </p:txBody>
      </p:sp>
      <p:sp>
        <p:nvSpPr>
          <p:cNvPr id="555" name="s555"/>
          <p:cNvSpPr/>
          <p:nvPr/>
        </p:nvSpPr>
        <p:spPr>
          <a:xfrm>
            <a:off x="7965440" y="44831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72</a:t>
            </a:r>
          </a:p>
        </p:txBody>
      </p:sp>
      <p:sp>
        <p:nvSpPr>
          <p:cNvPr id="556" name="s556"/>
          <p:cNvSpPr/>
          <p:nvPr/>
        </p:nvSpPr>
        <p:spPr>
          <a:xfrm>
            <a:off x="8752840" y="44831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160</a:t>
            </a:r>
          </a:p>
        </p:txBody>
      </p:sp>
      <p:sp>
        <p:nvSpPr>
          <p:cNvPr id="557" name="s557"/>
          <p:cNvSpPr/>
          <p:nvPr/>
        </p:nvSpPr>
        <p:spPr>
          <a:xfrm>
            <a:off x="9464040" y="4546600"/>
            <a:ext cx="9906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8" name="s558"/>
          <p:cNvSpPr/>
          <p:nvPr/>
        </p:nvSpPr>
        <p:spPr>
          <a:xfrm>
            <a:off x="9464040" y="4546600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59" name="s559"/>
          <p:cNvSpPr/>
          <p:nvPr/>
        </p:nvSpPr>
        <p:spPr>
          <a:xfrm>
            <a:off x="10530840" y="44831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 hr ago</a:t>
            </a:r>
          </a:p>
        </p:txBody>
      </p:sp>
      <p:sp>
        <p:nvSpPr>
          <p:cNvPr id="560" name="s560"/>
          <p:cNvSpPr/>
          <p:nvPr/>
        </p:nvSpPr>
        <p:spPr>
          <a:xfrm>
            <a:off x="2148840" y="5086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1" name="s561"/>
          <p:cNvSpPr/>
          <p:nvPr/>
        </p:nvSpPr>
        <p:spPr>
          <a:xfrm>
            <a:off x="2148840" y="48260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2" name="s562"/>
          <p:cNvSpPr/>
          <p:nvPr/>
        </p:nvSpPr>
        <p:spPr>
          <a:xfrm>
            <a:off x="2326640" y="47879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PZ-0088</a:t>
            </a:r>
          </a:p>
        </p:txBody>
      </p:sp>
      <p:sp>
        <p:nvSpPr>
          <p:cNvPr id="563" name="s563"/>
          <p:cNvSpPr/>
          <p:nvPr/>
        </p:nvSpPr>
        <p:spPr>
          <a:xfrm>
            <a:off x="3164840" y="47879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564" name="s564"/>
          <p:cNvSpPr/>
          <p:nvPr/>
        </p:nvSpPr>
        <p:spPr>
          <a:xfrm>
            <a:off x="5374640" y="47879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65" name="s565"/>
          <p:cNvSpPr/>
          <p:nvPr/>
        </p:nvSpPr>
        <p:spPr>
          <a:xfrm>
            <a:off x="6441440" y="47879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566" name="s566"/>
          <p:cNvSpPr/>
          <p:nvPr/>
        </p:nvSpPr>
        <p:spPr>
          <a:xfrm>
            <a:off x="7228840" y="47879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24</a:t>
            </a:r>
          </a:p>
        </p:txBody>
      </p:sp>
      <p:sp>
        <p:nvSpPr>
          <p:cNvPr id="567" name="s567"/>
          <p:cNvSpPr/>
          <p:nvPr/>
        </p:nvSpPr>
        <p:spPr>
          <a:xfrm>
            <a:off x="7965440" y="47879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62</a:t>
            </a:r>
          </a:p>
        </p:txBody>
      </p:sp>
      <p:sp>
        <p:nvSpPr>
          <p:cNvPr id="568" name="s568"/>
          <p:cNvSpPr/>
          <p:nvPr/>
        </p:nvSpPr>
        <p:spPr>
          <a:xfrm>
            <a:off x="8752840" y="47879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120</a:t>
            </a:r>
          </a:p>
        </p:txBody>
      </p:sp>
      <p:sp>
        <p:nvSpPr>
          <p:cNvPr id="569" name="s569"/>
          <p:cNvSpPr/>
          <p:nvPr/>
        </p:nvSpPr>
        <p:spPr>
          <a:xfrm>
            <a:off x="9464040" y="4851400"/>
            <a:ext cx="9906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0" name="s570"/>
          <p:cNvSpPr/>
          <p:nvPr/>
        </p:nvSpPr>
        <p:spPr>
          <a:xfrm>
            <a:off x="9464040" y="4851400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71" name="s571"/>
          <p:cNvSpPr/>
          <p:nvPr/>
        </p:nvSpPr>
        <p:spPr>
          <a:xfrm>
            <a:off x="10530840" y="47879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3 hrs ago</a:t>
            </a:r>
          </a:p>
        </p:txBody>
      </p:sp>
      <p:sp>
        <p:nvSpPr>
          <p:cNvPr id="572" name="s572"/>
          <p:cNvSpPr/>
          <p:nvPr/>
        </p:nvSpPr>
        <p:spPr>
          <a:xfrm>
            <a:off x="2148840" y="5391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3" name="s573"/>
          <p:cNvSpPr/>
          <p:nvPr/>
        </p:nvSpPr>
        <p:spPr>
          <a:xfrm>
            <a:off x="2148840" y="51308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4" name="s574"/>
          <p:cNvSpPr/>
          <p:nvPr/>
        </p:nvSpPr>
        <p:spPr>
          <a:xfrm>
            <a:off x="2326640" y="50927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PZ-0091</a:t>
            </a:r>
          </a:p>
        </p:txBody>
      </p:sp>
      <p:sp>
        <p:nvSpPr>
          <p:cNvPr id="575" name="s575"/>
          <p:cNvSpPr/>
          <p:nvPr/>
        </p:nvSpPr>
        <p:spPr>
          <a:xfrm>
            <a:off x="3164840" y="50927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Numbers Puzzle</a:t>
            </a:r>
          </a:p>
        </p:txBody>
      </p:sp>
      <p:sp>
        <p:nvSpPr>
          <p:cNvPr id="576" name="s576"/>
          <p:cNvSpPr/>
          <p:nvPr/>
        </p:nvSpPr>
        <p:spPr>
          <a:xfrm>
            <a:off x="5374640" y="50927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WH-03 Gbarnga</a:t>
            </a:r>
          </a:p>
        </p:txBody>
      </p:sp>
      <p:sp>
        <p:nvSpPr>
          <p:cNvPr id="577" name="s577"/>
          <p:cNvSpPr/>
          <p:nvPr/>
        </p:nvSpPr>
        <p:spPr>
          <a:xfrm>
            <a:off x="6441440" y="5092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42</a:t>
            </a:r>
          </a:p>
        </p:txBody>
      </p:sp>
      <p:sp>
        <p:nvSpPr>
          <p:cNvPr id="578" name="s578"/>
          <p:cNvSpPr/>
          <p:nvPr/>
        </p:nvSpPr>
        <p:spPr>
          <a:xfrm>
            <a:off x="7228840" y="50927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0</a:t>
            </a:r>
          </a:p>
        </p:txBody>
      </p:sp>
      <p:sp>
        <p:nvSpPr>
          <p:cNvPr id="579" name="s579"/>
          <p:cNvSpPr/>
          <p:nvPr/>
        </p:nvSpPr>
        <p:spPr>
          <a:xfrm>
            <a:off x="7965440" y="5092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42</a:t>
            </a:r>
          </a:p>
        </p:txBody>
      </p:sp>
      <p:sp>
        <p:nvSpPr>
          <p:cNvPr id="580" name="s580"/>
          <p:cNvSpPr/>
          <p:nvPr/>
        </p:nvSpPr>
        <p:spPr>
          <a:xfrm>
            <a:off x="8752840" y="5092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100</a:t>
            </a:r>
          </a:p>
        </p:txBody>
      </p:sp>
      <p:sp>
        <p:nvSpPr>
          <p:cNvPr id="581" name="s581"/>
          <p:cNvSpPr/>
          <p:nvPr/>
        </p:nvSpPr>
        <p:spPr>
          <a:xfrm>
            <a:off x="9464040" y="5156200"/>
            <a:ext cx="9906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2" name="s582"/>
          <p:cNvSpPr/>
          <p:nvPr/>
        </p:nvSpPr>
        <p:spPr>
          <a:xfrm>
            <a:off x="9464040" y="5156200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83" name="s583"/>
          <p:cNvSpPr/>
          <p:nvPr/>
        </p:nvSpPr>
        <p:spPr>
          <a:xfrm>
            <a:off x="10530840" y="50927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4 hrs ago</a:t>
            </a:r>
          </a:p>
        </p:txBody>
      </p:sp>
      <p:sp>
        <p:nvSpPr>
          <p:cNvPr id="584" name="s584"/>
          <p:cNvSpPr/>
          <p:nvPr/>
        </p:nvSpPr>
        <p:spPr>
          <a:xfrm>
            <a:off x="2148840" y="5695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5" name="s585"/>
          <p:cNvSpPr/>
          <p:nvPr/>
        </p:nvSpPr>
        <p:spPr>
          <a:xfrm>
            <a:off x="2148840" y="54356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6" name="s586"/>
          <p:cNvSpPr/>
          <p:nvPr/>
        </p:nvSpPr>
        <p:spPr>
          <a:xfrm>
            <a:off x="2326640" y="5397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AC-0031</a:t>
            </a:r>
          </a:p>
        </p:txBody>
      </p:sp>
      <p:sp>
        <p:nvSpPr>
          <p:cNvPr id="587" name="s587"/>
          <p:cNvSpPr/>
          <p:nvPr/>
        </p:nvSpPr>
        <p:spPr>
          <a:xfrm>
            <a:off x="3164840" y="53975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English Alphabet Flashcards</a:t>
            </a:r>
          </a:p>
        </p:txBody>
      </p:sp>
      <p:sp>
        <p:nvSpPr>
          <p:cNvPr id="588" name="s588"/>
          <p:cNvSpPr/>
          <p:nvPr/>
        </p:nvSpPr>
        <p:spPr>
          <a:xfrm>
            <a:off x="5374640" y="53975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89" name="s589"/>
          <p:cNvSpPr/>
          <p:nvPr/>
        </p:nvSpPr>
        <p:spPr>
          <a:xfrm>
            <a:off x="6441440" y="5397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0</a:t>
            </a:r>
          </a:p>
        </p:txBody>
      </p:sp>
      <p:sp>
        <p:nvSpPr>
          <p:cNvPr id="590" name="s590"/>
          <p:cNvSpPr/>
          <p:nvPr/>
        </p:nvSpPr>
        <p:spPr>
          <a:xfrm>
            <a:off x="7228840" y="53975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0</a:t>
            </a:r>
          </a:p>
        </p:txBody>
      </p:sp>
      <p:sp>
        <p:nvSpPr>
          <p:cNvPr id="591" name="s591"/>
          <p:cNvSpPr/>
          <p:nvPr/>
        </p:nvSpPr>
        <p:spPr>
          <a:xfrm>
            <a:off x="7965440" y="5397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592" name="s592"/>
          <p:cNvSpPr/>
          <p:nvPr/>
        </p:nvSpPr>
        <p:spPr>
          <a:xfrm>
            <a:off x="8752840" y="5397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150</a:t>
            </a:r>
          </a:p>
        </p:txBody>
      </p:sp>
      <p:sp>
        <p:nvSpPr>
          <p:cNvPr id="593" name="s593"/>
          <p:cNvSpPr/>
          <p:nvPr/>
        </p:nvSpPr>
        <p:spPr>
          <a:xfrm>
            <a:off x="9464040" y="5461000"/>
            <a:ext cx="9906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4" name="s594"/>
          <p:cNvSpPr/>
          <p:nvPr/>
        </p:nvSpPr>
        <p:spPr>
          <a:xfrm>
            <a:off x="9464040" y="5461000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B3261E"/>
                </a:solidFill>
                <a:latin typeface="Calibri"/>
              </a:rPr>
              <a:t>Out of Stock</a:t>
            </a:r>
          </a:p>
        </p:txBody>
      </p:sp>
      <p:sp>
        <p:nvSpPr>
          <p:cNvPr id="595" name="s595"/>
          <p:cNvSpPr/>
          <p:nvPr/>
        </p:nvSpPr>
        <p:spPr>
          <a:xfrm>
            <a:off x="10530840" y="53975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5 hrs ago</a:t>
            </a:r>
          </a:p>
        </p:txBody>
      </p:sp>
      <p:sp>
        <p:nvSpPr>
          <p:cNvPr id="596" name="s596"/>
          <p:cNvSpPr/>
          <p:nvPr/>
        </p:nvSpPr>
        <p:spPr>
          <a:xfrm>
            <a:off x="2148840" y="6000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7" name="s597"/>
          <p:cNvSpPr/>
          <p:nvPr/>
        </p:nvSpPr>
        <p:spPr>
          <a:xfrm>
            <a:off x="2148840" y="57404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8" name="s598"/>
          <p:cNvSpPr/>
          <p:nvPr/>
        </p:nvSpPr>
        <p:spPr>
          <a:xfrm>
            <a:off x="2326640" y="57023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CB-0104</a:t>
            </a:r>
          </a:p>
        </p:txBody>
      </p:sp>
      <p:sp>
        <p:nvSpPr>
          <p:cNvPr id="599" name="s599"/>
          <p:cNvSpPr/>
          <p:nvPr/>
        </p:nvSpPr>
        <p:spPr>
          <a:xfrm>
            <a:off x="3164840" y="57023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Handwriting Copybook</a:t>
            </a:r>
          </a:p>
        </p:txBody>
      </p:sp>
      <p:sp>
        <p:nvSpPr>
          <p:cNvPr id="600" name="s600"/>
          <p:cNvSpPr/>
          <p:nvPr/>
        </p:nvSpPr>
        <p:spPr>
          <a:xfrm>
            <a:off x="5374640" y="57023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601" name="s601"/>
          <p:cNvSpPr/>
          <p:nvPr/>
        </p:nvSpPr>
        <p:spPr>
          <a:xfrm>
            <a:off x="6441440" y="5702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940</a:t>
            </a:r>
          </a:p>
        </p:txBody>
      </p:sp>
      <p:sp>
        <p:nvSpPr>
          <p:cNvPr id="602" name="s602"/>
          <p:cNvSpPr/>
          <p:nvPr/>
        </p:nvSpPr>
        <p:spPr>
          <a:xfrm>
            <a:off x="7228840" y="57023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210</a:t>
            </a:r>
          </a:p>
        </p:txBody>
      </p:sp>
      <p:sp>
        <p:nvSpPr>
          <p:cNvPr id="603" name="s603"/>
          <p:cNvSpPr/>
          <p:nvPr/>
        </p:nvSpPr>
        <p:spPr>
          <a:xfrm>
            <a:off x="7965440" y="5702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730</a:t>
            </a:r>
          </a:p>
        </p:txBody>
      </p:sp>
      <p:sp>
        <p:nvSpPr>
          <p:cNvPr id="604" name="s604"/>
          <p:cNvSpPr/>
          <p:nvPr/>
        </p:nvSpPr>
        <p:spPr>
          <a:xfrm>
            <a:off x="8752840" y="57023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250</a:t>
            </a:r>
          </a:p>
        </p:txBody>
      </p:sp>
      <p:sp>
        <p:nvSpPr>
          <p:cNvPr id="605" name="s605"/>
          <p:cNvSpPr/>
          <p:nvPr/>
        </p:nvSpPr>
        <p:spPr>
          <a:xfrm>
            <a:off x="9464040" y="5765800"/>
            <a:ext cx="9906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6" name="s606"/>
          <p:cNvSpPr/>
          <p:nvPr/>
        </p:nvSpPr>
        <p:spPr>
          <a:xfrm>
            <a:off x="9464040" y="5765800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607" name="s607"/>
          <p:cNvSpPr/>
          <p:nvPr/>
        </p:nvSpPr>
        <p:spPr>
          <a:xfrm>
            <a:off x="10530840" y="57023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Yesterday</a:t>
            </a:r>
          </a:p>
        </p:txBody>
      </p:sp>
      <p:sp>
        <p:nvSpPr>
          <p:cNvPr id="608" name="s608"/>
          <p:cNvSpPr/>
          <p:nvPr/>
        </p:nvSpPr>
        <p:spPr>
          <a:xfrm>
            <a:off x="2326640" y="61214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Showing 8 of 245 products  ·  sorted by quantity ascending</a:t>
            </a:r>
          </a:p>
        </p:txBody>
      </p:sp>
      <p:sp>
        <p:nvSpPr>
          <p:cNvPr id="609" name="s609"/>
          <p:cNvSpPr/>
          <p:nvPr/>
        </p:nvSpPr>
        <p:spPr>
          <a:xfrm>
            <a:off x="9664700" y="6070600"/>
            <a:ext cx="3048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0" name="s610"/>
          <p:cNvSpPr/>
          <p:nvPr/>
        </p:nvSpPr>
        <p:spPr>
          <a:xfrm>
            <a:off x="9664700" y="6070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31</a:t>
            </a:r>
          </a:p>
        </p:txBody>
      </p:sp>
      <p:sp>
        <p:nvSpPr>
          <p:cNvPr id="611" name="s611"/>
          <p:cNvSpPr/>
          <p:nvPr/>
        </p:nvSpPr>
        <p:spPr>
          <a:xfrm>
            <a:off x="9372600" y="60706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2" name="s612"/>
          <p:cNvSpPr/>
          <p:nvPr/>
        </p:nvSpPr>
        <p:spPr>
          <a:xfrm>
            <a:off x="9372600" y="60706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…</a:t>
            </a:r>
          </a:p>
        </p:txBody>
      </p:sp>
      <p:sp>
        <p:nvSpPr>
          <p:cNvPr id="613" name="s613"/>
          <p:cNvSpPr/>
          <p:nvPr/>
        </p:nvSpPr>
        <p:spPr>
          <a:xfrm>
            <a:off x="9080500" y="60706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4" name="s614"/>
          <p:cNvSpPr/>
          <p:nvPr/>
        </p:nvSpPr>
        <p:spPr>
          <a:xfrm>
            <a:off x="9080500" y="60706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3</a:t>
            </a:r>
          </a:p>
        </p:txBody>
      </p:sp>
      <p:sp>
        <p:nvSpPr>
          <p:cNvPr id="615" name="s615"/>
          <p:cNvSpPr/>
          <p:nvPr/>
        </p:nvSpPr>
        <p:spPr>
          <a:xfrm>
            <a:off x="8788400" y="60706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6" name="s616"/>
          <p:cNvSpPr/>
          <p:nvPr/>
        </p:nvSpPr>
        <p:spPr>
          <a:xfrm>
            <a:off x="8788400" y="60706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2</a:t>
            </a:r>
          </a:p>
        </p:txBody>
      </p:sp>
      <p:sp>
        <p:nvSpPr>
          <p:cNvPr id="617" name="s617"/>
          <p:cNvSpPr/>
          <p:nvPr/>
        </p:nvSpPr>
        <p:spPr>
          <a:xfrm>
            <a:off x="8496300" y="60706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8" name="s618"/>
          <p:cNvSpPr/>
          <p:nvPr/>
        </p:nvSpPr>
        <p:spPr>
          <a:xfrm>
            <a:off x="8496300" y="60706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19" name="s619"/>
          <p:cNvSpPr/>
          <p:nvPr/>
        </p:nvSpPr>
        <p:spPr>
          <a:xfrm>
            <a:off x="11379200" y="6070600"/>
            <a:ext cx="3683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spc="0" dirty="0">
                <a:solidFill>
                  <a:srgbClr val="2559A8"/>
                </a:solidFill>
                <a:latin typeface="Calibri"/>
              </a:rPr>
              <a:t>›</a:t>
            </a:r>
          </a:p>
        </p:txBody>
      </p:sp>
      <p:pic>
        <p:nvPicPr>
          <p:cNvPr id="620" name="Copied Picture 620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101600" y="1130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7" name="s407"/>
          <p:cNvSpPr/>
          <p:nvPr/>
        </p:nvSpPr>
        <p:spPr>
          <a:xfrm>
            <a:off x="101600" y="1130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Inventory  ›  Low stock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Low Stock Alerts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25 products need attention  ·  7 out of stock  ·  18 below reorder level  ·  checked hourly</a:t>
            </a:r>
          </a:p>
        </p:txBody>
      </p:sp>
      <p:sp>
        <p:nvSpPr>
          <p:cNvPr id="444" name="s444"/>
          <p:cNvSpPr/>
          <p:nvPr/>
        </p:nvSpPr>
        <p:spPr>
          <a:xfrm>
            <a:off x="9845040" y="812800"/>
            <a:ext cx="208788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9845040" y="812800"/>
            <a:ext cx="20878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Generate Purchase Orders</a:t>
            </a:r>
          </a:p>
        </p:txBody>
      </p:sp>
      <p:sp>
        <p:nvSpPr>
          <p:cNvPr id="446" name="s446"/>
          <p:cNvSpPr/>
          <p:nvPr/>
        </p:nvSpPr>
        <p:spPr>
          <a:xfrm>
            <a:off x="8521700" y="812800"/>
            <a:ext cx="119634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8521700" y="812800"/>
            <a:ext cx="11963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Reorder rules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22400"/>
            <a:ext cx="9784080" cy="533400"/>
          </a:xfrm>
          <a:prstGeom prst="roundRect">
            <a:avLst>
              <a:gd name="adj" fmla="val 6000"/>
            </a:avLst>
          </a:prstGeom>
          <a:solidFill>
            <a:srgbClr val="B3261E">
              <a:alpha val="9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148840" y="1422400"/>
            <a:ext cx="31750" cy="5334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0" name="s450"/>
          <p:cNvSpPr/>
          <p:nvPr/>
        </p:nvSpPr>
        <p:spPr>
          <a:xfrm>
            <a:off x="2349500" y="1574800"/>
            <a:ext cx="228600" cy="2286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349500" y="1574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spc="0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52" name="s452"/>
          <p:cNvSpPr/>
          <p:nvPr/>
        </p:nvSpPr>
        <p:spPr>
          <a:xfrm>
            <a:off x="2705100" y="14986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spc="0" dirty="0">
                <a:solidFill>
                  <a:srgbClr val="8C1D18"/>
                </a:solidFill>
                <a:latin typeface="Calibri"/>
              </a:rPr>
              <a:t>7 products are out of stock</a:t>
            </a:r>
          </a:p>
        </p:txBody>
      </p:sp>
      <p:sp>
        <p:nvSpPr>
          <p:cNvPr id="453" name="s453"/>
          <p:cNvSpPr/>
          <p:nvPr/>
        </p:nvSpPr>
        <p:spPr>
          <a:xfrm>
            <a:off x="2705100" y="1689100"/>
            <a:ext cx="5842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8C1D18"/>
                </a:solidFill>
                <a:latin typeface="Calibri"/>
              </a:rPr>
              <a:t>3 of them appear on open school orders — 620 units cannot be fulfilled today.</a:t>
            </a:r>
          </a:p>
        </p:txBody>
      </p:sp>
      <p:sp>
        <p:nvSpPr>
          <p:cNvPr id="454" name="s454"/>
          <p:cNvSpPr/>
          <p:nvPr/>
        </p:nvSpPr>
        <p:spPr>
          <a:xfrm>
            <a:off x="8763000" y="1549400"/>
            <a:ext cx="1397000" cy="279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View blocked orders</a:t>
            </a:r>
          </a:p>
        </p:txBody>
      </p:sp>
      <p:sp>
        <p:nvSpPr>
          <p:cNvPr id="455" name="s455"/>
          <p:cNvSpPr/>
          <p:nvPr/>
        </p:nvSpPr>
        <p:spPr>
          <a:xfrm>
            <a:off x="10261600" y="1549400"/>
            <a:ext cx="1498600" cy="279400"/>
          </a:xfrm>
          <a:prstGeom prst="roundRect">
            <a:avLst>
              <a:gd name="adj" fmla="val 12000"/>
            </a:avLst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Create POs for all</a:t>
            </a:r>
          </a:p>
        </p:txBody>
      </p:sp>
      <p:sp>
        <p:nvSpPr>
          <p:cNvPr id="456" name="s456"/>
          <p:cNvSpPr/>
          <p:nvPr/>
        </p:nvSpPr>
        <p:spPr>
          <a:xfrm>
            <a:off x="2148840" y="2159000"/>
            <a:ext cx="711200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2326640" y="2298700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Products Below Reorder Level</a:t>
            </a:r>
          </a:p>
        </p:txBody>
      </p:sp>
      <p:sp>
        <p:nvSpPr>
          <p:cNvPr id="458" name="s458"/>
          <p:cNvSpPr/>
          <p:nvPr/>
        </p:nvSpPr>
        <p:spPr>
          <a:xfrm>
            <a:off x="7686040" y="22987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Sorted by urgency</a:t>
            </a:r>
          </a:p>
        </p:txBody>
      </p:sp>
      <p:sp>
        <p:nvSpPr>
          <p:cNvPr id="459" name="s459"/>
          <p:cNvSpPr/>
          <p:nvPr/>
        </p:nvSpPr>
        <p:spPr>
          <a:xfrm>
            <a:off x="2148840" y="2667000"/>
            <a:ext cx="711200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2326640" y="2667000"/>
            <a:ext cx="177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61" name="s461"/>
          <p:cNvSpPr/>
          <p:nvPr/>
        </p:nvSpPr>
        <p:spPr>
          <a:xfrm>
            <a:off x="4180840" y="26670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62" name="s462"/>
          <p:cNvSpPr/>
          <p:nvPr/>
        </p:nvSpPr>
        <p:spPr>
          <a:xfrm>
            <a:off x="4968240" y="2667000"/>
            <a:ext cx="584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CURRENT</a:t>
            </a:r>
          </a:p>
        </p:txBody>
      </p:sp>
      <p:sp>
        <p:nvSpPr>
          <p:cNvPr id="463" name="s463"/>
          <p:cNvSpPr/>
          <p:nvPr/>
        </p:nvSpPr>
        <p:spPr>
          <a:xfrm>
            <a:off x="5628640" y="2667000"/>
            <a:ext cx="584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REORDER</a:t>
            </a:r>
          </a:p>
        </p:txBody>
      </p:sp>
      <p:sp>
        <p:nvSpPr>
          <p:cNvPr id="464" name="s464"/>
          <p:cNvSpPr/>
          <p:nvPr/>
        </p:nvSpPr>
        <p:spPr>
          <a:xfrm>
            <a:off x="6289040" y="266700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SUGGESTED</a:t>
            </a:r>
          </a:p>
        </p:txBody>
      </p:sp>
      <p:sp>
        <p:nvSpPr>
          <p:cNvPr id="465" name="s465"/>
          <p:cNvSpPr/>
          <p:nvPr/>
        </p:nvSpPr>
        <p:spPr>
          <a:xfrm>
            <a:off x="7127240" y="2667000"/>
            <a:ext cx="1168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SUPPLIER</a:t>
            </a:r>
          </a:p>
        </p:txBody>
      </p:sp>
      <p:sp>
        <p:nvSpPr>
          <p:cNvPr id="466" name="s466"/>
          <p:cNvSpPr/>
          <p:nvPr/>
        </p:nvSpPr>
        <p:spPr>
          <a:xfrm>
            <a:off x="8371840" y="2667000"/>
            <a:ext cx="558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DAYS LEFT</a:t>
            </a:r>
          </a:p>
        </p:txBody>
      </p:sp>
      <p:sp>
        <p:nvSpPr>
          <p:cNvPr id="467" name="s467"/>
          <p:cNvSpPr/>
          <p:nvPr/>
        </p:nvSpPr>
        <p:spPr>
          <a:xfrm>
            <a:off x="2148840" y="32321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8" name="s468"/>
          <p:cNvSpPr/>
          <p:nvPr/>
        </p:nvSpPr>
        <p:spPr>
          <a:xfrm>
            <a:off x="2148840" y="29718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2326640" y="29337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English Alphabet Flashcards</a:t>
            </a:r>
          </a:p>
        </p:txBody>
      </p:sp>
      <p:sp>
        <p:nvSpPr>
          <p:cNvPr id="470" name="s470"/>
          <p:cNvSpPr/>
          <p:nvPr/>
        </p:nvSpPr>
        <p:spPr>
          <a:xfrm>
            <a:off x="4180840" y="2933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AC-0031</a:t>
            </a:r>
          </a:p>
        </p:txBody>
      </p:sp>
      <p:sp>
        <p:nvSpPr>
          <p:cNvPr id="471" name="s471"/>
          <p:cNvSpPr/>
          <p:nvPr/>
        </p:nvSpPr>
        <p:spPr>
          <a:xfrm>
            <a:off x="4968240" y="29337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472" name="s472"/>
          <p:cNvSpPr/>
          <p:nvPr/>
        </p:nvSpPr>
        <p:spPr>
          <a:xfrm>
            <a:off x="5628640" y="29337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150</a:t>
            </a:r>
          </a:p>
        </p:txBody>
      </p:sp>
      <p:sp>
        <p:nvSpPr>
          <p:cNvPr id="473" name="s473"/>
          <p:cNvSpPr/>
          <p:nvPr/>
        </p:nvSpPr>
        <p:spPr>
          <a:xfrm>
            <a:off x="6289040" y="29337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400</a:t>
            </a:r>
          </a:p>
        </p:txBody>
      </p:sp>
      <p:sp>
        <p:nvSpPr>
          <p:cNvPr id="474" name="s474"/>
          <p:cNvSpPr/>
          <p:nvPr/>
        </p:nvSpPr>
        <p:spPr>
          <a:xfrm>
            <a:off x="7127240" y="29337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Monrovia Print Works</a:t>
            </a:r>
          </a:p>
        </p:txBody>
      </p:sp>
      <p:sp>
        <p:nvSpPr>
          <p:cNvPr id="475" name="s475"/>
          <p:cNvSpPr/>
          <p:nvPr/>
        </p:nvSpPr>
        <p:spPr>
          <a:xfrm>
            <a:off x="8371840" y="29337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B3261E"/>
                </a:solidFill>
                <a:latin typeface="Arial"/>
              </a:rPr>
              <a:t>now</a:t>
            </a:r>
          </a:p>
        </p:txBody>
      </p:sp>
      <p:sp>
        <p:nvSpPr>
          <p:cNvPr id="476" name="s476"/>
          <p:cNvSpPr/>
          <p:nvPr/>
        </p:nvSpPr>
        <p:spPr>
          <a:xfrm>
            <a:off x="8981440" y="30353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7" name="s477"/>
          <p:cNvSpPr/>
          <p:nvPr/>
        </p:nvSpPr>
        <p:spPr>
          <a:xfrm>
            <a:off x="8981440" y="30861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8981440" y="31369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2148840" y="35369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0" name="s480"/>
          <p:cNvSpPr/>
          <p:nvPr/>
        </p:nvSpPr>
        <p:spPr>
          <a:xfrm>
            <a:off x="2148840" y="32766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1" name="s481"/>
          <p:cNvSpPr/>
          <p:nvPr/>
        </p:nvSpPr>
        <p:spPr>
          <a:xfrm>
            <a:off x="2326640" y="3238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Africa Map Puzzle</a:t>
            </a:r>
          </a:p>
        </p:txBody>
      </p:sp>
      <p:sp>
        <p:nvSpPr>
          <p:cNvPr id="482" name="s482"/>
          <p:cNvSpPr/>
          <p:nvPr/>
        </p:nvSpPr>
        <p:spPr>
          <a:xfrm>
            <a:off x="4180840" y="3238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PZ-0096</a:t>
            </a:r>
          </a:p>
        </p:txBody>
      </p:sp>
      <p:sp>
        <p:nvSpPr>
          <p:cNvPr id="483" name="s483"/>
          <p:cNvSpPr/>
          <p:nvPr/>
        </p:nvSpPr>
        <p:spPr>
          <a:xfrm>
            <a:off x="4968240" y="32385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484" name="s484"/>
          <p:cNvSpPr/>
          <p:nvPr/>
        </p:nvSpPr>
        <p:spPr>
          <a:xfrm>
            <a:off x="5628640" y="32385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80</a:t>
            </a:r>
          </a:p>
        </p:txBody>
      </p:sp>
      <p:sp>
        <p:nvSpPr>
          <p:cNvPr id="485" name="s485"/>
          <p:cNvSpPr/>
          <p:nvPr/>
        </p:nvSpPr>
        <p:spPr>
          <a:xfrm>
            <a:off x="6289040" y="3238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200</a:t>
            </a:r>
          </a:p>
        </p:txBody>
      </p:sp>
      <p:sp>
        <p:nvSpPr>
          <p:cNvPr id="486" name="s486"/>
          <p:cNvSpPr/>
          <p:nvPr/>
        </p:nvSpPr>
        <p:spPr>
          <a:xfrm>
            <a:off x="7127240" y="32385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Kakata Paper Mills</a:t>
            </a:r>
          </a:p>
        </p:txBody>
      </p:sp>
      <p:sp>
        <p:nvSpPr>
          <p:cNvPr id="487" name="s487"/>
          <p:cNvSpPr/>
          <p:nvPr/>
        </p:nvSpPr>
        <p:spPr>
          <a:xfrm>
            <a:off x="8371840" y="32385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B3261E"/>
                </a:solidFill>
                <a:latin typeface="Arial"/>
              </a:rPr>
              <a:t>now</a:t>
            </a:r>
          </a:p>
        </p:txBody>
      </p:sp>
      <p:sp>
        <p:nvSpPr>
          <p:cNvPr id="488" name="s488"/>
          <p:cNvSpPr/>
          <p:nvPr/>
        </p:nvSpPr>
        <p:spPr>
          <a:xfrm>
            <a:off x="8981440" y="33401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8981440" y="33909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0" name="s490"/>
          <p:cNvSpPr/>
          <p:nvPr/>
        </p:nvSpPr>
        <p:spPr>
          <a:xfrm>
            <a:off x="8981440" y="34417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2148840" y="38417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2148840" y="35814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2326640" y="35433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Shape Learning Puzzle</a:t>
            </a:r>
          </a:p>
        </p:txBody>
      </p:sp>
      <p:sp>
        <p:nvSpPr>
          <p:cNvPr id="494" name="s494"/>
          <p:cNvSpPr/>
          <p:nvPr/>
        </p:nvSpPr>
        <p:spPr>
          <a:xfrm>
            <a:off x="4180840" y="3543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PZ-0094</a:t>
            </a:r>
          </a:p>
        </p:txBody>
      </p:sp>
      <p:sp>
        <p:nvSpPr>
          <p:cNvPr id="495" name="s495"/>
          <p:cNvSpPr/>
          <p:nvPr/>
        </p:nvSpPr>
        <p:spPr>
          <a:xfrm>
            <a:off x="4968240" y="35433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496" name="s496"/>
          <p:cNvSpPr/>
          <p:nvPr/>
        </p:nvSpPr>
        <p:spPr>
          <a:xfrm>
            <a:off x="5628640" y="35433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100</a:t>
            </a:r>
          </a:p>
        </p:txBody>
      </p:sp>
      <p:sp>
        <p:nvSpPr>
          <p:cNvPr id="497" name="s497"/>
          <p:cNvSpPr/>
          <p:nvPr/>
        </p:nvSpPr>
        <p:spPr>
          <a:xfrm>
            <a:off x="6289040" y="35433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260</a:t>
            </a:r>
          </a:p>
        </p:txBody>
      </p:sp>
      <p:sp>
        <p:nvSpPr>
          <p:cNvPr id="498" name="s498"/>
          <p:cNvSpPr/>
          <p:nvPr/>
        </p:nvSpPr>
        <p:spPr>
          <a:xfrm>
            <a:off x="7127240" y="35433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Kakata Paper Mills</a:t>
            </a:r>
          </a:p>
        </p:txBody>
      </p:sp>
      <p:sp>
        <p:nvSpPr>
          <p:cNvPr id="499" name="s499"/>
          <p:cNvSpPr/>
          <p:nvPr/>
        </p:nvSpPr>
        <p:spPr>
          <a:xfrm>
            <a:off x="8371840" y="35433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B3261E"/>
                </a:solidFill>
                <a:latin typeface="Arial"/>
              </a:rPr>
              <a:t>now</a:t>
            </a:r>
          </a:p>
        </p:txBody>
      </p:sp>
      <p:sp>
        <p:nvSpPr>
          <p:cNvPr id="500" name="s500"/>
          <p:cNvSpPr/>
          <p:nvPr/>
        </p:nvSpPr>
        <p:spPr>
          <a:xfrm>
            <a:off x="8981440" y="36449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1" name="s501"/>
          <p:cNvSpPr/>
          <p:nvPr/>
        </p:nvSpPr>
        <p:spPr>
          <a:xfrm>
            <a:off x="8981440" y="36957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2" name="s502"/>
          <p:cNvSpPr/>
          <p:nvPr/>
        </p:nvSpPr>
        <p:spPr>
          <a:xfrm>
            <a:off x="8981440" y="37465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2148840" y="41465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4" name="s504"/>
          <p:cNvSpPr/>
          <p:nvPr/>
        </p:nvSpPr>
        <p:spPr>
          <a:xfrm>
            <a:off x="2148840" y="38862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2326640" y="38481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Numbers Puzzle</a:t>
            </a:r>
          </a:p>
        </p:txBody>
      </p:sp>
      <p:sp>
        <p:nvSpPr>
          <p:cNvPr id="506" name="s506"/>
          <p:cNvSpPr/>
          <p:nvPr/>
        </p:nvSpPr>
        <p:spPr>
          <a:xfrm>
            <a:off x="4180840" y="38481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PZ-0091</a:t>
            </a:r>
          </a:p>
        </p:txBody>
      </p:sp>
      <p:sp>
        <p:nvSpPr>
          <p:cNvPr id="507" name="s507"/>
          <p:cNvSpPr/>
          <p:nvPr/>
        </p:nvSpPr>
        <p:spPr>
          <a:xfrm>
            <a:off x="4968240" y="38481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42</a:t>
            </a:r>
          </a:p>
        </p:txBody>
      </p:sp>
      <p:sp>
        <p:nvSpPr>
          <p:cNvPr id="508" name="s508"/>
          <p:cNvSpPr/>
          <p:nvPr/>
        </p:nvSpPr>
        <p:spPr>
          <a:xfrm>
            <a:off x="5628640" y="38481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100</a:t>
            </a:r>
          </a:p>
        </p:txBody>
      </p:sp>
      <p:sp>
        <p:nvSpPr>
          <p:cNvPr id="509" name="s509"/>
          <p:cNvSpPr/>
          <p:nvPr/>
        </p:nvSpPr>
        <p:spPr>
          <a:xfrm>
            <a:off x="6289040" y="38481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220</a:t>
            </a:r>
          </a:p>
        </p:txBody>
      </p:sp>
      <p:sp>
        <p:nvSpPr>
          <p:cNvPr id="510" name="s510"/>
          <p:cNvSpPr/>
          <p:nvPr/>
        </p:nvSpPr>
        <p:spPr>
          <a:xfrm>
            <a:off x="7127240" y="38481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Kakata Paper Mills</a:t>
            </a:r>
          </a:p>
        </p:txBody>
      </p:sp>
      <p:sp>
        <p:nvSpPr>
          <p:cNvPr id="511" name="s511"/>
          <p:cNvSpPr/>
          <p:nvPr/>
        </p:nvSpPr>
        <p:spPr>
          <a:xfrm>
            <a:off x="8371840" y="38481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B3261E"/>
                </a:solidFill>
                <a:latin typeface="Arial"/>
              </a:rPr>
              <a:t>5 d</a:t>
            </a:r>
          </a:p>
        </p:txBody>
      </p:sp>
      <p:sp>
        <p:nvSpPr>
          <p:cNvPr id="512" name="s512"/>
          <p:cNvSpPr/>
          <p:nvPr/>
        </p:nvSpPr>
        <p:spPr>
          <a:xfrm>
            <a:off x="8981440" y="39497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8981440" y="40005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s514"/>
          <p:cNvSpPr/>
          <p:nvPr/>
        </p:nvSpPr>
        <p:spPr>
          <a:xfrm>
            <a:off x="8981440" y="40513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5" name="s515"/>
          <p:cNvSpPr/>
          <p:nvPr/>
        </p:nvSpPr>
        <p:spPr>
          <a:xfrm>
            <a:off x="2148840" y="44513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6" name="s516"/>
          <p:cNvSpPr/>
          <p:nvPr/>
        </p:nvSpPr>
        <p:spPr>
          <a:xfrm>
            <a:off x="2148840" y="41910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7" name="s517"/>
          <p:cNvSpPr/>
          <p:nvPr/>
        </p:nvSpPr>
        <p:spPr>
          <a:xfrm>
            <a:off x="2326640" y="41529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Number Learning Cards</a:t>
            </a:r>
          </a:p>
        </p:txBody>
      </p:sp>
      <p:sp>
        <p:nvSpPr>
          <p:cNvPr id="518" name="s518"/>
          <p:cNvSpPr/>
          <p:nvPr/>
        </p:nvSpPr>
        <p:spPr>
          <a:xfrm>
            <a:off x="4180840" y="41529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GC-0061</a:t>
            </a:r>
          </a:p>
        </p:txBody>
      </p:sp>
      <p:sp>
        <p:nvSpPr>
          <p:cNvPr id="519" name="s519"/>
          <p:cNvSpPr/>
          <p:nvPr/>
        </p:nvSpPr>
        <p:spPr>
          <a:xfrm>
            <a:off x="4968240" y="41529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58</a:t>
            </a:r>
          </a:p>
        </p:txBody>
      </p:sp>
      <p:sp>
        <p:nvSpPr>
          <p:cNvPr id="520" name="s520"/>
          <p:cNvSpPr/>
          <p:nvPr/>
        </p:nvSpPr>
        <p:spPr>
          <a:xfrm>
            <a:off x="5628640" y="41529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110</a:t>
            </a:r>
          </a:p>
        </p:txBody>
      </p:sp>
      <p:sp>
        <p:nvSpPr>
          <p:cNvPr id="521" name="s521"/>
          <p:cNvSpPr/>
          <p:nvPr/>
        </p:nvSpPr>
        <p:spPr>
          <a:xfrm>
            <a:off x="6289040" y="41529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240</a:t>
            </a:r>
          </a:p>
        </p:txBody>
      </p:sp>
      <p:sp>
        <p:nvSpPr>
          <p:cNvPr id="522" name="s522"/>
          <p:cNvSpPr/>
          <p:nvPr/>
        </p:nvSpPr>
        <p:spPr>
          <a:xfrm>
            <a:off x="7127240" y="41529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Monrovia Print Works</a:t>
            </a:r>
          </a:p>
        </p:txBody>
      </p:sp>
      <p:sp>
        <p:nvSpPr>
          <p:cNvPr id="523" name="s523"/>
          <p:cNvSpPr/>
          <p:nvPr/>
        </p:nvSpPr>
        <p:spPr>
          <a:xfrm>
            <a:off x="8371840" y="41529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D08700"/>
                </a:solidFill>
                <a:latin typeface="Arial"/>
              </a:rPr>
              <a:t>6 d</a:t>
            </a:r>
          </a:p>
        </p:txBody>
      </p:sp>
      <p:sp>
        <p:nvSpPr>
          <p:cNvPr id="524" name="s524"/>
          <p:cNvSpPr/>
          <p:nvPr/>
        </p:nvSpPr>
        <p:spPr>
          <a:xfrm>
            <a:off x="8981440" y="42545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8981440" y="43053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8981440" y="43561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7" name="s527"/>
          <p:cNvSpPr/>
          <p:nvPr/>
        </p:nvSpPr>
        <p:spPr>
          <a:xfrm>
            <a:off x="2148840" y="47561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8" name="s528"/>
          <p:cNvSpPr/>
          <p:nvPr/>
        </p:nvSpPr>
        <p:spPr>
          <a:xfrm>
            <a:off x="2148840" y="44958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9" name="s529"/>
          <p:cNvSpPr/>
          <p:nvPr/>
        </p:nvSpPr>
        <p:spPr>
          <a:xfrm>
            <a:off x="2326640" y="44577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Phonics Learning Cards</a:t>
            </a:r>
          </a:p>
        </p:txBody>
      </p:sp>
      <p:sp>
        <p:nvSpPr>
          <p:cNvPr id="530" name="s530"/>
          <p:cNvSpPr/>
          <p:nvPr/>
        </p:nvSpPr>
        <p:spPr>
          <a:xfrm>
            <a:off x="4180840" y="4457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AC-0037</a:t>
            </a:r>
          </a:p>
        </p:txBody>
      </p:sp>
      <p:sp>
        <p:nvSpPr>
          <p:cNvPr id="531" name="s531"/>
          <p:cNvSpPr/>
          <p:nvPr/>
        </p:nvSpPr>
        <p:spPr>
          <a:xfrm>
            <a:off x="4968240" y="44577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68</a:t>
            </a:r>
          </a:p>
        </p:txBody>
      </p:sp>
      <p:sp>
        <p:nvSpPr>
          <p:cNvPr id="532" name="s532"/>
          <p:cNvSpPr/>
          <p:nvPr/>
        </p:nvSpPr>
        <p:spPr>
          <a:xfrm>
            <a:off x="5628640" y="44577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120</a:t>
            </a:r>
          </a:p>
        </p:txBody>
      </p:sp>
      <p:sp>
        <p:nvSpPr>
          <p:cNvPr id="533" name="s533"/>
          <p:cNvSpPr/>
          <p:nvPr/>
        </p:nvSpPr>
        <p:spPr>
          <a:xfrm>
            <a:off x="6289040" y="44577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260</a:t>
            </a:r>
          </a:p>
        </p:txBody>
      </p:sp>
      <p:sp>
        <p:nvSpPr>
          <p:cNvPr id="534" name="s534"/>
          <p:cNvSpPr/>
          <p:nvPr/>
        </p:nvSpPr>
        <p:spPr>
          <a:xfrm>
            <a:off x="7127240" y="44577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Monrovia Print Works</a:t>
            </a:r>
          </a:p>
        </p:txBody>
      </p:sp>
      <p:sp>
        <p:nvSpPr>
          <p:cNvPr id="535" name="s535"/>
          <p:cNvSpPr/>
          <p:nvPr/>
        </p:nvSpPr>
        <p:spPr>
          <a:xfrm>
            <a:off x="8371840" y="44577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D08700"/>
                </a:solidFill>
                <a:latin typeface="Arial"/>
              </a:rPr>
              <a:t>7 d</a:t>
            </a:r>
          </a:p>
        </p:txBody>
      </p:sp>
      <p:sp>
        <p:nvSpPr>
          <p:cNvPr id="536" name="s536"/>
          <p:cNvSpPr/>
          <p:nvPr/>
        </p:nvSpPr>
        <p:spPr>
          <a:xfrm>
            <a:off x="8981440" y="45593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7" name="s537"/>
          <p:cNvSpPr/>
          <p:nvPr/>
        </p:nvSpPr>
        <p:spPr>
          <a:xfrm>
            <a:off x="8981440" y="46101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8981440" y="46609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2148840" y="50609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0" name="s540"/>
          <p:cNvSpPr/>
          <p:nvPr/>
        </p:nvSpPr>
        <p:spPr>
          <a:xfrm>
            <a:off x="2148840" y="48006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1" name="s541"/>
          <p:cNvSpPr/>
          <p:nvPr/>
        </p:nvSpPr>
        <p:spPr>
          <a:xfrm>
            <a:off x="2326640" y="4762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542" name="s542"/>
          <p:cNvSpPr/>
          <p:nvPr/>
        </p:nvSpPr>
        <p:spPr>
          <a:xfrm>
            <a:off x="4180840" y="4762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PZ-0088</a:t>
            </a:r>
          </a:p>
        </p:txBody>
      </p:sp>
      <p:sp>
        <p:nvSpPr>
          <p:cNvPr id="543" name="s543"/>
          <p:cNvSpPr/>
          <p:nvPr/>
        </p:nvSpPr>
        <p:spPr>
          <a:xfrm>
            <a:off x="4968240" y="47625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544" name="s544"/>
          <p:cNvSpPr/>
          <p:nvPr/>
        </p:nvSpPr>
        <p:spPr>
          <a:xfrm>
            <a:off x="5628640" y="47625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120</a:t>
            </a:r>
          </a:p>
        </p:txBody>
      </p:sp>
      <p:sp>
        <p:nvSpPr>
          <p:cNvPr id="545" name="s545"/>
          <p:cNvSpPr/>
          <p:nvPr/>
        </p:nvSpPr>
        <p:spPr>
          <a:xfrm>
            <a:off x="6289040" y="4762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240</a:t>
            </a:r>
          </a:p>
        </p:txBody>
      </p:sp>
      <p:sp>
        <p:nvSpPr>
          <p:cNvPr id="546" name="s546"/>
          <p:cNvSpPr/>
          <p:nvPr/>
        </p:nvSpPr>
        <p:spPr>
          <a:xfrm>
            <a:off x="7127240" y="47625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Kakata Paper Mills</a:t>
            </a:r>
          </a:p>
        </p:txBody>
      </p:sp>
      <p:sp>
        <p:nvSpPr>
          <p:cNvPr id="547" name="s547"/>
          <p:cNvSpPr/>
          <p:nvPr/>
        </p:nvSpPr>
        <p:spPr>
          <a:xfrm>
            <a:off x="8371840" y="47625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D08700"/>
                </a:solidFill>
                <a:latin typeface="Arial"/>
              </a:rPr>
              <a:t>9 d</a:t>
            </a:r>
          </a:p>
        </p:txBody>
      </p:sp>
      <p:sp>
        <p:nvSpPr>
          <p:cNvPr id="548" name="s548"/>
          <p:cNvSpPr/>
          <p:nvPr/>
        </p:nvSpPr>
        <p:spPr>
          <a:xfrm>
            <a:off x="8981440" y="48641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9" name="s549"/>
          <p:cNvSpPr/>
          <p:nvPr/>
        </p:nvSpPr>
        <p:spPr>
          <a:xfrm>
            <a:off x="8981440" y="49149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0" name="s550"/>
          <p:cNvSpPr/>
          <p:nvPr/>
        </p:nvSpPr>
        <p:spPr>
          <a:xfrm>
            <a:off x="8981440" y="49657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1" name="s551"/>
          <p:cNvSpPr/>
          <p:nvPr/>
        </p:nvSpPr>
        <p:spPr>
          <a:xfrm>
            <a:off x="2148840" y="53657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2" name="s552"/>
          <p:cNvSpPr/>
          <p:nvPr/>
        </p:nvSpPr>
        <p:spPr>
          <a:xfrm>
            <a:off x="2148840" y="51054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3" name="s553"/>
          <p:cNvSpPr/>
          <p:nvPr/>
        </p:nvSpPr>
        <p:spPr>
          <a:xfrm>
            <a:off x="2326640" y="50673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Mathematics Copybook</a:t>
            </a:r>
          </a:p>
        </p:txBody>
      </p:sp>
      <p:sp>
        <p:nvSpPr>
          <p:cNvPr id="554" name="s554"/>
          <p:cNvSpPr/>
          <p:nvPr/>
        </p:nvSpPr>
        <p:spPr>
          <a:xfrm>
            <a:off x="4180840" y="5067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CB-0110</a:t>
            </a:r>
          </a:p>
        </p:txBody>
      </p:sp>
      <p:sp>
        <p:nvSpPr>
          <p:cNvPr id="555" name="s555"/>
          <p:cNvSpPr/>
          <p:nvPr/>
        </p:nvSpPr>
        <p:spPr>
          <a:xfrm>
            <a:off x="4968240" y="50673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94</a:t>
            </a:r>
          </a:p>
        </p:txBody>
      </p:sp>
      <p:sp>
        <p:nvSpPr>
          <p:cNvPr id="556" name="s556"/>
          <p:cNvSpPr/>
          <p:nvPr/>
        </p:nvSpPr>
        <p:spPr>
          <a:xfrm>
            <a:off x="5628640" y="50673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150</a:t>
            </a:r>
          </a:p>
        </p:txBody>
      </p:sp>
      <p:sp>
        <p:nvSpPr>
          <p:cNvPr id="557" name="s557"/>
          <p:cNvSpPr/>
          <p:nvPr/>
        </p:nvSpPr>
        <p:spPr>
          <a:xfrm>
            <a:off x="6289040" y="50673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300</a:t>
            </a:r>
          </a:p>
        </p:txBody>
      </p:sp>
      <p:sp>
        <p:nvSpPr>
          <p:cNvPr id="558" name="s558"/>
          <p:cNvSpPr/>
          <p:nvPr/>
        </p:nvSpPr>
        <p:spPr>
          <a:xfrm>
            <a:off x="7127240" y="50673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Gbarnga Stationers</a:t>
            </a:r>
          </a:p>
        </p:txBody>
      </p:sp>
      <p:sp>
        <p:nvSpPr>
          <p:cNvPr id="559" name="s559"/>
          <p:cNvSpPr/>
          <p:nvPr/>
        </p:nvSpPr>
        <p:spPr>
          <a:xfrm>
            <a:off x="8371840" y="50673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D08700"/>
                </a:solidFill>
                <a:latin typeface="Arial"/>
              </a:rPr>
              <a:t>11 d</a:t>
            </a:r>
          </a:p>
        </p:txBody>
      </p:sp>
      <p:sp>
        <p:nvSpPr>
          <p:cNvPr id="560" name="s560"/>
          <p:cNvSpPr/>
          <p:nvPr/>
        </p:nvSpPr>
        <p:spPr>
          <a:xfrm>
            <a:off x="8981440" y="51689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1" name="s561"/>
          <p:cNvSpPr/>
          <p:nvPr/>
        </p:nvSpPr>
        <p:spPr>
          <a:xfrm>
            <a:off x="8981440" y="52197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2" name="s562"/>
          <p:cNvSpPr/>
          <p:nvPr/>
        </p:nvSpPr>
        <p:spPr>
          <a:xfrm>
            <a:off x="8981440" y="52705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3" name="s563"/>
          <p:cNvSpPr/>
          <p:nvPr/>
        </p:nvSpPr>
        <p:spPr>
          <a:xfrm>
            <a:off x="2148840" y="56705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4" name="s564"/>
          <p:cNvSpPr/>
          <p:nvPr/>
        </p:nvSpPr>
        <p:spPr>
          <a:xfrm>
            <a:off x="2148840" y="54102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5" name="s565"/>
          <p:cNvSpPr/>
          <p:nvPr/>
        </p:nvSpPr>
        <p:spPr>
          <a:xfrm>
            <a:off x="2326640" y="53721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Science Discovery Book</a:t>
            </a:r>
          </a:p>
        </p:txBody>
      </p:sp>
      <p:sp>
        <p:nvSpPr>
          <p:cNvPr id="566" name="s566"/>
          <p:cNvSpPr/>
          <p:nvPr/>
        </p:nvSpPr>
        <p:spPr>
          <a:xfrm>
            <a:off x="4180840" y="53721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BK-0156</a:t>
            </a:r>
          </a:p>
        </p:txBody>
      </p:sp>
      <p:sp>
        <p:nvSpPr>
          <p:cNvPr id="567" name="s567"/>
          <p:cNvSpPr/>
          <p:nvPr/>
        </p:nvSpPr>
        <p:spPr>
          <a:xfrm>
            <a:off x="4968240" y="53721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112</a:t>
            </a:r>
          </a:p>
        </p:txBody>
      </p:sp>
      <p:sp>
        <p:nvSpPr>
          <p:cNvPr id="568" name="s568"/>
          <p:cNvSpPr/>
          <p:nvPr/>
        </p:nvSpPr>
        <p:spPr>
          <a:xfrm>
            <a:off x="5628640" y="53721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160</a:t>
            </a:r>
          </a:p>
        </p:txBody>
      </p:sp>
      <p:sp>
        <p:nvSpPr>
          <p:cNvPr id="569" name="s569"/>
          <p:cNvSpPr/>
          <p:nvPr/>
        </p:nvSpPr>
        <p:spPr>
          <a:xfrm>
            <a:off x="6289040" y="53721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320</a:t>
            </a:r>
          </a:p>
        </p:txBody>
      </p:sp>
      <p:sp>
        <p:nvSpPr>
          <p:cNvPr id="570" name="s570"/>
          <p:cNvSpPr/>
          <p:nvPr/>
        </p:nvSpPr>
        <p:spPr>
          <a:xfrm>
            <a:off x="7127240" y="53721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Atlantic Educational</a:t>
            </a:r>
          </a:p>
        </p:txBody>
      </p:sp>
      <p:sp>
        <p:nvSpPr>
          <p:cNvPr id="571" name="s571"/>
          <p:cNvSpPr/>
          <p:nvPr/>
        </p:nvSpPr>
        <p:spPr>
          <a:xfrm>
            <a:off x="8371840" y="53721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D08700"/>
                </a:solidFill>
                <a:latin typeface="Arial"/>
              </a:rPr>
              <a:t>13 d</a:t>
            </a:r>
          </a:p>
        </p:txBody>
      </p:sp>
      <p:sp>
        <p:nvSpPr>
          <p:cNvPr id="572" name="s572"/>
          <p:cNvSpPr/>
          <p:nvPr/>
        </p:nvSpPr>
        <p:spPr>
          <a:xfrm>
            <a:off x="8981440" y="54737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3" name="s573"/>
          <p:cNvSpPr/>
          <p:nvPr/>
        </p:nvSpPr>
        <p:spPr>
          <a:xfrm>
            <a:off x="8981440" y="55245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4" name="s574"/>
          <p:cNvSpPr/>
          <p:nvPr/>
        </p:nvSpPr>
        <p:spPr>
          <a:xfrm>
            <a:off x="8981440" y="55753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5" name="s575"/>
          <p:cNvSpPr/>
          <p:nvPr/>
        </p:nvSpPr>
        <p:spPr>
          <a:xfrm>
            <a:off x="2148840" y="59753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6" name="s576"/>
          <p:cNvSpPr/>
          <p:nvPr/>
        </p:nvSpPr>
        <p:spPr>
          <a:xfrm>
            <a:off x="2148840" y="57150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7" name="s577"/>
          <p:cNvSpPr/>
          <p:nvPr/>
        </p:nvSpPr>
        <p:spPr>
          <a:xfrm>
            <a:off x="2326640" y="56769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English Practice Copybook</a:t>
            </a:r>
          </a:p>
        </p:txBody>
      </p:sp>
      <p:sp>
        <p:nvSpPr>
          <p:cNvPr id="578" name="s578"/>
          <p:cNvSpPr/>
          <p:nvPr/>
        </p:nvSpPr>
        <p:spPr>
          <a:xfrm>
            <a:off x="4180840" y="56769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2559A8"/>
                </a:solidFill>
                <a:latin typeface="Arial"/>
              </a:rPr>
              <a:t>CB-0116</a:t>
            </a:r>
          </a:p>
        </p:txBody>
      </p:sp>
      <p:sp>
        <p:nvSpPr>
          <p:cNvPr id="579" name="s579"/>
          <p:cNvSpPr/>
          <p:nvPr/>
        </p:nvSpPr>
        <p:spPr>
          <a:xfrm>
            <a:off x="4968240" y="56769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126</a:t>
            </a:r>
          </a:p>
        </p:txBody>
      </p:sp>
      <p:sp>
        <p:nvSpPr>
          <p:cNvPr id="580" name="s580"/>
          <p:cNvSpPr/>
          <p:nvPr/>
        </p:nvSpPr>
        <p:spPr>
          <a:xfrm>
            <a:off x="5628640" y="5676900"/>
            <a:ext cx="584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180</a:t>
            </a:r>
          </a:p>
        </p:txBody>
      </p:sp>
      <p:sp>
        <p:nvSpPr>
          <p:cNvPr id="581" name="s581"/>
          <p:cNvSpPr/>
          <p:nvPr/>
        </p:nvSpPr>
        <p:spPr>
          <a:xfrm>
            <a:off x="6289040" y="56769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2559A8"/>
                </a:solidFill>
                <a:latin typeface="Arial"/>
              </a:rPr>
              <a:t>360</a:t>
            </a:r>
          </a:p>
        </p:txBody>
      </p:sp>
      <p:sp>
        <p:nvSpPr>
          <p:cNvPr id="582" name="s582"/>
          <p:cNvSpPr/>
          <p:nvPr/>
        </p:nvSpPr>
        <p:spPr>
          <a:xfrm>
            <a:off x="7127240" y="56769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Gbarnga Stationers</a:t>
            </a:r>
          </a:p>
        </p:txBody>
      </p:sp>
      <p:sp>
        <p:nvSpPr>
          <p:cNvPr id="583" name="s583"/>
          <p:cNvSpPr/>
          <p:nvPr/>
        </p:nvSpPr>
        <p:spPr>
          <a:xfrm>
            <a:off x="8371840" y="56769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D08700"/>
                </a:solidFill>
                <a:latin typeface="Arial"/>
              </a:rPr>
              <a:t>14 d</a:t>
            </a:r>
          </a:p>
        </p:txBody>
      </p:sp>
      <p:sp>
        <p:nvSpPr>
          <p:cNvPr id="584" name="s584"/>
          <p:cNvSpPr/>
          <p:nvPr/>
        </p:nvSpPr>
        <p:spPr>
          <a:xfrm>
            <a:off x="8981440" y="57785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5" name="s585"/>
          <p:cNvSpPr/>
          <p:nvPr/>
        </p:nvSpPr>
        <p:spPr>
          <a:xfrm>
            <a:off x="8981440" y="58293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6" name="s586"/>
          <p:cNvSpPr/>
          <p:nvPr/>
        </p:nvSpPr>
        <p:spPr>
          <a:xfrm>
            <a:off x="8981440" y="5880100"/>
            <a:ext cx="31750" cy="31750"/>
          </a:xfrm>
          <a:prstGeom prst="ellipse">
            <a:avLst/>
          </a:prstGeom>
          <a:solidFill>
            <a:srgbClr val="8A93A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7" name="s587"/>
          <p:cNvSpPr/>
          <p:nvPr/>
        </p:nvSpPr>
        <p:spPr>
          <a:xfrm>
            <a:off x="2326640" y="6070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Row actions:  Create PO  ·  Contact supplier  ·  Adjust reorder level</a:t>
            </a:r>
          </a:p>
        </p:txBody>
      </p:sp>
      <p:sp>
        <p:nvSpPr>
          <p:cNvPr id="588" name="s588"/>
          <p:cNvSpPr/>
          <p:nvPr/>
        </p:nvSpPr>
        <p:spPr>
          <a:xfrm>
            <a:off x="7620000" y="6070600"/>
            <a:ext cx="1460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10 of 25 shown</a:t>
            </a:r>
          </a:p>
        </p:txBody>
      </p:sp>
      <p:sp>
        <p:nvSpPr>
          <p:cNvPr id="589" name="s589"/>
          <p:cNvSpPr/>
          <p:nvPr/>
        </p:nvSpPr>
        <p:spPr>
          <a:xfrm>
            <a:off x="9438640" y="2159000"/>
            <a:ext cx="24942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0" name="s590"/>
          <p:cNvSpPr/>
          <p:nvPr/>
        </p:nvSpPr>
        <p:spPr>
          <a:xfrm>
            <a:off x="9616440" y="2298700"/>
            <a:ext cx="716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Suggested Reorder</a:t>
            </a:r>
          </a:p>
        </p:txBody>
      </p:sp>
      <p:sp>
        <p:nvSpPr>
          <p:cNvPr id="591" name="s591"/>
          <p:cNvSpPr/>
          <p:nvPr/>
        </p:nvSpPr>
        <p:spPr>
          <a:xfrm>
            <a:off x="9616440" y="2514600"/>
            <a:ext cx="2159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Grouped by supplier</a:t>
            </a:r>
          </a:p>
        </p:txBody>
      </p:sp>
      <p:sp>
        <p:nvSpPr>
          <p:cNvPr id="592" name="s592"/>
          <p:cNvSpPr/>
          <p:nvPr/>
        </p:nvSpPr>
        <p:spPr>
          <a:xfrm>
            <a:off x="9616440" y="2794000"/>
            <a:ext cx="2133600" cy="685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3" name="s593"/>
          <p:cNvSpPr/>
          <p:nvPr/>
        </p:nvSpPr>
        <p:spPr>
          <a:xfrm>
            <a:off x="9616440" y="2794000"/>
            <a:ext cx="25400" cy="6858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4" name="s594"/>
          <p:cNvSpPr/>
          <p:nvPr/>
        </p:nvSpPr>
        <p:spPr>
          <a:xfrm>
            <a:off x="9768840" y="28829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595" name="s595"/>
          <p:cNvSpPr/>
          <p:nvPr/>
        </p:nvSpPr>
        <p:spPr>
          <a:xfrm>
            <a:off x="9768840" y="30480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SUP-007  ·  4 products  ·  920 units</a:t>
            </a:r>
          </a:p>
        </p:txBody>
      </p:sp>
      <p:sp>
        <p:nvSpPr>
          <p:cNvPr id="596" name="s596"/>
          <p:cNvSpPr/>
          <p:nvPr/>
        </p:nvSpPr>
        <p:spPr>
          <a:xfrm>
            <a:off x="9768840" y="3225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$3,128</a:t>
            </a:r>
          </a:p>
        </p:txBody>
      </p:sp>
      <p:sp>
        <p:nvSpPr>
          <p:cNvPr id="597" name="s597"/>
          <p:cNvSpPr/>
          <p:nvPr/>
        </p:nvSpPr>
        <p:spPr>
          <a:xfrm>
            <a:off x="10934700" y="3225800"/>
            <a:ext cx="660400" cy="1905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sp>
        <p:nvSpPr>
          <p:cNvPr id="598" name="s598"/>
          <p:cNvSpPr/>
          <p:nvPr/>
        </p:nvSpPr>
        <p:spPr>
          <a:xfrm>
            <a:off x="9616440" y="3581400"/>
            <a:ext cx="2133600" cy="685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9" name="s599"/>
          <p:cNvSpPr/>
          <p:nvPr/>
        </p:nvSpPr>
        <p:spPr>
          <a:xfrm>
            <a:off x="9616440" y="3581400"/>
            <a:ext cx="25400" cy="685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0" name="s600"/>
          <p:cNvSpPr/>
          <p:nvPr/>
        </p:nvSpPr>
        <p:spPr>
          <a:xfrm>
            <a:off x="9768840" y="36703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Monrovia Print Works</a:t>
            </a:r>
          </a:p>
        </p:txBody>
      </p:sp>
      <p:sp>
        <p:nvSpPr>
          <p:cNvPr id="601" name="s601"/>
          <p:cNvSpPr/>
          <p:nvPr/>
        </p:nvSpPr>
        <p:spPr>
          <a:xfrm>
            <a:off x="9768840" y="38354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SUP-003  ·  3 products  ·  900 units</a:t>
            </a:r>
          </a:p>
        </p:txBody>
      </p:sp>
      <p:sp>
        <p:nvSpPr>
          <p:cNvPr id="602" name="s602"/>
          <p:cNvSpPr/>
          <p:nvPr/>
        </p:nvSpPr>
        <p:spPr>
          <a:xfrm>
            <a:off x="9768840" y="40132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$1,620</a:t>
            </a:r>
          </a:p>
        </p:txBody>
      </p:sp>
      <p:sp>
        <p:nvSpPr>
          <p:cNvPr id="603" name="s603"/>
          <p:cNvSpPr/>
          <p:nvPr/>
        </p:nvSpPr>
        <p:spPr>
          <a:xfrm>
            <a:off x="10934700" y="4013200"/>
            <a:ext cx="660400" cy="1905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sp>
        <p:nvSpPr>
          <p:cNvPr id="604" name="s604"/>
          <p:cNvSpPr/>
          <p:nvPr/>
        </p:nvSpPr>
        <p:spPr>
          <a:xfrm>
            <a:off x="9616440" y="4368800"/>
            <a:ext cx="2133600" cy="685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5" name="s605"/>
          <p:cNvSpPr/>
          <p:nvPr/>
        </p:nvSpPr>
        <p:spPr>
          <a:xfrm>
            <a:off x="9616440" y="4368800"/>
            <a:ext cx="25400" cy="6858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6" name="s606"/>
          <p:cNvSpPr/>
          <p:nvPr/>
        </p:nvSpPr>
        <p:spPr>
          <a:xfrm>
            <a:off x="9768840" y="44577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Gbarnga Stationers</a:t>
            </a:r>
          </a:p>
        </p:txBody>
      </p:sp>
      <p:sp>
        <p:nvSpPr>
          <p:cNvPr id="607" name="s607"/>
          <p:cNvSpPr/>
          <p:nvPr/>
        </p:nvSpPr>
        <p:spPr>
          <a:xfrm>
            <a:off x="9768840" y="46228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SUP-011  ·  2 products  ·  660 units</a:t>
            </a:r>
          </a:p>
        </p:txBody>
      </p:sp>
      <p:sp>
        <p:nvSpPr>
          <p:cNvPr id="608" name="s608"/>
          <p:cNvSpPr/>
          <p:nvPr/>
        </p:nvSpPr>
        <p:spPr>
          <a:xfrm>
            <a:off x="9768840" y="4800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$1,254</a:t>
            </a:r>
          </a:p>
        </p:txBody>
      </p:sp>
      <p:sp>
        <p:nvSpPr>
          <p:cNvPr id="609" name="s609"/>
          <p:cNvSpPr/>
          <p:nvPr/>
        </p:nvSpPr>
        <p:spPr>
          <a:xfrm>
            <a:off x="10934700" y="4800600"/>
            <a:ext cx="660400" cy="1905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sp>
        <p:nvSpPr>
          <p:cNvPr id="610" name="s610"/>
          <p:cNvSpPr/>
          <p:nvPr/>
        </p:nvSpPr>
        <p:spPr>
          <a:xfrm>
            <a:off x="9616440" y="5156200"/>
            <a:ext cx="2133600" cy="685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1" name="s611"/>
          <p:cNvSpPr/>
          <p:nvPr/>
        </p:nvSpPr>
        <p:spPr>
          <a:xfrm>
            <a:off x="9616440" y="5156200"/>
            <a:ext cx="25400" cy="6858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2" name="s612"/>
          <p:cNvSpPr/>
          <p:nvPr/>
        </p:nvSpPr>
        <p:spPr>
          <a:xfrm>
            <a:off x="9768840" y="52451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Atlantic Educational</a:t>
            </a:r>
          </a:p>
        </p:txBody>
      </p:sp>
      <p:sp>
        <p:nvSpPr>
          <p:cNvPr id="613" name="s613"/>
          <p:cNvSpPr/>
          <p:nvPr/>
        </p:nvSpPr>
        <p:spPr>
          <a:xfrm>
            <a:off x="9768840" y="54102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SUP-015  ·  1 products  ·  320 units</a:t>
            </a:r>
          </a:p>
        </p:txBody>
      </p:sp>
      <p:sp>
        <p:nvSpPr>
          <p:cNvPr id="614" name="s614"/>
          <p:cNvSpPr/>
          <p:nvPr/>
        </p:nvSpPr>
        <p:spPr>
          <a:xfrm>
            <a:off x="9768840" y="5588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$896</a:t>
            </a:r>
          </a:p>
        </p:txBody>
      </p:sp>
      <p:sp>
        <p:nvSpPr>
          <p:cNvPr id="615" name="s615"/>
          <p:cNvSpPr/>
          <p:nvPr/>
        </p:nvSpPr>
        <p:spPr>
          <a:xfrm>
            <a:off x="10934700" y="5588000"/>
            <a:ext cx="660400" cy="1905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2559A8"/>
                </a:solidFill>
                <a:latin typeface="Calibri"/>
              </a:rPr>
              <a:t>Create PO</a:t>
            </a:r>
          </a:p>
        </p:txBody>
      </p:sp>
      <p:sp>
        <p:nvSpPr>
          <p:cNvPr id="616" name="s616"/>
          <p:cNvSpPr/>
          <p:nvPr/>
        </p:nvSpPr>
        <p:spPr>
          <a:xfrm>
            <a:off x="9616440" y="6019800"/>
            <a:ext cx="2133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7" name="s617"/>
          <p:cNvSpPr/>
          <p:nvPr/>
        </p:nvSpPr>
        <p:spPr>
          <a:xfrm>
            <a:off x="9616440" y="60960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Total estimate</a:t>
            </a:r>
          </a:p>
        </p:txBody>
      </p:sp>
      <p:sp>
        <p:nvSpPr>
          <p:cNvPr id="618" name="s618"/>
          <p:cNvSpPr/>
          <p:nvPr/>
        </p:nvSpPr>
        <p:spPr>
          <a:xfrm>
            <a:off x="10756900" y="6096000"/>
            <a:ext cx="990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300" b="1" spc="0" dirty="0">
                <a:solidFill>
                  <a:srgbClr val="10141A"/>
                </a:solidFill>
                <a:latin typeface="Arial"/>
              </a:rPr>
              <a:t>$6,898</a:t>
            </a:r>
          </a:p>
        </p:txBody>
      </p:sp>
      <p:pic>
        <p:nvPicPr>
          <p:cNvPr id="619" name="Copied Picture 619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88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101600" y="1130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7" name="s407"/>
          <p:cNvSpPr/>
          <p:nvPr/>
        </p:nvSpPr>
        <p:spPr>
          <a:xfrm>
            <a:off x="101600" y="1130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Inventory  ›  Stock adjustment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New Stock Adjustment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ADJ-2026-0020  ·  draft  ·  started 7 Jan 2026, 09:48 by Moses Kollie</a:t>
            </a:r>
          </a:p>
        </p:txBody>
      </p:sp>
      <p:sp>
        <p:nvSpPr>
          <p:cNvPr id="444" name="s444"/>
          <p:cNvSpPr/>
          <p:nvPr/>
        </p:nvSpPr>
        <p:spPr>
          <a:xfrm>
            <a:off x="10325100" y="812800"/>
            <a:ext cx="160782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325100" y="812800"/>
            <a:ext cx="16078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Submit for Approval</a:t>
            </a:r>
          </a:p>
        </p:txBody>
      </p:sp>
      <p:sp>
        <p:nvSpPr>
          <p:cNvPr id="446" name="s446"/>
          <p:cNvSpPr/>
          <p:nvPr/>
        </p:nvSpPr>
        <p:spPr>
          <a:xfrm>
            <a:off x="9207500" y="812800"/>
            <a:ext cx="9906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207500" y="8128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Save Draft</a:t>
            </a:r>
          </a:p>
        </p:txBody>
      </p:sp>
      <p:sp>
        <p:nvSpPr>
          <p:cNvPr id="448" name="s448"/>
          <p:cNvSpPr/>
          <p:nvPr/>
        </p:nvSpPr>
        <p:spPr>
          <a:xfrm>
            <a:off x="836422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836422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Cancel</a:t>
            </a:r>
          </a:p>
        </p:txBody>
      </p:sp>
      <p:sp>
        <p:nvSpPr>
          <p:cNvPr id="450" name="s450"/>
          <p:cNvSpPr/>
          <p:nvPr/>
        </p:nvSpPr>
        <p:spPr>
          <a:xfrm>
            <a:off x="2148840" y="1422400"/>
            <a:ext cx="6604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326640" y="15621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Adjustment Details</a:t>
            </a:r>
          </a:p>
        </p:txBody>
      </p:sp>
      <p:sp>
        <p:nvSpPr>
          <p:cNvPr id="452" name="s452"/>
          <p:cNvSpPr/>
          <p:nvPr/>
        </p:nvSpPr>
        <p:spPr>
          <a:xfrm>
            <a:off x="2326640" y="18542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WHAT IS BEING ADJUSTED</a:t>
            </a:r>
          </a:p>
        </p:txBody>
      </p:sp>
      <p:sp>
        <p:nvSpPr>
          <p:cNvPr id="453" name="s453"/>
          <p:cNvSpPr/>
          <p:nvPr/>
        </p:nvSpPr>
        <p:spPr>
          <a:xfrm>
            <a:off x="2326640" y="20447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2326640" y="2082800"/>
            <a:ext cx="6273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55" name="s455"/>
          <p:cNvSpPr/>
          <p:nvPr/>
        </p:nvSpPr>
        <p:spPr>
          <a:xfrm>
            <a:off x="2773680" y="20828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456" name="s456"/>
          <p:cNvSpPr/>
          <p:nvPr/>
        </p:nvSpPr>
        <p:spPr>
          <a:xfrm>
            <a:off x="2326640" y="2247900"/>
            <a:ext cx="62738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2440940" y="2247900"/>
            <a:ext cx="589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PZ-0088  ·  Animal Puzzle</a:t>
            </a:r>
          </a:p>
        </p:txBody>
      </p:sp>
      <p:sp>
        <p:nvSpPr>
          <p:cNvPr id="458" name="s458"/>
          <p:cNvSpPr/>
          <p:nvPr/>
        </p:nvSpPr>
        <p:spPr>
          <a:xfrm rot="10800000">
            <a:off x="8384540" y="23431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2326640" y="25527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Warehouse</a:t>
            </a:r>
          </a:p>
        </p:txBody>
      </p:sp>
      <p:sp>
        <p:nvSpPr>
          <p:cNvPr id="460" name="s460"/>
          <p:cNvSpPr/>
          <p:nvPr/>
        </p:nvSpPr>
        <p:spPr>
          <a:xfrm>
            <a:off x="2890520" y="25527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461" name="s461"/>
          <p:cNvSpPr/>
          <p:nvPr/>
        </p:nvSpPr>
        <p:spPr>
          <a:xfrm>
            <a:off x="2326640" y="2717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2440940" y="2717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WH-01 Central Warehouse</a:t>
            </a:r>
          </a:p>
        </p:txBody>
      </p:sp>
      <p:sp>
        <p:nvSpPr>
          <p:cNvPr id="463" name="s463"/>
          <p:cNvSpPr/>
          <p:nvPr/>
        </p:nvSpPr>
        <p:spPr>
          <a:xfrm rot="10800000">
            <a:off x="5158740" y="28130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5552440" y="25527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Reason</a:t>
            </a:r>
          </a:p>
        </p:txBody>
      </p:sp>
      <p:sp>
        <p:nvSpPr>
          <p:cNvPr id="465" name="s465"/>
          <p:cNvSpPr/>
          <p:nvPr/>
        </p:nvSpPr>
        <p:spPr>
          <a:xfrm>
            <a:off x="5941060" y="25527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466" name="s466"/>
          <p:cNvSpPr/>
          <p:nvPr/>
        </p:nvSpPr>
        <p:spPr>
          <a:xfrm>
            <a:off x="5552440" y="2717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7" name="s467"/>
          <p:cNvSpPr/>
          <p:nvPr/>
        </p:nvSpPr>
        <p:spPr>
          <a:xfrm>
            <a:off x="5666740" y="2717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Damaged</a:t>
            </a:r>
          </a:p>
        </p:txBody>
      </p:sp>
      <p:sp>
        <p:nvSpPr>
          <p:cNvPr id="468" name="s468"/>
          <p:cNvSpPr/>
          <p:nvPr/>
        </p:nvSpPr>
        <p:spPr>
          <a:xfrm rot="10800000">
            <a:off x="8384540" y="28130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2326640" y="30226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Adjustment date</a:t>
            </a:r>
          </a:p>
        </p:txBody>
      </p:sp>
      <p:sp>
        <p:nvSpPr>
          <p:cNvPr id="470" name="s470"/>
          <p:cNvSpPr/>
          <p:nvPr/>
        </p:nvSpPr>
        <p:spPr>
          <a:xfrm>
            <a:off x="3241040" y="30226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471" name="s471"/>
          <p:cNvSpPr/>
          <p:nvPr/>
        </p:nvSpPr>
        <p:spPr>
          <a:xfrm>
            <a:off x="2326640" y="31877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2440940" y="31877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7 Jan 2026</a:t>
            </a:r>
          </a:p>
        </p:txBody>
      </p:sp>
      <p:sp>
        <p:nvSpPr>
          <p:cNvPr id="473" name="s473"/>
          <p:cNvSpPr/>
          <p:nvPr/>
        </p:nvSpPr>
        <p:spPr>
          <a:xfrm>
            <a:off x="5552440" y="30226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Reference</a:t>
            </a:r>
          </a:p>
        </p:txBody>
      </p:sp>
      <p:sp>
        <p:nvSpPr>
          <p:cNvPr id="474" name="s474"/>
          <p:cNvSpPr/>
          <p:nvPr/>
        </p:nvSpPr>
        <p:spPr>
          <a:xfrm>
            <a:off x="5552440" y="31877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5666740" y="31877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Cycle count CC-2026-003</a:t>
            </a:r>
          </a:p>
        </p:txBody>
      </p:sp>
      <p:sp>
        <p:nvSpPr>
          <p:cNvPr id="476" name="s476"/>
          <p:cNvSpPr/>
          <p:nvPr/>
        </p:nvSpPr>
        <p:spPr>
          <a:xfrm>
            <a:off x="2326640" y="34925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QUANTITIES</a:t>
            </a:r>
          </a:p>
        </p:txBody>
      </p:sp>
      <p:sp>
        <p:nvSpPr>
          <p:cNvPr id="477" name="s477"/>
          <p:cNvSpPr/>
          <p:nvPr/>
        </p:nvSpPr>
        <p:spPr>
          <a:xfrm>
            <a:off x="2326640" y="36830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2326640" y="37211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System quantity</a:t>
            </a:r>
          </a:p>
        </p:txBody>
      </p:sp>
      <p:sp>
        <p:nvSpPr>
          <p:cNvPr id="479" name="s479"/>
          <p:cNvSpPr/>
          <p:nvPr/>
        </p:nvSpPr>
        <p:spPr>
          <a:xfrm>
            <a:off x="2326640" y="3886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0" name="s480"/>
          <p:cNvSpPr/>
          <p:nvPr/>
        </p:nvSpPr>
        <p:spPr>
          <a:xfrm>
            <a:off x="2440940" y="38862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spc="0" dirty="0">
                <a:solidFill>
                  <a:srgbClr val="5B6572"/>
                </a:solidFill>
                <a:latin typeface="Arial"/>
              </a:rPr>
              <a:t>86</a:t>
            </a:r>
          </a:p>
        </p:txBody>
      </p:sp>
      <p:sp>
        <p:nvSpPr>
          <p:cNvPr id="481" name="s481"/>
          <p:cNvSpPr/>
          <p:nvPr/>
        </p:nvSpPr>
        <p:spPr>
          <a:xfrm>
            <a:off x="4892040" y="388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pcs</a:t>
            </a:r>
          </a:p>
        </p:txBody>
      </p:sp>
      <p:sp>
        <p:nvSpPr>
          <p:cNvPr id="482" name="s482"/>
          <p:cNvSpPr/>
          <p:nvPr/>
        </p:nvSpPr>
        <p:spPr>
          <a:xfrm>
            <a:off x="2326640" y="41656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Read from the inventory ledger</a:t>
            </a:r>
          </a:p>
        </p:txBody>
      </p:sp>
      <p:sp>
        <p:nvSpPr>
          <p:cNvPr id="483" name="s483"/>
          <p:cNvSpPr/>
          <p:nvPr/>
        </p:nvSpPr>
        <p:spPr>
          <a:xfrm>
            <a:off x="5552440" y="37211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Counted quantity</a:t>
            </a:r>
          </a:p>
        </p:txBody>
      </p:sp>
      <p:sp>
        <p:nvSpPr>
          <p:cNvPr id="484" name="s484"/>
          <p:cNvSpPr/>
          <p:nvPr/>
        </p:nvSpPr>
        <p:spPr>
          <a:xfrm>
            <a:off x="6525260" y="3721100"/>
            <a:ext cx="127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B3261E"/>
                </a:solidFill>
                <a:latin typeface="Calibri"/>
              </a:rPr>
              <a:t>*</a:t>
            </a:r>
          </a:p>
        </p:txBody>
      </p:sp>
      <p:sp>
        <p:nvSpPr>
          <p:cNvPr id="485" name="s485"/>
          <p:cNvSpPr/>
          <p:nvPr/>
        </p:nvSpPr>
        <p:spPr>
          <a:xfrm>
            <a:off x="5552440" y="3886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59A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6" name="s486"/>
          <p:cNvSpPr/>
          <p:nvPr/>
        </p:nvSpPr>
        <p:spPr>
          <a:xfrm>
            <a:off x="5666740" y="38862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spc="0" dirty="0">
                <a:solidFill>
                  <a:srgbClr val="10141A"/>
                </a:solidFill>
                <a:latin typeface="Arial"/>
              </a:rPr>
              <a:t>74</a:t>
            </a:r>
          </a:p>
        </p:txBody>
      </p:sp>
      <p:sp>
        <p:nvSpPr>
          <p:cNvPr id="487" name="s487"/>
          <p:cNvSpPr/>
          <p:nvPr/>
        </p:nvSpPr>
        <p:spPr>
          <a:xfrm>
            <a:off x="8117840" y="388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pcs</a:t>
            </a:r>
          </a:p>
        </p:txBody>
      </p:sp>
      <p:sp>
        <p:nvSpPr>
          <p:cNvPr id="488" name="s488"/>
          <p:cNvSpPr/>
          <p:nvPr/>
        </p:nvSpPr>
        <p:spPr>
          <a:xfrm>
            <a:off x="5552440" y="41656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Physical count entered by storekeeper</a:t>
            </a:r>
          </a:p>
        </p:txBody>
      </p:sp>
      <p:sp>
        <p:nvSpPr>
          <p:cNvPr id="489" name="s489"/>
          <p:cNvSpPr/>
          <p:nvPr/>
        </p:nvSpPr>
        <p:spPr>
          <a:xfrm>
            <a:off x="2326640" y="43180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Difference</a:t>
            </a:r>
          </a:p>
        </p:txBody>
      </p:sp>
      <p:sp>
        <p:nvSpPr>
          <p:cNvPr id="490" name="s490"/>
          <p:cNvSpPr/>
          <p:nvPr/>
        </p:nvSpPr>
        <p:spPr>
          <a:xfrm>
            <a:off x="2326640" y="4483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2440940" y="44831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spc="0" dirty="0">
                <a:solidFill>
                  <a:srgbClr val="5B6572"/>
                </a:solidFill>
                <a:latin typeface="Arial"/>
              </a:rPr>
              <a:t>−12</a:t>
            </a:r>
          </a:p>
        </p:txBody>
      </p:sp>
      <p:sp>
        <p:nvSpPr>
          <p:cNvPr id="492" name="s492"/>
          <p:cNvSpPr/>
          <p:nvPr/>
        </p:nvSpPr>
        <p:spPr>
          <a:xfrm>
            <a:off x="4892040" y="44831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pcs</a:t>
            </a:r>
          </a:p>
        </p:txBody>
      </p:sp>
      <p:sp>
        <p:nvSpPr>
          <p:cNvPr id="493" name="s493"/>
          <p:cNvSpPr/>
          <p:nvPr/>
        </p:nvSpPr>
        <p:spPr>
          <a:xfrm>
            <a:off x="5552440" y="43180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Value impact</a:t>
            </a:r>
          </a:p>
        </p:txBody>
      </p:sp>
      <p:sp>
        <p:nvSpPr>
          <p:cNvPr id="494" name="s494"/>
          <p:cNvSpPr/>
          <p:nvPr/>
        </p:nvSpPr>
        <p:spPr>
          <a:xfrm>
            <a:off x="5552440" y="4483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5666740" y="44831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spc="0" dirty="0">
                <a:solidFill>
                  <a:srgbClr val="5B6572"/>
                </a:solidFill>
                <a:latin typeface="Arial"/>
              </a:rPr>
              <a:t>−$40.80</a:t>
            </a:r>
          </a:p>
        </p:txBody>
      </p:sp>
      <p:sp>
        <p:nvSpPr>
          <p:cNvPr id="496" name="s496"/>
          <p:cNvSpPr/>
          <p:nvPr/>
        </p:nvSpPr>
        <p:spPr>
          <a:xfrm>
            <a:off x="2326640" y="49149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EVIDENCE</a:t>
            </a:r>
          </a:p>
        </p:txBody>
      </p:sp>
      <p:sp>
        <p:nvSpPr>
          <p:cNvPr id="497" name="s497"/>
          <p:cNvSpPr/>
          <p:nvPr/>
        </p:nvSpPr>
        <p:spPr>
          <a:xfrm>
            <a:off x="2326640" y="51054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2326640" y="5143500"/>
            <a:ext cx="6273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Notes</a:t>
            </a:r>
          </a:p>
        </p:txBody>
      </p:sp>
      <p:sp>
        <p:nvSpPr>
          <p:cNvPr id="499" name="s499"/>
          <p:cNvSpPr/>
          <p:nvPr/>
        </p:nvSpPr>
        <p:spPr>
          <a:xfrm>
            <a:off x="2326640" y="5308600"/>
            <a:ext cx="6273800" cy="482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0" name="s500"/>
          <p:cNvSpPr/>
          <p:nvPr/>
        </p:nvSpPr>
        <p:spPr>
          <a:xfrm>
            <a:off x="2440940" y="5372100"/>
            <a:ext cx="5892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12 puzzles water-damaged during the 4 Jan roof leak in Bay 3. Photographed and set aside for write-off.</a:t>
            </a:r>
          </a:p>
        </p:txBody>
      </p:sp>
      <p:sp>
        <p:nvSpPr>
          <p:cNvPr id="501" name="s501"/>
          <p:cNvSpPr/>
          <p:nvPr/>
        </p:nvSpPr>
        <p:spPr>
          <a:xfrm>
            <a:off x="2326640" y="5943600"/>
            <a:ext cx="6273800" cy="431800"/>
          </a:xfrm>
          <a:prstGeom prst="roundRect">
            <a:avLst>
              <a:gd name="adj" fmla="val 8000"/>
            </a:avLst>
          </a:prstGeom>
          <a:solidFill>
            <a:srgbClr val="F6F5F1"/>
          </a:solidFill>
          <a:ln w="12700">
            <a:solidFill>
              <a:srgbClr val="C9CFD8"/>
            </a:solidFill>
            <a:prstDash val="dash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2" name="s502"/>
          <p:cNvSpPr/>
          <p:nvPr/>
        </p:nvSpPr>
        <p:spPr>
          <a:xfrm>
            <a:off x="2453640" y="6019800"/>
            <a:ext cx="279400" cy="27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2529840" y="6108700"/>
            <a:ext cx="127000" cy="3175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4" name="s504"/>
          <p:cNvSpPr/>
          <p:nvPr/>
        </p:nvSpPr>
        <p:spPr>
          <a:xfrm>
            <a:off x="2529840" y="6172200"/>
            <a:ext cx="88900" cy="317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2860040" y="59436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10141A"/>
                </a:solidFill>
                <a:latin typeface="Calibri"/>
              </a:rPr>
              <a:t>count-sheet-CC-2026-003.pdf  ·  84 KB</a:t>
            </a:r>
          </a:p>
        </p:txBody>
      </p:sp>
      <p:sp>
        <p:nvSpPr>
          <p:cNvPr id="506" name="s506"/>
          <p:cNvSpPr/>
          <p:nvPr/>
        </p:nvSpPr>
        <p:spPr>
          <a:xfrm>
            <a:off x="6517640" y="59436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Attach another file</a:t>
            </a:r>
          </a:p>
        </p:txBody>
      </p:sp>
      <p:sp>
        <p:nvSpPr>
          <p:cNvPr id="507" name="s507"/>
          <p:cNvSpPr/>
          <p:nvPr/>
        </p:nvSpPr>
        <p:spPr>
          <a:xfrm>
            <a:off x="8930640" y="1422400"/>
            <a:ext cx="3002280" cy="248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8" name="s508"/>
          <p:cNvSpPr/>
          <p:nvPr/>
        </p:nvSpPr>
        <p:spPr>
          <a:xfrm>
            <a:off x="9108440" y="1562100"/>
            <a:ext cx="2641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Impact Preview</a:t>
            </a:r>
          </a:p>
        </p:txBody>
      </p:sp>
      <p:sp>
        <p:nvSpPr>
          <p:cNvPr id="509" name="s509"/>
          <p:cNvSpPr/>
          <p:nvPr/>
        </p:nvSpPr>
        <p:spPr>
          <a:xfrm>
            <a:off x="9108440" y="1778000"/>
            <a:ext cx="1168400" cy="7366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0" name="s510"/>
          <p:cNvSpPr/>
          <p:nvPr/>
        </p:nvSpPr>
        <p:spPr>
          <a:xfrm>
            <a:off x="9108440" y="1879600"/>
            <a:ext cx="1168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System</a:t>
            </a:r>
          </a:p>
        </p:txBody>
      </p:sp>
      <p:sp>
        <p:nvSpPr>
          <p:cNvPr id="511" name="s511"/>
          <p:cNvSpPr/>
          <p:nvPr/>
        </p:nvSpPr>
        <p:spPr>
          <a:xfrm>
            <a:off x="9108440" y="2032000"/>
            <a:ext cx="1168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200" b="1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512" name="s512"/>
          <p:cNvSpPr/>
          <p:nvPr/>
        </p:nvSpPr>
        <p:spPr>
          <a:xfrm>
            <a:off x="10350500" y="2006600"/>
            <a:ext cx="330200" cy="254000"/>
          </a:xfrm>
          <a:prstGeom prst="rightArrow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10759440" y="1778000"/>
            <a:ext cx="990600" cy="736600"/>
          </a:xfrm>
          <a:prstGeom prst="roundRect">
            <a:avLst>
              <a:gd name="adj" fmla="val 6000"/>
            </a:avLst>
          </a:prstGeom>
          <a:solidFill>
            <a:srgbClr val="B3261E">
              <a:alpha val="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s514"/>
          <p:cNvSpPr/>
          <p:nvPr/>
        </p:nvSpPr>
        <p:spPr>
          <a:xfrm>
            <a:off x="10759440" y="1879600"/>
            <a:ext cx="990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spc="0" dirty="0">
                <a:solidFill>
                  <a:srgbClr val="8C1D18"/>
                </a:solidFill>
                <a:latin typeface="Calibri"/>
              </a:rPr>
              <a:t>Counted</a:t>
            </a:r>
          </a:p>
        </p:txBody>
      </p:sp>
      <p:sp>
        <p:nvSpPr>
          <p:cNvPr id="515" name="s515"/>
          <p:cNvSpPr/>
          <p:nvPr/>
        </p:nvSpPr>
        <p:spPr>
          <a:xfrm>
            <a:off x="10759440" y="2032000"/>
            <a:ext cx="990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200" b="1" spc="0" dirty="0">
                <a:solidFill>
                  <a:srgbClr val="8C1D18"/>
                </a:solidFill>
                <a:latin typeface="Arial"/>
              </a:rPr>
              <a:t>74</a:t>
            </a:r>
          </a:p>
        </p:txBody>
      </p:sp>
      <p:sp>
        <p:nvSpPr>
          <p:cNvPr id="516" name="s516"/>
          <p:cNvSpPr/>
          <p:nvPr/>
        </p:nvSpPr>
        <p:spPr>
          <a:xfrm>
            <a:off x="9108440" y="26670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7" name="s517"/>
          <p:cNvSpPr/>
          <p:nvPr/>
        </p:nvSpPr>
        <p:spPr>
          <a:xfrm>
            <a:off x="9108440" y="27686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Difference</a:t>
            </a:r>
          </a:p>
        </p:txBody>
      </p:sp>
      <p:sp>
        <p:nvSpPr>
          <p:cNvPr id="518" name="s518"/>
          <p:cNvSpPr/>
          <p:nvPr/>
        </p:nvSpPr>
        <p:spPr>
          <a:xfrm>
            <a:off x="10378440" y="2768600"/>
            <a:ext cx="137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1" spc="0" dirty="0">
                <a:solidFill>
                  <a:srgbClr val="B3261E"/>
                </a:solidFill>
                <a:latin typeface="Arial"/>
              </a:rPr>
              <a:t>−12 pcs</a:t>
            </a:r>
          </a:p>
        </p:txBody>
      </p:sp>
      <p:sp>
        <p:nvSpPr>
          <p:cNvPr id="519" name="s519"/>
          <p:cNvSpPr/>
          <p:nvPr/>
        </p:nvSpPr>
        <p:spPr>
          <a:xfrm>
            <a:off x="9108440" y="29972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Unit cost</a:t>
            </a:r>
          </a:p>
        </p:txBody>
      </p:sp>
      <p:sp>
        <p:nvSpPr>
          <p:cNvPr id="520" name="s520"/>
          <p:cNvSpPr/>
          <p:nvPr/>
        </p:nvSpPr>
        <p:spPr>
          <a:xfrm>
            <a:off x="10378440" y="2997200"/>
            <a:ext cx="137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100" b="1" spc="0" dirty="0">
                <a:solidFill>
                  <a:srgbClr val="10141A"/>
                </a:solidFill>
                <a:latin typeface="Arial"/>
              </a:rPr>
              <a:t>$3.40</a:t>
            </a:r>
          </a:p>
        </p:txBody>
      </p:sp>
      <p:sp>
        <p:nvSpPr>
          <p:cNvPr id="521" name="s521"/>
          <p:cNvSpPr/>
          <p:nvPr/>
        </p:nvSpPr>
        <p:spPr>
          <a:xfrm>
            <a:off x="9108440" y="322580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Value written off</a:t>
            </a:r>
          </a:p>
        </p:txBody>
      </p:sp>
      <p:sp>
        <p:nvSpPr>
          <p:cNvPr id="522" name="s522"/>
          <p:cNvSpPr/>
          <p:nvPr/>
        </p:nvSpPr>
        <p:spPr>
          <a:xfrm>
            <a:off x="10378440" y="3225800"/>
            <a:ext cx="137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1" spc="0" dirty="0">
                <a:solidFill>
                  <a:srgbClr val="B3261E"/>
                </a:solidFill>
                <a:latin typeface="Arial"/>
              </a:rPr>
              <a:t>−$40.80</a:t>
            </a:r>
          </a:p>
        </p:txBody>
      </p:sp>
      <p:sp>
        <p:nvSpPr>
          <p:cNvPr id="523" name="s523"/>
          <p:cNvSpPr/>
          <p:nvPr/>
        </p:nvSpPr>
        <p:spPr>
          <a:xfrm>
            <a:off x="9108440" y="3505200"/>
            <a:ext cx="264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Stock at WH-01 drops from 86 to 74 once approved. Animal Puzzle stays Low Stock.</a:t>
            </a:r>
          </a:p>
        </p:txBody>
      </p:sp>
      <p:sp>
        <p:nvSpPr>
          <p:cNvPr id="524" name="s524"/>
          <p:cNvSpPr/>
          <p:nvPr/>
        </p:nvSpPr>
        <p:spPr>
          <a:xfrm>
            <a:off x="8930640" y="4089400"/>
            <a:ext cx="3002280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9108440" y="4229100"/>
            <a:ext cx="2641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Approval</a:t>
            </a:r>
          </a:p>
        </p:txBody>
      </p:sp>
      <p:sp>
        <p:nvSpPr>
          <p:cNvPr id="526" name="s526"/>
          <p:cNvSpPr/>
          <p:nvPr/>
        </p:nvSpPr>
        <p:spPr>
          <a:xfrm>
            <a:off x="9184640" y="4445000"/>
            <a:ext cx="177800" cy="1778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7" name="s527"/>
          <p:cNvSpPr/>
          <p:nvPr/>
        </p:nvSpPr>
        <p:spPr>
          <a:xfrm>
            <a:off x="9241790" y="450215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8" name="s528"/>
          <p:cNvSpPr/>
          <p:nvPr/>
        </p:nvSpPr>
        <p:spPr>
          <a:xfrm>
            <a:off x="9362440" y="4527550"/>
            <a:ext cx="482600" cy="127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9" name="s529"/>
          <p:cNvSpPr/>
          <p:nvPr/>
        </p:nvSpPr>
        <p:spPr>
          <a:xfrm>
            <a:off x="9006840" y="4673600"/>
            <a:ext cx="533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559A8"/>
                </a:solidFill>
                <a:latin typeface="Calibri"/>
              </a:rPr>
              <a:t>Draft</a:t>
            </a:r>
          </a:p>
        </p:txBody>
      </p:sp>
      <p:sp>
        <p:nvSpPr>
          <p:cNvPr id="530" name="s530"/>
          <p:cNvSpPr/>
          <p:nvPr/>
        </p:nvSpPr>
        <p:spPr>
          <a:xfrm>
            <a:off x="9845040" y="4445000"/>
            <a:ext cx="177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1" name="s531"/>
          <p:cNvSpPr/>
          <p:nvPr/>
        </p:nvSpPr>
        <p:spPr>
          <a:xfrm>
            <a:off x="10022840" y="4527550"/>
            <a:ext cx="482600" cy="127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2" name="s532"/>
          <p:cNvSpPr/>
          <p:nvPr/>
        </p:nvSpPr>
        <p:spPr>
          <a:xfrm>
            <a:off x="9667240" y="4673600"/>
            <a:ext cx="533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0" spc="0" dirty="0">
                <a:solidFill>
                  <a:srgbClr val="8A93A0"/>
                </a:solidFill>
                <a:latin typeface="Calibri"/>
              </a:rPr>
              <a:t>Submitted</a:t>
            </a:r>
          </a:p>
        </p:txBody>
      </p:sp>
      <p:sp>
        <p:nvSpPr>
          <p:cNvPr id="533" name="s533"/>
          <p:cNvSpPr/>
          <p:nvPr/>
        </p:nvSpPr>
        <p:spPr>
          <a:xfrm>
            <a:off x="10505440" y="4445000"/>
            <a:ext cx="177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10683240" y="4527550"/>
            <a:ext cx="482600" cy="127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5" name="s535"/>
          <p:cNvSpPr/>
          <p:nvPr/>
        </p:nvSpPr>
        <p:spPr>
          <a:xfrm>
            <a:off x="10327640" y="4673600"/>
            <a:ext cx="533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0" spc="0" dirty="0">
                <a:solidFill>
                  <a:srgbClr val="8A93A0"/>
                </a:solidFill>
                <a:latin typeface="Calibri"/>
              </a:rPr>
              <a:t>Approved</a:t>
            </a:r>
          </a:p>
        </p:txBody>
      </p:sp>
      <p:sp>
        <p:nvSpPr>
          <p:cNvPr id="536" name="s536"/>
          <p:cNvSpPr/>
          <p:nvPr/>
        </p:nvSpPr>
        <p:spPr>
          <a:xfrm>
            <a:off x="11165840" y="4445000"/>
            <a:ext cx="177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7" name="s537"/>
          <p:cNvSpPr/>
          <p:nvPr/>
        </p:nvSpPr>
        <p:spPr>
          <a:xfrm>
            <a:off x="10988040" y="4673600"/>
            <a:ext cx="533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0" spc="0" dirty="0">
                <a:solidFill>
                  <a:srgbClr val="8A93A0"/>
                </a:solidFill>
                <a:latin typeface="Calibri"/>
              </a:rPr>
              <a:t>Posted</a:t>
            </a:r>
          </a:p>
        </p:txBody>
      </p:sp>
      <p:sp>
        <p:nvSpPr>
          <p:cNvPr id="538" name="s538"/>
          <p:cNvSpPr/>
          <p:nvPr/>
        </p:nvSpPr>
        <p:spPr>
          <a:xfrm>
            <a:off x="9108440" y="49530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9108440" y="5054600"/>
            <a:ext cx="304800" cy="304800"/>
          </a:xfrm>
          <a:prstGeom prst="ellipse">
            <a:avLst/>
          </a:prstGeom>
          <a:solidFill>
            <a:srgbClr val="2559A8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0" name="s540"/>
          <p:cNvSpPr/>
          <p:nvPr/>
        </p:nvSpPr>
        <p:spPr>
          <a:xfrm>
            <a:off x="9108440" y="5054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559A8"/>
                </a:solidFill>
                <a:latin typeface="Calibri"/>
              </a:rPr>
              <a:t>MK</a:t>
            </a:r>
          </a:p>
        </p:txBody>
      </p:sp>
      <p:sp>
        <p:nvSpPr>
          <p:cNvPr id="541" name="s541"/>
          <p:cNvSpPr/>
          <p:nvPr/>
        </p:nvSpPr>
        <p:spPr>
          <a:xfrm>
            <a:off x="9512300" y="5054600"/>
            <a:ext cx="2235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542" name="s542"/>
          <p:cNvSpPr/>
          <p:nvPr/>
        </p:nvSpPr>
        <p:spPr>
          <a:xfrm>
            <a:off x="9512300" y="5207000"/>
            <a:ext cx="2235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Administrator  ·  raising adjustment</a:t>
            </a:r>
          </a:p>
        </p:txBody>
      </p:sp>
      <p:sp>
        <p:nvSpPr>
          <p:cNvPr id="543" name="s543"/>
          <p:cNvSpPr/>
          <p:nvPr/>
        </p:nvSpPr>
        <p:spPr>
          <a:xfrm>
            <a:off x="9108440" y="5461000"/>
            <a:ext cx="304800" cy="304800"/>
          </a:xfrm>
          <a:prstGeom prst="ellipse">
            <a:avLst/>
          </a:prstGeom>
          <a:solidFill>
            <a:srgbClr val="D08700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4" name="s544"/>
          <p:cNvSpPr/>
          <p:nvPr/>
        </p:nvSpPr>
        <p:spPr>
          <a:xfrm>
            <a:off x="9108440" y="5461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8A5A00"/>
                </a:solidFill>
                <a:latin typeface="Calibri"/>
              </a:rPr>
              <a:t>GK</a:t>
            </a:r>
          </a:p>
        </p:txBody>
      </p:sp>
      <p:sp>
        <p:nvSpPr>
          <p:cNvPr id="545" name="s545"/>
          <p:cNvSpPr/>
          <p:nvPr/>
        </p:nvSpPr>
        <p:spPr>
          <a:xfrm>
            <a:off x="9512300" y="5461000"/>
            <a:ext cx="2235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Grace Kollie</a:t>
            </a:r>
          </a:p>
        </p:txBody>
      </p:sp>
      <p:sp>
        <p:nvSpPr>
          <p:cNvPr id="546" name="s546"/>
          <p:cNvSpPr/>
          <p:nvPr/>
        </p:nvSpPr>
        <p:spPr>
          <a:xfrm>
            <a:off x="9512300" y="5613400"/>
            <a:ext cx="2235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Inventory Manager  ·  approver</a:t>
            </a:r>
          </a:p>
        </p:txBody>
      </p:sp>
      <p:sp>
        <p:nvSpPr>
          <p:cNvPr id="547" name="s547"/>
          <p:cNvSpPr/>
          <p:nvPr/>
        </p:nvSpPr>
        <p:spPr>
          <a:xfrm>
            <a:off x="9108440" y="5918200"/>
            <a:ext cx="2641600" cy="482600"/>
          </a:xfrm>
          <a:prstGeom prst="roundRect">
            <a:avLst>
              <a:gd name="adj" fmla="val 6000"/>
            </a:avLst>
          </a:prstGeom>
          <a:solidFill>
            <a:srgbClr val="D08700">
              <a:alpha val="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9108440" y="5918200"/>
            <a:ext cx="25400" cy="482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9" name="s549"/>
          <p:cNvSpPr/>
          <p:nvPr/>
        </p:nvSpPr>
        <p:spPr>
          <a:xfrm>
            <a:off x="9260840" y="59944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00" b="0" spc="0" dirty="0">
                <a:solidFill>
                  <a:srgbClr val="8A5A00"/>
                </a:solidFill>
                <a:latin typeface="Calibri"/>
              </a:rPr>
              <a:t>Write-offs above $25 require Inventory Manager approval before posting.</a:t>
            </a:r>
          </a:p>
        </p:txBody>
      </p:sp>
      <p:pic>
        <p:nvPicPr>
          <p:cNvPr id="550" name="Copied Picture 550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90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101600" y="1130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7" name="s407"/>
          <p:cNvSpPr/>
          <p:nvPr/>
        </p:nvSpPr>
        <p:spPr>
          <a:xfrm>
            <a:off x="101600" y="1130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Inventory  ›  Stock movements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Stock Movement History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1,284 movements in the last 30 days  ·  stock in +5,240  ·  stock out −3,100  ·  net +2,140 units</a:t>
            </a:r>
          </a:p>
        </p:txBody>
      </p:sp>
      <p:sp>
        <p:nvSpPr>
          <p:cNvPr id="444" name="s444"/>
          <p:cNvSpPr/>
          <p:nvPr/>
        </p:nvSpPr>
        <p:spPr>
          <a:xfrm>
            <a:off x="10942320" y="812800"/>
            <a:ext cx="9906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942320" y="8128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 CSV</a:t>
            </a:r>
          </a:p>
        </p:txBody>
      </p:sp>
      <p:sp>
        <p:nvSpPr>
          <p:cNvPr id="446" name="s446"/>
          <p:cNvSpPr/>
          <p:nvPr/>
        </p:nvSpPr>
        <p:spPr>
          <a:xfrm>
            <a:off x="9824720" y="812800"/>
            <a:ext cx="9906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824720" y="8128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Date range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22400"/>
            <a:ext cx="876300" cy="27940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148840" y="1422400"/>
            <a:ext cx="8763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All types</a:t>
            </a:r>
          </a:p>
        </p:txBody>
      </p:sp>
      <p:sp>
        <p:nvSpPr>
          <p:cNvPr id="450" name="s450"/>
          <p:cNvSpPr/>
          <p:nvPr/>
        </p:nvSpPr>
        <p:spPr>
          <a:xfrm>
            <a:off x="3101340" y="1422400"/>
            <a:ext cx="55880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3215640" y="1524000"/>
            <a:ext cx="76200" cy="76200"/>
          </a:xfrm>
          <a:prstGeom prst="ellipse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3202940" y="14224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Sale</a:t>
            </a:r>
          </a:p>
        </p:txBody>
      </p:sp>
      <p:sp>
        <p:nvSpPr>
          <p:cNvPr id="453" name="s453"/>
          <p:cNvSpPr/>
          <p:nvPr/>
        </p:nvSpPr>
        <p:spPr>
          <a:xfrm>
            <a:off x="3736340" y="1422400"/>
            <a:ext cx="81280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3850640" y="1524000"/>
            <a:ext cx="76200" cy="76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3837940" y="1422400"/>
            <a:ext cx="711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Purchase</a:t>
            </a:r>
          </a:p>
        </p:txBody>
      </p:sp>
      <p:sp>
        <p:nvSpPr>
          <p:cNvPr id="456" name="s456"/>
          <p:cNvSpPr/>
          <p:nvPr/>
        </p:nvSpPr>
        <p:spPr>
          <a:xfrm>
            <a:off x="4625340" y="1422400"/>
            <a:ext cx="81280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4739640" y="1524000"/>
            <a:ext cx="76200" cy="762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4726940" y="1422400"/>
            <a:ext cx="711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Transfer</a:t>
            </a:r>
          </a:p>
        </p:txBody>
      </p:sp>
      <p:sp>
        <p:nvSpPr>
          <p:cNvPr id="459" name="s459"/>
          <p:cNvSpPr/>
          <p:nvPr/>
        </p:nvSpPr>
        <p:spPr>
          <a:xfrm>
            <a:off x="5514340" y="1422400"/>
            <a:ext cx="93980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5628640" y="1524000"/>
            <a:ext cx="76200" cy="762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5615940" y="1422400"/>
            <a:ext cx="838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Adjustment</a:t>
            </a:r>
          </a:p>
        </p:txBody>
      </p:sp>
      <p:sp>
        <p:nvSpPr>
          <p:cNvPr id="462" name="s462"/>
          <p:cNvSpPr/>
          <p:nvPr/>
        </p:nvSpPr>
        <p:spPr>
          <a:xfrm>
            <a:off x="6530340" y="1422400"/>
            <a:ext cx="68580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6644640" y="1524000"/>
            <a:ext cx="76200" cy="76200"/>
          </a:xfrm>
          <a:prstGeom prst="ellips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6631940" y="1422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Return</a:t>
            </a:r>
          </a:p>
        </p:txBody>
      </p:sp>
      <p:sp>
        <p:nvSpPr>
          <p:cNvPr id="465" name="s465"/>
          <p:cNvSpPr/>
          <p:nvPr/>
        </p:nvSpPr>
        <p:spPr>
          <a:xfrm>
            <a:off x="7292340" y="1422400"/>
            <a:ext cx="74930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7406640" y="1524000"/>
            <a:ext cx="76200" cy="762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7" name="s467"/>
          <p:cNvSpPr/>
          <p:nvPr/>
        </p:nvSpPr>
        <p:spPr>
          <a:xfrm>
            <a:off x="7393940" y="1422400"/>
            <a:ext cx="64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Damaged</a:t>
            </a:r>
          </a:p>
        </p:txBody>
      </p:sp>
      <p:sp>
        <p:nvSpPr>
          <p:cNvPr id="468" name="s468"/>
          <p:cNvSpPr/>
          <p:nvPr/>
        </p:nvSpPr>
        <p:spPr>
          <a:xfrm>
            <a:off x="10840720" y="1422400"/>
            <a:ext cx="109220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More filters</a:t>
            </a:r>
          </a:p>
        </p:txBody>
      </p:sp>
      <p:sp>
        <p:nvSpPr>
          <p:cNvPr id="469" name="s469"/>
          <p:cNvSpPr/>
          <p:nvPr/>
        </p:nvSpPr>
        <p:spPr>
          <a:xfrm>
            <a:off x="2148840" y="1854200"/>
            <a:ext cx="9784080" cy="464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2326640" y="1993900"/>
            <a:ext cx="8006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All Movements</a:t>
            </a:r>
          </a:p>
        </p:txBody>
      </p:sp>
      <p:sp>
        <p:nvSpPr>
          <p:cNvPr id="471" name="s471"/>
          <p:cNvSpPr/>
          <p:nvPr/>
        </p:nvSpPr>
        <p:spPr>
          <a:xfrm>
            <a:off x="10358120" y="19939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Newest first</a:t>
            </a:r>
          </a:p>
        </p:txBody>
      </p:sp>
      <p:sp>
        <p:nvSpPr>
          <p:cNvPr id="472" name="s472"/>
          <p:cNvSpPr/>
          <p:nvPr/>
        </p:nvSpPr>
        <p:spPr>
          <a:xfrm>
            <a:off x="2148840" y="2362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3" name="s473"/>
          <p:cNvSpPr/>
          <p:nvPr/>
        </p:nvSpPr>
        <p:spPr>
          <a:xfrm>
            <a:off x="2326640" y="2362200"/>
            <a:ext cx="111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TRANSACTION</a:t>
            </a:r>
          </a:p>
        </p:txBody>
      </p:sp>
      <p:sp>
        <p:nvSpPr>
          <p:cNvPr id="474" name="s474"/>
          <p:cNvSpPr/>
          <p:nvPr/>
        </p:nvSpPr>
        <p:spPr>
          <a:xfrm>
            <a:off x="3469640" y="23622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DATE</a:t>
            </a:r>
          </a:p>
        </p:txBody>
      </p:sp>
      <p:sp>
        <p:nvSpPr>
          <p:cNvPr id="475" name="s475"/>
          <p:cNvSpPr/>
          <p:nvPr/>
        </p:nvSpPr>
        <p:spPr>
          <a:xfrm>
            <a:off x="4333240" y="2362200"/>
            <a:ext cx="165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76" name="s476"/>
          <p:cNvSpPr/>
          <p:nvPr/>
        </p:nvSpPr>
        <p:spPr>
          <a:xfrm>
            <a:off x="6009640" y="2362200"/>
            <a:ext cx="111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SOURCE</a:t>
            </a:r>
          </a:p>
        </p:txBody>
      </p:sp>
      <p:sp>
        <p:nvSpPr>
          <p:cNvPr id="477" name="s477"/>
          <p:cNvSpPr/>
          <p:nvPr/>
        </p:nvSpPr>
        <p:spPr>
          <a:xfrm>
            <a:off x="7152640" y="23622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DESTINATION</a:t>
            </a:r>
          </a:p>
        </p:txBody>
      </p:sp>
      <p:sp>
        <p:nvSpPr>
          <p:cNvPr id="478" name="s478"/>
          <p:cNvSpPr/>
          <p:nvPr/>
        </p:nvSpPr>
        <p:spPr>
          <a:xfrm>
            <a:off x="8397240" y="23622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QTY</a:t>
            </a:r>
          </a:p>
        </p:txBody>
      </p:sp>
      <p:sp>
        <p:nvSpPr>
          <p:cNvPr id="479" name="s479"/>
          <p:cNvSpPr/>
          <p:nvPr/>
        </p:nvSpPr>
        <p:spPr>
          <a:xfrm>
            <a:off x="8956040" y="2362200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TYPE</a:t>
            </a:r>
          </a:p>
        </p:txBody>
      </p:sp>
      <p:sp>
        <p:nvSpPr>
          <p:cNvPr id="480" name="s480"/>
          <p:cNvSpPr/>
          <p:nvPr/>
        </p:nvSpPr>
        <p:spPr>
          <a:xfrm>
            <a:off x="9895840" y="2362200"/>
            <a:ext cx="1016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EMPLOYEE</a:t>
            </a:r>
          </a:p>
        </p:txBody>
      </p:sp>
      <p:sp>
        <p:nvSpPr>
          <p:cNvPr id="481" name="s481"/>
          <p:cNvSpPr/>
          <p:nvPr/>
        </p:nvSpPr>
        <p:spPr>
          <a:xfrm>
            <a:off x="10937240" y="2362200"/>
            <a:ext cx="787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REFERENCE</a:t>
            </a:r>
          </a:p>
        </p:txBody>
      </p:sp>
      <p:sp>
        <p:nvSpPr>
          <p:cNvPr id="482" name="s482"/>
          <p:cNvSpPr/>
          <p:nvPr/>
        </p:nvSpPr>
        <p:spPr>
          <a:xfrm>
            <a:off x="2148840" y="2927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2148840" y="26670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4" name="s484"/>
          <p:cNvSpPr/>
          <p:nvPr/>
        </p:nvSpPr>
        <p:spPr>
          <a:xfrm>
            <a:off x="2326640" y="2628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TRX-2026-1284</a:t>
            </a:r>
          </a:p>
        </p:txBody>
      </p:sp>
      <p:sp>
        <p:nvSpPr>
          <p:cNvPr id="485" name="s485"/>
          <p:cNvSpPr/>
          <p:nvPr/>
        </p:nvSpPr>
        <p:spPr>
          <a:xfrm>
            <a:off x="3469640" y="26289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7 Jan</a:t>
            </a:r>
          </a:p>
        </p:txBody>
      </p:sp>
      <p:sp>
        <p:nvSpPr>
          <p:cNvPr id="486" name="s486"/>
          <p:cNvSpPr/>
          <p:nvPr/>
        </p:nvSpPr>
        <p:spPr>
          <a:xfrm>
            <a:off x="4333240" y="26289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487" name="s487"/>
          <p:cNvSpPr/>
          <p:nvPr/>
        </p:nvSpPr>
        <p:spPr>
          <a:xfrm>
            <a:off x="6009640" y="2628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488" name="s488"/>
          <p:cNvSpPr/>
          <p:nvPr/>
        </p:nvSpPr>
        <p:spPr>
          <a:xfrm>
            <a:off x="7152640" y="2628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Nimba Community School</a:t>
            </a:r>
          </a:p>
        </p:txBody>
      </p:sp>
      <p:sp>
        <p:nvSpPr>
          <p:cNvPr id="489" name="s489"/>
          <p:cNvSpPr/>
          <p:nvPr/>
        </p:nvSpPr>
        <p:spPr>
          <a:xfrm>
            <a:off x="8397240" y="26289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−316</a:t>
            </a:r>
          </a:p>
        </p:txBody>
      </p:sp>
      <p:sp>
        <p:nvSpPr>
          <p:cNvPr id="490" name="s490"/>
          <p:cNvSpPr/>
          <p:nvPr/>
        </p:nvSpPr>
        <p:spPr>
          <a:xfrm>
            <a:off x="8956040" y="26924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8956040" y="26924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492" name="s492"/>
          <p:cNvSpPr/>
          <p:nvPr/>
        </p:nvSpPr>
        <p:spPr>
          <a:xfrm>
            <a:off x="9895840" y="26289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Grace Doe</a:t>
            </a:r>
          </a:p>
        </p:txBody>
      </p:sp>
      <p:sp>
        <p:nvSpPr>
          <p:cNvPr id="493" name="s493"/>
          <p:cNvSpPr/>
          <p:nvPr/>
        </p:nvSpPr>
        <p:spPr>
          <a:xfrm>
            <a:off x="10937240" y="26289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ORD-0086</a:t>
            </a:r>
          </a:p>
        </p:txBody>
      </p:sp>
      <p:sp>
        <p:nvSpPr>
          <p:cNvPr id="494" name="s494"/>
          <p:cNvSpPr/>
          <p:nvPr/>
        </p:nvSpPr>
        <p:spPr>
          <a:xfrm>
            <a:off x="2148840" y="3232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2148840" y="29718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2326640" y="29337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TRX-2026-1283</a:t>
            </a:r>
          </a:p>
        </p:txBody>
      </p:sp>
      <p:sp>
        <p:nvSpPr>
          <p:cNvPr id="497" name="s497"/>
          <p:cNvSpPr/>
          <p:nvPr/>
        </p:nvSpPr>
        <p:spPr>
          <a:xfrm>
            <a:off x="3469640" y="29337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7 Jan</a:t>
            </a:r>
          </a:p>
        </p:txBody>
      </p:sp>
      <p:sp>
        <p:nvSpPr>
          <p:cNvPr id="498" name="s498"/>
          <p:cNvSpPr/>
          <p:nvPr/>
        </p:nvSpPr>
        <p:spPr>
          <a:xfrm>
            <a:off x="4333240" y="29337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Handwriting Copybook</a:t>
            </a:r>
          </a:p>
        </p:txBody>
      </p:sp>
      <p:sp>
        <p:nvSpPr>
          <p:cNvPr id="499" name="s499"/>
          <p:cNvSpPr/>
          <p:nvPr/>
        </p:nvSpPr>
        <p:spPr>
          <a:xfrm>
            <a:off x="6009640" y="29337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00" name="s500"/>
          <p:cNvSpPr/>
          <p:nvPr/>
        </p:nvSpPr>
        <p:spPr>
          <a:xfrm>
            <a:off x="7152640" y="2933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St. Teresa Primary</a:t>
            </a:r>
          </a:p>
        </p:txBody>
      </p:sp>
      <p:sp>
        <p:nvSpPr>
          <p:cNvPr id="501" name="s501"/>
          <p:cNvSpPr/>
          <p:nvPr/>
        </p:nvSpPr>
        <p:spPr>
          <a:xfrm>
            <a:off x="8397240" y="29337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−180</a:t>
            </a:r>
          </a:p>
        </p:txBody>
      </p:sp>
      <p:sp>
        <p:nvSpPr>
          <p:cNvPr id="502" name="s502"/>
          <p:cNvSpPr/>
          <p:nvPr/>
        </p:nvSpPr>
        <p:spPr>
          <a:xfrm>
            <a:off x="8956040" y="29972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8956040" y="29972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504" name="s504"/>
          <p:cNvSpPr/>
          <p:nvPr/>
        </p:nvSpPr>
        <p:spPr>
          <a:xfrm>
            <a:off x="9895840" y="29337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Grace Doe</a:t>
            </a:r>
          </a:p>
        </p:txBody>
      </p:sp>
      <p:sp>
        <p:nvSpPr>
          <p:cNvPr id="505" name="s505"/>
          <p:cNvSpPr/>
          <p:nvPr/>
        </p:nvSpPr>
        <p:spPr>
          <a:xfrm>
            <a:off x="10937240" y="29337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ORD-0085</a:t>
            </a:r>
          </a:p>
        </p:txBody>
      </p:sp>
      <p:sp>
        <p:nvSpPr>
          <p:cNvPr id="506" name="s506"/>
          <p:cNvSpPr/>
          <p:nvPr/>
        </p:nvSpPr>
        <p:spPr>
          <a:xfrm>
            <a:off x="2148840" y="3536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7" name="s507"/>
          <p:cNvSpPr/>
          <p:nvPr/>
        </p:nvSpPr>
        <p:spPr>
          <a:xfrm>
            <a:off x="2148840" y="32766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8" name="s508"/>
          <p:cNvSpPr/>
          <p:nvPr/>
        </p:nvSpPr>
        <p:spPr>
          <a:xfrm>
            <a:off x="2326640" y="32385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TRX-2026-1282</a:t>
            </a:r>
          </a:p>
        </p:txBody>
      </p:sp>
      <p:sp>
        <p:nvSpPr>
          <p:cNvPr id="509" name="s509"/>
          <p:cNvSpPr/>
          <p:nvPr/>
        </p:nvSpPr>
        <p:spPr>
          <a:xfrm>
            <a:off x="3469640" y="32385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6 Jan</a:t>
            </a:r>
          </a:p>
        </p:txBody>
      </p:sp>
      <p:sp>
        <p:nvSpPr>
          <p:cNvPr id="510" name="s510"/>
          <p:cNvSpPr/>
          <p:nvPr/>
        </p:nvSpPr>
        <p:spPr>
          <a:xfrm>
            <a:off x="4333240" y="32385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11" name="s511"/>
          <p:cNvSpPr/>
          <p:nvPr/>
        </p:nvSpPr>
        <p:spPr>
          <a:xfrm>
            <a:off x="6009640" y="32385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12" name="s512"/>
          <p:cNvSpPr/>
          <p:nvPr/>
        </p:nvSpPr>
        <p:spPr>
          <a:xfrm>
            <a:off x="7152640" y="3238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St. Teresa Primary</a:t>
            </a:r>
          </a:p>
        </p:txBody>
      </p:sp>
      <p:sp>
        <p:nvSpPr>
          <p:cNvPr id="513" name="s513"/>
          <p:cNvSpPr/>
          <p:nvPr/>
        </p:nvSpPr>
        <p:spPr>
          <a:xfrm>
            <a:off x="8397240" y="32385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−120</a:t>
            </a:r>
          </a:p>
        </p:txBody>
      </p:sp>
      <p:sp>
        <p:nvSpPr>
          <p:cNvPr id="514" name="s514"/>
          <p:cNvSpPr/>
          <p:nvPr/>
        </p:nvSpPr>
        <p:spPr>
          <a:xfrm>
            <a:off x="8956040" y="33020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5" name="s515"/>
          <p:cNvSpPr/>
          <p:nvPr/>
        </p:nvSpPr>
        <p:spPr>
          <a:xfrm>
            <a:off x="8956040" y="33020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516" name="s516"/>
          <p:cNvSpPr/>
          <p:nvPr/>
        </p:nvSpPr>
        <p:spPr>
          <a:xfrm>
            <a:off x="9895840" y="32385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Grace Doe</a:t>
            </a:r>
          </a:p>
        </p:txBody>
      </p:sp>
      <p:sp>
        <p:nvSpPr>
          <p:cNvPr id="517" name="s517"/>
          <p:cNvSpPr/>
          <p:nvPr/>
        </p:nvSpPr>
        <p:spPr>
          <a:xfrm>
            <a:off x="10937240" y="3238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ORD-0084</a:t>
            </a:r>
          </a:p>
        </p:txBody>
      </p:sp>
      <p:sp>
        <p:nvSpPr>
          <p:cNvPr id="518" name="s518"/>
          <p:cNvSpPr/>
          <p:nvPr/>
        </p:nvSpPr>
        <p:spPr>
          <a:xfrm>
            <a:off x="2148840" y="3841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9" name="s519"/>
          <p:cNvSpPr/>
          <p:nvPr/>
        </p:nvSpPr>
        <p:spPr>
          <a:xfrm>
            <a:off x="2148840" y="35814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s520"/>
          <p:cNvSpPr/>
          <p:nvPr/>
        </p:nvSpPr>
        <p:spPr>
          <a:xfrm>
            <a:off x="2326640" y="35433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TRX-2026-1281</a:t>
            </a:r>
          </a:p>
        </p:txBody>
      </p:sp>
      <p:sp>
        <p:nvSpPr>
          <p:cNvPr id="521" name="s521"/>
          <p:cNvSpPr/>
          <p:nvPr/>
        </p:nvSpPr>
        <p:spPr>
          <a:xfrm>
            <a:off x="3469640" y="35433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6 Jan</a:t>
            </a:r>
          </a:p>
        </p:txBody>
      </p:sp>
      <p:sp>
        <p:nvSpPr>
          <p:cNvPr id="522" name="s522"/>
          <p:cNvSpPr/>
          <p:nvPr/>
        </p:nvSpPr>
        <p:spPr>
          <a:xfrm>
            <a:off x="4333240" y="35433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Memory Matching Cards</a:t>
            </a:r>
          </a:p>
        </p:txBody>
      </p:sp>
      <p:sp>
        <p:nvSpPr>
          <p:cNvPr id="523" name="s523"/>
          <p:cNvSpPr/>
          <p:nvPr/>
        </p:nvSpPr>
        <p:spPr>
          <a:xfrm>
            <a:off x="6009640" y="35433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524" name="s524"/>
          <p:cNvSpPr/>
          <p:nvPr/>
        </p:nvSpPr>
        <p:spPr>
          <a:xfrm>
            <a:off x="7152640" y="35433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Bong Mission Kinder.</a:t>
            </a:r>
          </a:p>
        </p:txBody>
      </p:sp>
      <p:sp>
        <p:nvSpPr>
          <p:cNvPr id="525" name="s525"/>
          <p:cNvSpPr/>
          <p:nvPr/>
        </p:nvSpPr>
        <p:spPr>
          <a:xfrm>
            <a:off x="8397240" y="35433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−90</a:t>
            </a:r>
          </a:p>
        </p:txBody>
      </p:sp>
      <p:sp>
        <p:nvSpPr>
          <p:cNvPr id="526" name="s526"/>
          <p:cNvSpPr/>
          <p:nvPr/>
        </p:nvSpPr>
        <p:spPr>
          <a:xfrm>
            <a:off x="8956040" y="36068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7" name="s527"/>
          <p:cNvSpPr/>
          <p:nvPr/>
        </p:nvSpPr>
        <p:spPr>
          <a:xfrm>
            <a:off x="8956040" y="36068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528" name="s528"/>
          <p:cNvSpPr/>
          <p:nvPr/>
        </p:nvSpPr>
        <p:spPr>
          <a:xfrm>
            <a:off x="9895840" y="35433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Peter Sirleaf</a:t>
            </a:r>
          </a:p>
        </p:txBody>
      </p:sp>
      <p:sp>
        <p:nvSpPr>
          <p:cNvPr id="529" name="s529"/>
          <p:cNvSpPr/>
          <p:nvPr/>
        </p:nvSpPr>
        <p:spPr>
          <a:xfrm>
            <a:off x="10937240" y="35433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ORD-0083</a:t>
            </a:r>
          </a:p>
        </p:txBody>
      </p:sp>
      <p:sp>
        <p:nvSpPr>
          <p:cNvPr id="530" name="s530"/>
          <p:cNvSpPr/>
          <p:nvPr/>
        </p:nvSpPr>
        <p:spPr>
          <a:xfrm>
            <a:off x="2148840" y="4146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1" name="s531"/>
          <p:cNvSpPr/>
          <p:nvPr/>
        </p:nvSpPr>
        <p:spPr>
          <a:xfrm>
            <a:off x="2148840" y="38862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2" name="s532"/>
          <p:cNvSpPr/>
          <p:nvPr/>
        </p:nvSpPr>
        <p:spPr>
          <a:xfrm>
            <a:off x="2326640" y="38481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TRX-2026-1280</a:t>
            </a:r>
          </a:p>
        </p:txBody>
      </p:sp>
      <p:sp>
        <p:nvSpPr>
          <p:cNvPr id="533" name="s533"/>
          <p:cNvSpPr/>
          <p:nvPr/>
        </p:nvSpPr>
        <p:spPr>
          <a:xfrm>
            <a:off x="3469640" y="38481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5 Jan</a:t>
            </a:r>
          </a:p>
        </p:txBody>
      </p:sp>
      <p:sp>
        <p:nvSpPr>
          <p:cNvPr id="534" name="s534"/>
          <p:cNvSpPr/>
          <p:nvPr/>
        </p:nvSpPr>
        <p:spPr>
          <a:xfrm>
            <a:off x="4333240" y="38481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35" name="s535"/>
          <p:cNvSpPr/>
          <p:nvPr/>
        </p:nvSpPr>
        <p:spPr>
          <a:xfrm>
            <a:off x="6009640" y="38481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Kakata Paper Mills</a:t>
            </a:r>
          </a:p>
        </p:txBody>
      </p:sp>
      <p:sp>
        <p:nvSpPr>
          <p:cNvPr id="536" name="s536"/>
          <p:cNvSpPr/>
          <p:nvPr/>
        </p:nvSpPr>
        <p:spPr>
          <a:xfrm>
            <a:off x="7152640" y="3848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37" name="s537"/>
          <p:cNvSpPr/>
          <p:nvPr/>
        </p:nvSpPr>
        <p:spPr>
          <a:xfrm>
            <a:off x="8397240" y="38481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+400</a:t>
            </a:r>
          </a:p>
        </p:txBody>
      </p:sp>
      <p:sp>
        <p:nvSpPr>
          <p:cNvPr id="538" name="s538"/>
          <p:cNvSpPr/>
          <p:nvPr/>
        </p:nvSpPr>
        <p:spPr>
          <a:xfrm>
            <a:off x="8956040" y="39116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8956040" y="3911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Purchase</a:t>
            </a:r>
          </a:p>
        </p:txBody>
      </p:sp>
      <p:sp>
        <p:nvSpPr>
          <p:cNvPr id="540" name="s540"/>
          <p:cNvSpPr/>
          <p:nvPr/>
        </p:nvSpPr>
        <p:spPr>
          <a:xfrm>
            <a:off x="9895840" y="38481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James Kollie</a:t>
            </a:r>
          </a:p>
        </p:txBody>
      </p:sp>
      <p:sp>
        <p:nvSpPr>
          <p:cNvPr id="541" name="s541"/>
          <p:cNvSpPr/>
          <p:nvPr/>
        </p:nvSpPr>
        <p:spPr>
          <a:xfrm>
            <a:off x="10937240" y="38481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PO-0117</a:t>
            </a:r>
          </a:p>
        </p:txBody>
      </p:sp>
      <p:sp>
        <p:nvSpPr>
          <p:cNvPr id="542" name="s542"/>
          <p:cNvSpPr/>
          <p:nvPr/>
        </p:nvSpPr>
        <p:spPr>
          <a:xfrm>
            <a:off x="2148840" y="4451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2148840" y="41910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4" name="s544"/>
          <p:cNvSpPr/>
          <p:nvPr/>
        </p:nvSpPr>
        <p:spPr>
          <a:xfrm>
            <a:off x="2326640" y="4152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TRX-2026-1279</a:t>
            </a:r>
          </a:p>
        </p:txBody>
      </p:sp>
      <p:sp>
        <p:nvSpPr>
          <p:cNvPr id="545" name="s545"/>
          <p:cNvSpPr/>
          <p:nvPr/>
        </p:nvSpPr>
        <p:spPr>
          <a:xfrm>
            <a:off x="3469640" y="41529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5 Jan</a:t>
            </a:r>
          </a:p>
        </p:txBody>
      </p:sp>
      <p:sp>
        <p:nvSpPr>
          <p:cNvPr id="546" name="s546"/>
          <p:cNvSpPr/>
          <p:nvPr/>
        </p:nvSpPr>
        <p:spPr>
          <a:xfrm>
            <a:off x="4333240" y="41529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Numbers Puzzle</a:t>
            </a:r>
          </a:p>
        </p:txBody>
      </p:sp>
      <p:sp>
        <p:nvSpPr>
          <p:cNvPr id="547" name="s547"/>
          <p:cNvSpPr/>
          <p:nvPr/>
        </p:nvSpPr>
        <p:spPr>
          <a:xfrm>
            <a:off x="6009640" y="4152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Kakata Paper Mills</a:t>
            </a:r>
          </a:p>
        </p:txBody>
      </p:sp>
      <p:sp>
        <p:nvSpPr>
          <p:cNvPr id="548" name="s548"/>
          <p:cNvSpPr/>
          <p:nvPr/>
        </p:nvSpPr>
        <p:spPr>
          <a:xfrm>
            <a:off x="7152640" y="4152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49" name="s549"/>
          <p:cNvSpPr/>
          <p:nvPr/>
        </p:nvSpPr>
        <p:spPr>
          <a:xfrm>
            <a:off x="8397240" y="41529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+340</a:t>
            </a:r>
          </a:p>
        </p:txBody>
      </p:sp>
      <p:sp>
        <p:nvSpPr>
          <p:cNvPr id="550" name="s550"/>
          <p:cNvSpPr/>
          <p:nvPr/>
        </p:nvSpPr>
        <p:spPr>
          <a:xfrm>
            <a:off x="8956040" y="42164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1" name="s551"/>
          <p:cNvSpPr/>
          <p:nvPr/>
        </p:nvSpPr>
        <p:spPr>
          <a:xfrm>
            <a:off x="8956040" y="42164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Purchase</a:t>
            </a:r>
          </a:p>
        </p:txBody>
      </p:sp>
      <p:sp>
        <p:nvSpPr>
          <p:cNvPr id="552" name="s552"/>
          <p:cNvSpPr/>
          <p:nvPr/>
        </p:nvSpPr>
        <p:spPr>
          <a:xfrm>
            <a:off x="9895840" y="41529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James Kollie</a:t>
            </a:r>
          </a:p>
        </p:txBody>
      </p:sp>
      <p:sp>
        <p:nvSpPr>
          <p:cNvPr id="553" name="s553"/>
          <p:cNvSpPr/>
          <p:nvPr/>
        </p:nvSpPr>
        <p:spPr>
          <a:xfrm>
            <a:off x="10937240" y="41529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PO-0117</a:t>
            </a:r>
          </a:p>
        </p:txBody>
      </p:sp>
      <p:sp>
        <p:nvSpPr>
          <p:cNvPr id="554" name="s554"/>
          <p:cNvSpPr/>
          <p:nvPr/>
        </p:nvSpPr>
        <p:spPr>
          <a:xfrm>
            <a:off x="2148840" y="4756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5" name="s555"/>
          <p:cNvSpPr/>
          <p:nvPr/>
        </p:nvSpPr>
        <p:spPr>
          <a:xfrm>
            <a:off x="2148840" y="44958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6" name="s556"/>
          <p:cNvSpPr/>
          <p:nvPr/>
        </p:nvSpPr>
        <p:spPr>
          <a:xfrm>
            <a:off x="2326640" y="44577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TRX-2026-1278</a:t>
            </a:r>
          </a:p>
        </p:txBody>
      </p:sp>
      <p:sp>
        <p:nvSpPr>
          <p:cNvPr id="557" name="s557"/>
          <p:cNvSpPr/>
          <p:nvPr/>
        </p:nvSpPr>
        <p:spPr>
          <a:xfrm>
            <a:off x="3469640" y="44577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4 Jan</a:t>
            </a:r>
          </a:p>
        </p:txBody>
      </p:sp>
      <p:sp>
        <p:nvSpPr>
          <p:cNvPr id="558" name="s558"/>
          <p:cNvSpPr/>
          <p:nvPr/>
        </p:nvSpPr>
        <p:spPr>
          <a:xfrm>
            <a:off x="4333240" y="44577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559" name="s559"/>
          <p:cNvSpPr/>
          <p:nvPr/>
        </p:nvSpPr>
        <p:spPr>
          <a:xfrm>
            <a:off x="6009640" y="44577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60" name="s560"/>
          <p:cNvSpPr/>
          <p:nvPr/>
        </p:nvSpPr>
        <p:spPr>
          <a:xfrm>
            <a:off x="7152640" y="4457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Write-off</a:t>
            </a:r>
          </a:p>
        </p:txBody>
      </p:sp>
      <p:sp>
        <p:nvSpPr>
          <p:cNvPr id="561" name="s561"/>
          <p:cNvSpPr/>
          <p:nvPr/>
        </p:nvSpPr>
        <p:spPr>
          <a:xfrm>
            <a:off x="8397240" y="44577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−12</a:t>
            </a:r>
          </a:p>
        </p:txBody>
      </p:sp>
      <p:sp>
        <p:nvSpPr>
          <p:cNvPr id="562" name="s562"/>
          <p:cNvSpPr/>
          <p:nvPr/>
        </p:nvSpPr>
        <p:spPr>
          <a:xfrm>
            <a:off x="8956040" y="45212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3" name="s563"/>
          <p:cNvSpPr/>
          <p:nvPr/>
        </p:nvSpPr>
        <p:spPr>
          <a:xfrm>
            <a:off x="8956040" y="45212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B3261E"/>
                </a:solidFill>
                <a:latin typeface="Calibri"/>
              </a:rPr>
              <a:t>Damaged</a:t>
            </a:r>
          </a:p>
        </p:txBody>
      </p:sp>
      <p:sp>
        <p:nvSpPr>
          <p:cNvPr id="564" name="s564"/>
          <p:cNvSpPr/>
          <p:nvPr/>
        </p:nvSpPr>
        <p:spPr>
          <a:xfrm>
            <a:off x="9895840" y="44577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565" name="s565"/>
          <p:cNvSpPr/>
          <p:nvPr/>
        </p:nvSpPr>
        <p:spPr>
          <a:xfrm>
            <a:off x="10937240" y="44577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ADJ-0019</a:t>
            </a:r>
          </a:p>
        </p:txBody>
      </p:sp>
      <p:sp>
        <p:nvSpPr>
          <p:cNvPr id="566" name="s566"/>
          <p:cNvSpPr/>
          <p:nvPr/>
        </p:nvSpPr>
        <p:spPr>
          <a:xfrm>
            <a:off x="2148840" y="5060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7" name="s567"/>
          <p:cNvSpPr/>
          <p:nvPr/>
        </p:nvSpPr>
        <p:spPr>
          <a:xfrm>
            <a:off x="2148840" y="48006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8" name="s568"/>
          <p:cNvSpPr/>
          <p:nvPr/>
        </p:nvSpPr>
        <p:spPr>
          <a:xfrm>
            <a:off x="2326640" y="47625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TRX-2026-1277</a:t>
            </a:r>
          </a:p>
        </p:txBody>
      </p:sp>
      <p:sp>
        <p:nvSpPr>
          <p:cNvPr id="569" name="s569"/>
          <p:cNvSpPr/>
          <p:nvPr/>
        </p:nvSpPr>
        <p:spPr>
          <a:xfrm>
            <a:off x="3469640" y="47625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3 Jan</a:t>
            </a:r>
          </a:p>
        </p:txBody>
      </p:sp>
      <p:sp>
        <p:nvSpPr>
          <p:cNvPr id="570" name="s570"/>
          <p:cNvSpPr/>
          <p:nvPr/>
        </p:nvSpPr>
        <p:spPr>
          <a:xfrm>
            <a:off x="4333240" y="47625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71" name="s571"/>
          <p:cNvSpPr/>
          <p:nvPr/>
        </p:nvSpPr>
        <p:spPr>
          <a:xfrm>
            <a:off x="6009640" y="47625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72" name="s572"/>
          <p:cNvSpPr/>
          <p:nvPr/>
        </p:nvSpPr>
        <p:spPr>
          <a:xfrm>
            <a:off x="7152640" y="4762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573" name="s573"/>
          <p:cNvSpPr/>
          <p:nvPr/>
        </p:nvSpPr>
        <p:spPr>
          <a:xfrm>
            <a:off x="8397240" y="47625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−200</a:t>
            </a:r>
          </a:p>
        </p:txBody>
      </p:sp>
      <p:sp>
        <p:nvSpPr>
          <p:cNvPr id="574" name="s574"/>
          <p:cNvSpPr/>
          <p:nvPr/>
        </p:nvSpPr>
        <p:spPr>
          <a:xfrm>
            <a:off x="8956040" y="48260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5" name="s575"/>
          <p:cNvSpPr/>
          <p:nvPr/>
        </p:nvSpPr>
        <p:spPr>
          <a:xfrm>
            <a:off x="8956040" y="48260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Transfer</a:t>
            </a:r>
          </a:p>
        </p:txBody>
      </p:sp>
      <p:sp>
        <p:nvSpPr>
          <p:cNvPr id="576" name="s576"/>
          <p:cNvSpPr/>
          <p:nvPr/>
        </p:nvSpPr>
        <p:spPr>
          <a:xfrm>
            <a:off x="9895840" y="47625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577" name="s577"/>
          <p:cNvSpPr/>
          <p:nvPr/>
        </p:nvSpPr>
        <p:spPr>
          <a:xfrm>
            <a:off x="10937240" y="4762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TRF-0042</a:t>
            </a:r>
          </a:p>
        </p:txBody>
      </p:sp>
      <p:sp>
        <p:nvSpPr>
          <p:cNvPr id="578" name="s578"/>
          <p:cNvSpPr/>
          <p:nvPr/>
        </p:nvSpPr>
        <p:spPr>
          <a:xfrm>
            <a:off x="2148840" y="5365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9" name="s579"/>
          <p:cNvSpPr/>
          <p:nvPr/>
        </p:nvSpPr>
        <p:spPr>
          <a:xfrm>
            <a:off x="2148840" y="51054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0" name="s580"/>
          <p:cNvSpPr/>
          <p:nvPr/>
        </p:nvSpPr>
        <p:spPr>
          <a:xfrm>
            <a:off x="2326640" y="50673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TRX-2026-1276</a:t>
            </a:r>
          </a:p>
        </p:txBody>
      </p:sp>
      <p:sp>
        <p:nvSpPr>
          <p:cNvPr id="581" name="s581"/>
          <p:cNvSpPr/>
          <p:nvPr/>
        </p:nvSpPr>
        <p:spPr>
          <a:xfrm>
            <a:off x="3469640" y="50673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3 Jan</a:t>
            </a:r>
          </a:p>
        </p:txBody>
      </p:sp>
      <p:sp>
        <p:nvSpPr>
          <p:cNvPr id="582" name="s582"/>
          <p:cNvSpPr/>
          <p:nvPr/>
        </p:nvSpPr>
        <p:spPr>
          <a:xfrm>
            <a:off x="4333240" y="50673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83" name="s583"/>
          <p:cNvSpPr/>
          <p:nvPr/>
        </p:nvSpPr>
        <p:spPr>
          <a:xfrm>
            <a:off x="6009640" y="50673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84" name="s584"/>
          <p:cNvSpPr/>
          <p:nvPr/>
        </p:nvSpPr>
        <p:spPr>
          <a:xfrm>
            <a:off x="7152640" y="50673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585" name="s585"/>
          <p:cNvSpPr/>
          <p:nvPr/>
        </p:nvSpPr>
        <p:spPr>
          <a:xfrm>
            <a:off x="8397240" y="50673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+200</a:t>
            </a:r>
          </a:p>
        </p:txBody>
      </p:sp>
      <p:sp>
        <p:nvSpPr>
          <p:cNvPr id="586" name="s586"/>
          <p:cNvSpPr/>
          <p:nvPr/>
        </p:nvSpPr>
        <p:spPr>
          <a:xfrm>
            <a:off x="8956040" y="51308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7" name="s587"/>
          <p:cNvSpPr/>
          <p:nvPr/>
        </p:nvSpPr>
        <p:spPr>
          <a:xfrm>
            <a:off x="8956040" y="51308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Transfer</a:t>
            </a:r>
          </a:p>
        </p:txBody>
      </p:sp>
      <p:sp>
        <p:nvSpPr>
          <p:cNvPr id="588" name="s588"/>
          <p:cNvSpPr/>
          <p:nvPr/>
        </p:nvSpPr>
        <p:spPr>
          <a:xfrm>
            <a:off x="9895840" y="50673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589" name="s589"/>
          <p:cNvSpPr/>
          <p:nvPr/>
        </p:nvSpPr>
        <p:spPr>
          <a:xfrm>
            <a:off x="10937240" y="50673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TRF-0042</a:t>
            </a:r>
          </a:p>
        </p:txBody>
      </p:sp>
      <p:sp>
        <p:nvSpPr>
          <p:cNvPr id="590" name="s590"/>
          <p:cNvSpPr/>
          <p:nvPr/>
        </p:nvSpPr>
        <p:spPr>
          <a:xfrm>
            <a:off x="2148840" y="5670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1" name="s591"/>
          <p:cNvSpPr/>
          <p:nvPr/>
        </p:nvSpPr>
        <p:spPr>
          <a:xfrm>
            <a:off x="2148840" y="54102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2" name="s592"/>
          <p:cNvSpPr/>
          <p:nvPr/>
        </p:nvSpPr>
        <p:spPr>
          <a:xfrm>
            <a:off x="2326640" y="53721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TRX-2026-1275</a:t>
            </a:r>
          </a:p>
        </p:txBody>
      </p:sp>
      <p:sp>
        <p:nvSpPr>
          <p:cNvPr id="593" name="s593"/>
          <p:cNvSpPr/>
          <p:nvPr/>
        </p:nvSpPr>
        <p:spPr>
          <a:xfrm>
            <a:off x="3469640" y="53721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 Jan</a:t>
            </a:r>
          </a:p>
        </p:txBody>
      </p:sp>
      <p:sp>
        <p:nvSpPr>
          <p:cNvPr id="594" name="s594"/>
          <p:cNvSpPr/>
          <p:nvPr/>
        </p:nvSpPr>
        <p:spPr>
          <a:xfrm>
            <a:off x="4333240" y="53721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Alphabet Flashcards</a:t>
            </a:r>
          </a:p>
        </p:txBody>
      </p:sp>
      <p:sp>
        <p:nvSpPr>
          <p:cNvPr id="595" name="s595"/>
          <p:cNvSpPr/>
          <p:nvPr/>
        </p:nvSpPr>
        <p:spPr>
          <a:xfrm>
            <a:off x="6009640" y="53721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596" name="s596"/>
          <p:cNvSpPr/>
          <p:nvPr/>
        </p:nvSpPr>
        <p:spPr>
          <a:xfrm>
            <a:off x="7152640" y="5372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Kakata Nursery Acad.</a:t>
            </a:r>
          </a:p>
        </p:txBody>
      </p:sp>
      <p:sp>
        <p:nvSpPr>
          <p:cNvPr id="597" name="s597"/>
          <p:cNvSpPr/>
          <p:nvPr/>
        </p:nvSpPr>
        <p:spPr>
          <a:xfrm>
            <a:off x="8397240" y="53721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−150</a:t>
            </a:r>
          </a:p>
        </p:txBody>
      </p:sp>
      <p:sp>
        <p:nvSpPr>
          <p:cNvPr id="598" name="s598"/>
          <p:cNvSpPr/>
          <p:nvPr/>
        </p:nvSpPr>
        <p:spPr>
          <a:xfrm>
            <a:off x="8956040" y="54356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9" name="s599"/>
          <p:cNvSpPr/>
          <p:nvPr/>
        </p:nvSpPr>
        <p:spPr>
          <a:xfrm>
            <a:off x="8956040" y="5435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600" name="s600"/>
          <p:cNvSpPr/>
          <p:nvPr/>
        </p:nvSpPr>
        <p:spPr>
          <a:xfrm>
            <a:off x="9895840" y="53721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Grace Doe</a:t>
            </a:r>
          </a:p>
        </p:txBody>
      </p:sp>
      <p:sp>
        <p:nvSpPr>
          <p:cNvPr id="601" name="s601"/>
          <p:cNvSpPr/>
          <p:nvPr/>
        </p:nvSpPr>
        <p:spPr>
          <a:xfrm>
            <a:off x="10937240" y="53721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ORD-0081</a:t>
            </a:r>
          </a:p>
        </p:txBody>
      </p:sp>
      <p:sp>
        <p:nvSpPr>
          <p:cNvPr id="602" name="s602"/>
          <p:cNvSpPr/>
          <p:nvPr/>
        </p:nvSpPr>
        <p:spPr>
          <a:xfrm>
            <a:off x="2148840" y="5975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3" name="s603"/>
          <p:cNvSpPr/>
          <p:nvPr/>
        </p:nvSpPr>
        <p:spPr>
          <a:xfrm>
            <a:off x="2148840" y="5715000"/>
            <a:ext cx="25400" cy="228600"/>
          </a:xfrm>
          <a:prstGeom prst="rect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4" name="s604"/>
          <p:cNvSpPr/>
          <p:nvPr/>
        </p:nvSpPr>
        <p:spPr>
          <a:xfrm>
            <a:off x="2326640" y="5676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TRX-2026-1274</a:t>
            </a:r>
          </a:p>
        </p:txBody>
      </p:sp>
      <p:sp>
        <p:nvSpPr>
          <p:cNvPr id="605" name="s605"/>
          <p:cNvSpPr/>
          <p:nvPr/>
        </p:nvSpPr>
        <p:spPr>
          <a:xfrm>
            <a:off x="3469640" y="56769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30 Dec</a:t>
            </a:r>
          </a:p>
        </p:txBody>
      </p:sp>
      <p:sp>
        <p:nvSpPr>
          <p:cNvPr id="606" name="s606"/>
          <p:cNvSpPr/>
          <p:nvPr/>
        </p:nvSpPr>
        <p:spPr>
          <a:xfrm>
            <a:off x="4333240" y="56769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607" name="s607"/>
          <p:cNvSpPr/>
          <p:nvPr/>
        </p:nvSpPr>
        <p:spPr>
          <a:xfrm>
            <a:off x="6009640" y="5676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Bong Mission Kinder.</a:t>
            </a:r>
          </a:p>
        </p:txBody>
      </p:sp>
      <p:sp>
        <p:nvSpPr>
          <p:cNvPr id="608" name="s608"/>
          <p:cNvSpPr/>
          <p:nvPr/>
        </p:nvSpPr>
        <p:spPr>
          <a:xfrm>
            <a:off x="7152640" y="5676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</a:t>
            </a:r>
          </a:p>
        </p:txBody>
      </p:sp>
      <p:sp>
        <p:nvSpPr>
          <p:cNvPr id="609" name="s609"/>
          <p:cNvSpPr/>
          <p:nvPr/>
        </p:nvSpPr>
        <p:spPr>
          <a:xfrm>
            <a:off x="8397240" y="56769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+24</a:t>
            </a:r>
          </a:p>
        </p:txBody>
      </p:sp>
      <p:sp>
        <p:nvSpPr>
          <p:cNvPr id="610" name="s610"/>
          <p:cNvSpPr/>
          <p:nvPr/>
        </p:nvSpPr>
        <p:spPr>
          <a:xfrm>
            <a:off x="8956040" y="57404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5B6572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1" name="s611"/>
          <p:cNvSpPr/>
          <p:nvPr/>
        </p:nvSpPr>
        <p:spPr>
          <a:xfrm>
            <a:off x="8956040" y="57404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5B6572"/>
                </a:solidFill>
                <a:latin typeface="Calibri"/>
              </a:rPr>
              <a:t>Return</a:t>
            </a:r>
          </a:p>
        </p:txBody>
      </p:sp>
      <p:sp>
        <p:nvSpPr>
          <p:cNvPr id="612" name="s612"/>
          <p:cNvSpPr/>
          <p:nvPr/>
        </p:nvSpPr>
        <p:spPr>
          <a:xfrm>
            <a:off x="9895840" y="56769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613" name="s613"/>
          <p:cNvSpPr/>
          <p:nvPr/>
        </p:nvSpPr>
        <p:spPr>
          <a:xfrm>
            <a:off x="10937240" y="56769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RTN-0011</a:t>
            </a:r>
          </a:p>
        </p:txBody>
      </p:sp>
      <p:sp>
        <p:nvSpPr>
          <p:cNvPr id="614" name="s614"/>
          <p:cNvSpPr/>
          <p:nvPr/>
        </p:nvSpPr>
        <p:spPr>
          <a:xfrm>
            <a:off x="2326640" y="6121400"/>
            <a:ext cx="431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Showing 11 of 1,284 movements  ·  every line is immutable and audited</a:t>
            </a:r>
          </a:p>
        </p:txBody>
      </p:sp>
      <p:sp>
        <p:nvSpPr>
          <p:cNvPr id="615" name="s615"/>
          <p:cNvSpPr/>
          <p:nvPr/>
        </p:nvSpPr>
        <p:spPr>
          <a:xfrm>
            <a:off x="10756900" y="6070600"/>
            <a:ext cx="355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6" name="s616"/>
          <p:cNvSpPr/>
          <p:nvPr/>
        </p:nvSpPr>
        <p:spPr>
          <a:xfrm>
            <a:off x="10756900" y="60706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117</a:t>
            </a:r>
          </a:p>
        </p:txBody>
      </p:sp>
      <p:sp>
        <p:nvSpPr>
          <p:cNvPr id="617" name="s617"/>
          <p:cNvSpPr/>
          <p:nvPr/>
        </p:nvSpPr>
        <p:spPr>
          <a:xfrm>
            <a:off x="10464800" y="60706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8" name="s618"/>
          <p:cNvSpPr/>
          <p:nvPr/>
        </p:nvSpPr>
        <p:spPr>
          <a:xfrm>
            <a:off x="10464800" y="60706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…</a:t>
            </a:r>
          </a:p>
        </p:txBody>
      </p:sp>
      <p:sp>
        <p:nvSpPr>
          <p:cNvPr id="619" name="s619"/>
          <p:cNvSpPr/>
          <p:nvPr/>
        </p:nvSpPr>
        <p:spPr>
          <a:xfrm>
            <a:off x="10172700" y="60706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0" name="s620"/>
          <p:cNvSpPr/>
          <p:nvPr/>
        </p:nvSpPr>
        <p:spPr>
          <a:xfrm>
            <a:off x="10172700" y="60706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3</a:t>
            </a:r>
          </a:p>
        </p:txBody>
      </p:sp>
      <p:sp>
        <p:nvSpPr>
          <p:cNvPr id="621" name="s621"/>
          <p:cNvSpPr/>
          <p:nvPr/>
        </p:nvSpPr>
        <p:spPr>
          <a:xfrm>
            <a:off x="9880600" y="60706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2" name="s622"/>
          <p:cNvSpPr/>
          <p:nvPr/>
        </p:nvSpPr>
        <p:spPr>
          <a:xfrm>
            <a:off x="9880600" y="60706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2</a:t>
            </a:r>
          </a:p>
        </p:txBody>
      </p:sp>
      <p:sp>
        <p:nvSpPr>
          <p:cNvPr id="623" name="s623"/>
          <p:cNvSpPr/>
          <p:nvPr/>
        </p:nvSpPr>
        <p:spPr>
          <a:xfrm>
            <a:off x="9588500" y="60706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4" name="s624"/>
          <p:cNvSpPr/>
          <p:nvPr/>
        </p:nvSpPr>
        <p:spPr>
          <a:xfrm>
            <a:off x="9588500" y="60706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25" name="s625"/>
          <p:cNvSpPr/>
          <p:nvPr/>
        </p:nvSpPr>
        <p:spPr>
          <a:xfrm>
            <a:off x="11379200" y="6070600"/>
            <a:ext cx="3683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spc="0" dirty="0">
                <a:solidFill>
                  <a:srgbClr val="2559A8"/>
                </a:solidFill>
                <a:latin typeface="Calibri"/>
              </a:rPr>
              <a:t>›</a:t>
            </a:r>
          </a:p>
        </p:txBody>
      </p:sp>
      <p:pic>
        <p:nvPicPr>
          <p:cNvPr id="626" name="Copied Picture 626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17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2" name="s412"/>
          <p:cNvSpPr/>
          <p:nvPr/>
        </p:nvSpPr>
        <p:spPr>
          <a:xfrm>
            <a:off x="101600" y="3263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101600" y="3263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Warehouses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Warehouses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3 warehouses  ·  26,000 unit capacity  ·  18,450 units stored  ·  71% utilised  ·  $42,850 value</a:t>
            </a:r>
          </a:p>
        </p:txBody>
      </p:sp>
      <p:sp>
        <p:nvSpPr>
          <p:cNvPr id="444" name="s444"/>
          <p:cNvSpPr/>
          <p:nvPr/>
        </p:nvSpPr>
        <p:spPr>
          <a:xfrm>
            <a:off x="10599420" y="81280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599420" y="812800"/>
            <a:ext cx="1333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Add Warehouse</a:t>
            </a:r>
          </a:p>
        </p:txBody>
      </p:sp>
      <p:sp>
        <p:nvSpPr>
          <p:cNvPr id="446" name="s446"/>
          <p:cNvSpPr/>
          <p:nvPr/>
        </p:nvSpPr>
        <p:spPr>
          <a:xfrm>
            <a:off x="975614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75614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22400"/>
            <a:ext cx="3143250" cy="223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148840" y="1422400"/>
            <a:ext cx="31750" cy="2235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0" name="s450"/>
          <p:cNvSpPr/>
          <p:nvPr/>
        </p:nvSpPr>
        <p:spPr>
          <a:xfrm>
            <a:off x="2326640" y="1600200"/>
            <a:ext cx="558800" cy="215900"/>
          </a:xfrm>
          <a:prstGeom prst="roundRect">
            <a:avLst>
              <a:gd name="adj" fmla="val 20000"/>
            </a:avLst>
          </a:prstGeom>
          <a:solidFill>
            <a:srgbClr val="2559A8">
              <a:alpha val="14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326640" y="1600200"/>
            <a:ext cx="5588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WH-01</a:t>
            </a:r>
          </a:p>
        </p:txBody>
      </p:sp>
      <p:sp>
        <p:nvSpPr>
          <p:cNvPr id="452" name="s452"/>
          <p:cNvSpPr/>
          <p:nvPr/>
        </p:nvSpPr>
        <p:spPr>
          <a:xfrm>
            <a:off x="4149090" y="16002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s453"/>
          <p:cNvSpPr/>
          <p:nvPr/>
        </p:nvSpPr>
        <p:spPr>
          <a:xfrm>
            <a:off x="4149090" y="16002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Operational</a:t>
            </a:r>
          </a:p>
        </p:txBody>
      </p:sp>
      <p:sp>
        <p:nvSpPr>
          <p:cNvPr id="454" name="s454"/>
          <p:cNvSpPr/>
          <p:nvPr/>
        </p:nvSpPr>
        <p:spPr>
          <a:xfrm>
            <a:off x="2326640" y="1905000"/>
            <a:ext cx="2787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Central Warehouse Monrovia</a:t>
            </a:r>
          </a:p>
        </p:txBody>
      </p:sp>
      <p:sp>
        <p:nvSpPr>
          <p:cNvPr id="455" name="s455"/>
          <p:cNvSpPr/>
          <p:nvPr/>
        </p:nvSpPr>
        <p:spPr>
          <a:xfrm>
            <a:off x="2326640" y="2108200"/>
            <a:ext cx="27876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Bushrod Island, Monrovia  ·  Montserrado County</a:t>
            </a:r>
          </a:p>
        </p:txBody>
      </p:sp>
      <p:sp>
        <p:nvSpPr>
          <p:cNvPr id="456" name="s456"/>
          <p:cNvSpPr/>
          <p:nvPr/>
        </p:nvSpPr>
        <p:spPr>
          <a:xfrm>
            <a:off x="2326640" y="2336800"/>
            <a:ext cx="279400" cy="279400"/>
          </a:xfrm>
          <a:prstGeom prst="ellipse">
            <a:avLst/>
          </a:prstGeom>
          <a:solidFill>
            <a:srgbClr val="2559A8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2326640" y="2336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559A8"/>
                </a:solidFill>
                <a:latin typeface="Calibri"/>
              </a:rPr>
              <a:t>SW</a:t>
            </a:r>
          </a:p>
        </p:txBody>
      </p:sp>
      <p:sp>
        <p:nvSpPr>
          <p:cNvPr id="458" name="s458"/>
          <p:cNvSpPr/>
          <p:nvPr/>
        </p:nvSpPr>
        <p:spPr>
          <a:xfrm>
            <a:off x="2682240" y="2336800"/>
            <a:ext cx="24320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459" name="s459"/>
          <p:cNvSpPr/>
          <p:nvPr/>
        </p:nvSpPr>
        <p:spPr>
          <a:xfrm>
            <a:off x="2682240" y="2476500"/>
            <a:ext cx="24320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Warehouse Manager</a:t>
            </a:r>
          </a:p>
        </p:txBody>
      </p:sp>
      <p:sp>
        <p:nvSpPr>
          <p:cNvPr id="460" name="s460"/>
          <p:cNvSpPr/>
          <p:nvPr/>
        </p:nvSpPr>
        <p:spPr>
          <a:xfrm>
            <a:off x="2326640" y="27432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Utilisation</a:t>
            </a:r>
          </a:p>
        </p:txBody>
      </p:sp>
      <p:sp>
        <p:nvSpPr>
          <p:cNvPr id="461" name="s461"/>
          <p:cNvSpPr/>
          <p:nvPr/>
        </p:nvSpPr>
        <p:spPr>
          <a:xfrm>
            <a:off x="4403090" y="2717800"/>
            <a:ext cx="7112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100" b="1" spc="0" dirty="0">
                <a:solidFill>
                  <a:srgbClr val="1E8E5A"/>
                </a:solidFill>
                <a:latin typeface="Arial"/>
              </a:rPr>
              <a:t>75%</a:t>
            </a:r>
          </a:p>
        </p:txBody>
      </p:sp>
      <p:sp>
        <p:nvSpPr>
          <p:cNvPr id="462" name="s462"/>
          <p:cNvSpPr/>
          <p:nvPr/>
        </p:nvSpPr>
        <p:spPr>
          <a:xfrm>
            <a:off x="2326640" y="2946400"/>
            <a:ext cx="278765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2326640" y="2946400"/>
            <a:ext cx="2090738" cy="635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2326640" y="3098800"/>
            <a:ext cx="27876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8,940 of 12,000 units  ·  3,060 free</a:t>
            </a:r>
          </a:p>
        </p:txBody>
      </p:sp>
      <p:sp>
        <p:nvSpPr>
          <p:cNvPr id="465" name="s465"/>
          <p:cNvSpPr/>
          <p:nvPr/>
        </p:nvSpPr>
        <p:spPr>
          <a:xfrm>
            <a:off x="2326640" y="3327400"/>
            <a:ext cx="278765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2326640" y="3403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Stock value</a:t>
            </a:r>
          </a:p>
        </p:txBody>
      </p:sp>
      <p:sp>
        <p:nvSpPr>
          <p:cNvPr id="467" name="s467"/>
          <p:cNvSpPr/>
          <p:nvPr/>
        </p:nvSpPr>
        <p:spPr>
          <a:xfrm>
            <a:off x="3469640" y="33909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$20,140</a:t>
            </a:r>
          </a:p>
        </p:txBody>
      </p:sp>
      <p:sp>
        <p:nvSpPr>
          <p:cNvPr id="468" name="s468"/>
          <p:cNvSpPr/>
          <p:nvPr/>
        </p:nvSpPr>
        <p:spPr>
          <a:xfrm>
            <a:off x="4149090" y="34036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View details  ›</a:t>
            </a:r>
          </a:p>
        </p:txBody>
      </p:sp>
      <p:sp>
        <p:nvSpPr>
          <p:cNvPr id="469" name="s469"/>
          <p:cNvSpPr/>
          <p:nvPr/>
        </p:nvSpPr>
        <p:spPr>
          <a:xfrm>
            <a:off x="5469890" y="1422400"/>
            <a:ext cx="3143250" cy="223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5469890" y="1422400"/>
            <a:ext cx="31750" cy="22352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5647690" y="1600200"/>
            <a:ext cx="558800" cy="215900"/>
          </a:xfrm>
          <a:prstGeom prst="roundRect">
            <a:avLst>
              <a:gd name="adj" fmla="val 20000"/>
            </a:avLst>
          </a:prstGeom>
          <a:solidFill>
            <a:srgbClr val="24AA9D">
              <a:alpha val="14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5647690" y="1600200"/>
            <a:ext cx="5588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4AA9D"/>
                </a:solidFill>
                <a:latin typeface="Arial"/>
              </a:rPr>
              <a:t>WH-02</a:t>
            </a:r>
          </a:p>
        </p:txBody>
      </p:sp>
      <p:sp>
        <p:nvSpPr>
          <p:cNvPr id="473" name="s473"/>
          <p:cNvSpPr/>
          <p:nvPr/>
        </p:nvSpPr>
        <p:spPr>
          <a:xfrm>
            <a:off x="7470140" y="16002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4" name="s474"/>
          <p:cNvSpPr/>
          <p:nvPr/>
        </p:nvSpPr>
        <p:spPr>
          <a:xfrm>
            <a:off x="7470140" y="16002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Operational</a:t>
            </a:r>
          </a:p>
        </p:txBody>
      </p:sp>
      <p:sp>
        <p:nvSpPr>
          <p:cNvPr id="475" name="s475"/>
          <p:cNvSpPr/>
          <p:nvPr/>
        </p:nvSpPr>
        <p:spPr>
          <a:xfrm>
            <a:off x="5647690" y="1905000"/>
            <a:ext cx="2787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Paynesville Distribution Center</a:t>
            </a:r>
          </a:p>
        </p:txBody>
      </p:sp>
      <p:sp>
        <p:nvSpPr>
          <p:cNvPr id="476" name="s476"/>
          <p:cNvSpPr/>
          <p:nvPr/>
        </p:nvSpPr>
        <p:spPr>
          <a:xfrm>
            <a:off x="5647690" y="2108200"/>
            <a:ext cx="27876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Paynesville, Monrovia  ·  Montserrado County</a:t>
            </a:r>
          </a:p>
        </p:txBody>
      </p:sp>
      <p:sp>
        <p:nvSpPr>
          <p:cNvPr id="477" name="s477"/>
          <p:cNvSpPr/>
          <p:nvPr/>
        </p:nvSpPr>
        <p:spPr>
          <a:xfrm>
            <a:off x="5647690" y="2336800"/>
            <a:ext cx="279400" cy="279400"/>
          </a:xfrm>
          <a:prstGeom prst="ellipse">
            <a:avLst/>
          </a:prstGeom>
          <a:solidFill>
            <a:srgbClr val="24AA9D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5647690" y="2336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4AA9D"/>
                </a:solidFill>
                <a:latin typeface="Calibri"/>
              </a:rPr>
              <a:t>PS</a:t>
            </a:r>
          </a:p>
        </p:txBody>
      </p:sp>
      <p:sp>
        <p:nvSpPr>
          <p:cNvPr id="479" name="s479"/>
          <p:cNvSpPr/>
          <p:nvPr/>
        </p:nvSpPr>
        <p:spPr>
          <a:xfrm>
            <a:off x="6003290" y="2336800"/>
            <a:ext cx="24320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Peter Sirleaf</a:t>
            </a:r>
          </a:p>
        </p:txBody>
      </p:sp>
      <p:sp>
        <p:nvSpPr>
          <p:cNvPr id="480" name="s480"/>
          <p:cNvSpPr/>
          <p:nvPr/>
        </p:nvSpPr>
        <p:spPr>
          <a:xfrm>
            <a:off x="6003290" y="2476500"/>
            <a:ext cx="24320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Warehouse Manager</a:t>
            </a:r>
          </a:p>
        </p:txBody>
      </p:sp>
      <p:sp>
        <p:nvSpPr>
          <p:cNvPr id="481" name="s481"/>
          <p:cNvSpPr/>
          <p:nvPr/>
        </p:nvSpPr>
        <p:spPr>
          <a:xfrm>
            <a:off x="5647690" y="27432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Utilisation</a:t>
            </a:r>
          </a:p>
        </p:txBody>
      </p:sp>
      <p:sp>
        <p:nvSpPr>
          <p:cNvPr id="482" name="s482"/>
          <p:cNvSpPr/>
          <p:nvPr/>
        </p:nvSpPr>
        <p:spPr>
          <a:xfrm>
            <a:off x="7724140" y="2717800"/>
            <a:ext cx="7112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100" b="1" spc="0" dirty="0">
                <a:solidFill>
                  <a:srgbClr val="1E8E5A"/>
                </a:solidFill>
                <a:latin typeface="Arial"/>
              </a:rPr>
              <a:t>64%</a:t>
            </a:r>
          </a:p>
        </p:txBody>
      </p:sp>
      <p:sp>
        <p:nvSpPr>
          <p:cNvPr id="483" name="s483"/>
          <p:cNvSpPr/>
          <p:nvPr/>
        </p:nvSpPr>
        <p:spPr>
          <a:xfrm>
            <a:off x="5647690" y="2946400"/>
            <a:ext cx="278765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4" name="s484"/>
          <p:cNvSpPr/>
          <p:nvPr/>
        </p:nvSpPr>
        <p:spPr>
          <a:xfrm>
            <a:off x="5647690" y="2946400"/>
            <a:ext cx="1784096" cy="635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5647690" y="3098800"/>
            <a:ext cx="27876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5,720 of 9,000 units  ·  3,280 free</a:t>
            </a:r>
          </a:p>
        </p:txBody>
      </p:sp>
      <p:sp>
        <p:nvSpPr>
          <p:cNvPr id="486" name="s486"/>
          <p:cNvSpPr/>
          <p:nvPr/>
        </p:nvSpPr>
        <p:spPr>
          <a:xfrm>
            <a:off x="5647690" y="3327400"/>
            <a:ext cx="278765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7" name="s487"/>
          <p:cNvSpPr/>
          <p:nvPr/>
        </p:nvSpPr>
        <p:spPr>
          <a:xfrm>
            <a:off x="5647690" y="3403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Stock value</a:t>
            </a:r>
          </a:p>
        </p:txBody>
      </p:sp>
      <p:sp>
        <p:nvSpPr>
          <p:cNvPr id="488" name="s488"/>
          <p:cNvSpPr/>
          <p:nvPr/>
        </p:nvSpPr>
        <p:spPr>
          <a:xfrm>
            <a:off x="6790690" y="33909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$13,460</a:t>
            </a:r>
          </a:p>
        </p:txBody>
      </p:sp>
      <p:sp>
        <p:nvSpPr>
          <p:cNvPr id="489" name="s489"/>
          <p:cNvSpPr/>
          <p:nvPr/>
        </p:nvSpPr>
        <p:spPr>
          <a:xfrm>
            <a:off x="7470140" y="34036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View details  ›</a:t>
            </a:r>
          </a:p>
        </p:txBody>
      </p:sp>
      <p:sp>
        <p:nvSpPr>
          <p:cNvPr id="490" name="s490"/>
          <p:cNvSpPr/>
          <p:nvPr/>
        </p:nvSpPr>
        <p:spPr>
          <a:xfrm>
            <a:off x="8790940" y="1422400"/>
            <a:ext cx="3143250" cy="2235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8790940" y="1422400"/>
            <a:ext cx="31750" cy="22352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8968740" y="1600200"/>
            <a:ext cx="558800" cy="215900"/>
          </a:xfrm>
          <a:prstGeom prst="roundRect">
            <a:avLst>
              <a:gd name="adj" fmla="val 20000"/>
            </a:avLst>
          </a:prstGeom>
          <a:solidFill>
            <a:srgbClr val="D08700">
              <a:alpha val="14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8968740" y="1600200"/>
            <a:ext cx="5588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D08700"/>
                </a:solidFill>
                <a:latin typeface="Arial"/>
              </a:rPr>
              <a:t>WH-03</a:t>
            </a:r>
          </a:p>
        </p:txBody>
      </p:sp>
      <p:sp>
        <p:nvSpPr>
          <p:cNvPr id="494" name="s494"/>
          <p:cNvSpPr/>
          <p:nvPr/>
        </p:nvSpPr>
        <p:spPr>
          <a:xfrm>
            <a:off x="10791190" y="16002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10791190" y="16002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Near capacity</a:t>
            </a:r>
          </a:p>
        </p:txBody>
      </p:sp>
      <p:sp>
        <p:nvSpPr>
          <p:cNvPr id="496" name="s496"/>
          <p:cNvSpPr/>
          <p:nvPr/>
        </p:nvSpPr>
        <p:spPr>
          <a:xfrm>
            <a:off x="8968740" y="1905000"/>
            <a:ext cx="2787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Gbarnga Regional Store</a:t>
            </a:r>
          </a:p>
        </p:txBody>
      </p:sp>
      <p:sp>
        <p:nvSpPr>
          <p:cNvPr id="497" name="s497"/>
          <p:cNvSpPr/>
          <p:nvPr/>
        </p:nvSpPr>
        <p:spPr>
          <a:xfrm>
            <a:off x="8968740" y="2108200"/>
            <a:ext cx="27876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Gbarnga, Bong  ·  Bong County</a:t>
            </a:r>
          </a:p>
        </p:txBody>
      </p:sp>
      <p:sp>
        <p:nvSpPr>
          <p:cNvPr id="498" name="s498"/>
          <p:cNvSpPr/>
          <p:nvPr/>
        </p:nvSpPr>
        <p:spPr>
          <a:xfrm>
            <a:off x="8968740" y="2336800"/>
            <a:ext cx="279400" cy="279400"/>
          </a:xfrm>
          <a:prstGeom prst="ellipse">
            <a:avLst/>
          </a:prstGeom>
          <a:solidFill>
            <a:srgbClr val="D08700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9" name="s499"/>
          <p:cNvSpPr/>
          <p:nvPr/>
        </p:nvSpPr>
        <p:spPr>
          <a:xfrm>
            <a:off x="8968740" y="2336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ET</a:t>
            </a:r>
          </a:p>
        </p:txBody>
      </p:sp>
      <p:sp>
        <p:nvSpPr>
          <p:cNvPr id="500" name="s500"/>
          <p:cNvSpPr/>
          <p:nvPr/>
        </p:nvSpPr>
        <p:spPr>
          <a:xfrm>
            <a:off x="9324340" y="2336800"/>
            <a:ext cx="24320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Emmanuel Toe</a:t>
            </a:r>
          </a:p>
        </p:txBody>
      </p:sp>
      <p:sp>
        <p:nvSpPr>
          <p:cNvPr id="501" name="s501"/>
          <p:cNvSpPr/>
          <p:nvPr/>
        </p:nvSpPr>
        <p:spPr>
          <a:xfrm>
            <a:off x="9324340" y="2476500"/>
            <a:ext cx="24320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Warehouse Manager</a:t>
            </a:r>
          </a:p>
        </p:txBody>
      </p:sp>
      <p:sp>
        <p:nvSpPr>
          <p:cNvPr id="502" name="s502"/>
          <p:cNvSpPr/>
          <p:nvPr/>
        </p:nvSpPr>
        <p:spPr>
          <a:xfrm>
            <a:off x="8968740" y="27432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Utilisation</a:t>
            </a:r>
          </a:p>
        </p:txBody>
      </p:sp>
      <p:sp>
        <p:nvSpPr>
          <p:cNvPr id="503" name="s503"/>
          <p:cNvSpPr/>
          <p:nvPr/>
        </p:nvSpPr>
        <p:spPr>
          <a:xfrm>
            <a:off x="11045190" y="2717800"/>
            <a:ext cx="7112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100" b="1" spc="0" dirty="0">
                <a:solidFill>
                  <a:srgbClr val="D08700"/>
                </a:solidFill>
                <a:latin typeface="Arial"/>
              </a:rPr>
              <a:t>76%</a:t>
            </a:r>
          </a:p>
        </p:txBody>
      </p:sp>
      <p:sp>
        <p:nvSpPr>
          <p:cNvPr id="504" name="s504"/>
          <p:cNvSpPr/>
          <p:nvPr/>
        </p:nvSpPr>
        <p:spPr>
          <a:xfrm>
            <a:off x="8968740" y="2946400"/>
            <a:ext cx="278765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8968740" y="2946400"/>
            <a:ext cx="2118614" cy="635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6" name="s506"/>
          <p:cNvSpPr/>
          <p:nvPr/>
        </p:nvSpPr>
        <p:spPr>
          <a:xfrm>
            <a:off x="8968740" y="3098800"/>
            <a:ext cx="278765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3,790 of 5,000 units  ·  1,210 free</a:t>
            </a:r>
          </a:p>
        </p:txBody>
      </p:sp>
      <p:sp>
        <p:nvSpPr>
          <p:cNvPr id="507" name="s507"/>
          <p:cNvSpPr/>
          <p:nvPr/>
        </p:nvSpPr>
        <p:spPr>
          <a:xfrm>
            <a:off x="8968740" y="3327400"/>
            <a:ext cx="278765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8" name="s508"/>
          <p:cNvSpPr/>
          <p:nvPr/>
        </p:nvSpPr>
        <p:spPr>
          <a:xfrm>
            <a:off x="8968740" y="3403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Stock value</a:t>
            </a:r>
          </a:p>
        </p:txBody>
      </p:sp>
      <p:sp>
        <p:nvSpPr>
          <p:cNvPr id="509" name="s509"/>
          <p:cNvSpPr/>
          <p:nvPr/>
        </p:nvSpPr>
        <p:spPr>
          <a:xfrm>
            <a:off x="10111740" y="33909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Arial"/>
              </a:rPr>
              <a:t>$9,250</a:t>
            </a:r>
          </a:p>
        </p:txBody>
      </p:sp>
      <p:sp>
        <p:nvSpPr>
          <p:cNvPr id="510" name="s510"/>
          <p:cNvSpPr/>
          <p:nvPr/>
        </p:nvSpPr>
        <p:spPr>
          <a:xfrm>
            <a:off x="10791190" y="3403600"/>
            <a:ext cx="965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View details  ›</a:t>
            </a:r>
          </a:p>
        </p:txBody>
      </p:sp>
      <p:sp>
        <p:nvSpPr>
          <p:cNvPr id="511" name="s511"/>
          <p:cNvSpPr/>
          <p:nvPr/>
        </p:nvSpPr>
        <p:spPr>
          <a:xfrm>
            <a:off x="2148840" y="3860800"/>
            <a:ext cx="9784080" cy="264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2326640" y="4000500"/>
            <a:ext cx="8006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Capacity &amp; Value Comparison</a:t>
            </a:r>
          </a:p>
        </p:txBody>
      </p:sp>
      <p:sp>
        <p:nvSpPr>
          <p:cNvPr id="513" name="s513"/>
          <p:cNvSpPr/>
          <p:nvPr/>
        </p:nvSpPr>
        <p:spPr>
          <a:xfrm>
            <a:off x="10358120" y="40005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Utilisation targets: 60–80%</a:t>
            </a:r>
          </a:p>
        </p:txBody>
      </p:sp>
      <p:sp>
        <p:nvSpPr>
          <p:cNvPr id="514" name="s514"/>
          <p:cNvSpPr/>
          <p:nvPr/>
        </p:nvSpPr>
        <p:spPr>
          <a:xfrm>
            <a:off x="2148840" y="43688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5" name="s515"/>
          <p:cNvSpPr/>
          <p:nvPr/>
        </p:nvSpPr>
        <p:spPr>
          <a:xfrm>
            <a:off x="2326640" y="4368800"/>
            <a:ext cx="165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WAREHOUSE</a:t>
            </a:r>
          </a:p>
        </p:txBody>
      </p:sp>
      <p:sp>
        <p:nvSpPr>
          <p:cNvPr id="516" name="s516"/>
          <p:cNvSpPr/>
          <p:nvPr/>
        </p:nvSpPr>
        <p:spPr>
          <a:xfrm>
            <a:off x="4003040" y="4368800"/>
            <a:ext cx="1473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LOCATION</a:t>
            </a:r>
          </a:p>
        </p:txBody>
      </p:sp>
      <p:sp>
        <p:nvSpPr>
          <p:cNvPr id="517" name="s517"/>
          <p:cNvSpPr/>
          <p:nvPr/>
        </p:nvSpPr>
        <p:spPr>
          <a:xfrm>
            <a:off x="5501640" y="4368800"/>
            <a:ext cx="1168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MANAGER</a:t>
            </a:r>
          </a:p>
        </p:txBody>
      </p:sp>
      <p:sp>
        <p:nvSpPr>
          <p:cNvPr id="518" name="s518"/>
          <p:cNvSpPr/>
          <p:nvPr/>
        </p:nvSpPr>
        <p:spPr>
          <a:xfrm>
            <a:off x="6695440" y="43688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CAPACITY</a:t>
            </a:r>
          </a:p>
        </p:txBody>
      </p:sp>
      <p:sp>
        <p:nvSpPr>
          <p:cNvPr id="519" name="s519"/>
          <p:cNvSpPr/>
          <p:nvPr/>
        </p:nvSpPr>
        <p:spPr>
          <a:xfrm>
            <a:off x="7432040" y="43688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STORED</a:t>
            </a:r>
          </a:p>
        </p:txBody>
      </p:sp>
      <p:sp>
        <p:nvSpPr>
          <p:cNvPr id="520" name="s520"/>
          <p:cNvSpPr/>
          <p:nvPr/>
        </p:nvSpPr>
        <p:spPr>
          <a:xfrm>
            <a:off x="8168640" y="436880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AVAILABLE</a:t>
            </a:r>
          </a:p>
        </p:txBody>
      </p:sp>
      <p:sp>
        <p:nvSpPr>
          <p:cNvPr id="521" name="s521"/>
          <p:cNvSpPr/>
          <p:nvPr/>
        </p:nvSpPr>
        <p:spPr>
          <a:xfrm>
            <a:off x="8956040" y="4368800"/>
            <a:ext cx="111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UTILISATION</a:t>
            </a:r>
          </a:p>
        </p:txBody>
      </p:sp>
      <p:sp>
        <p:nvSpPr>
          <p:cNvPr id="522" name="s522"/>
          <p:cNvSpPr/>
          <p:nvPr/>
        </p:nvSpPr>
        <p:spPr>
          <a:xfrm>
            <a:off x="10099040" y="436880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523" name="s523"/>
          <p:cNvSpPr/>
          <p:nvPr/>
        </p:nvSpPr>
        <p:spPr>
          <a:xfrm>
            <a:off x="10886440" y="4368800"/>
            <a:ext cx="736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524" name="s524"/>
          <p:cNvSpPr/>
          <p:nvPr/>
        </p:nvSpPr>
        <p:spPr>
          <a:xfrm>
            <a:off x="2148840" y="4959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2148840" y="4686300"/>
            <a:ext cx="25400" cy="2286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2326640" y="46355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WH-01  Central Warehouse</a:t>
            </a:r>
          </a:p>
        </p:txBody>
      </p:sp>
      <p:sp>
        <p:nvSpPr>
          <p:cNvPr id="527" name="s527"/>
          <p:cNvSpPr/>
          <p:nvPr/>
        </p:nvSpPr>
        <p:spPr>
          <a:xfrm>
            <a:off x="4003040" y="4635500"/>
            <a:ext cx="1473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Bushrod Island, Monrovia</a:t>
            </a:r>
          </a:p>
        </p:txBody>
      </p:sp>
      <p:sp>
        <p:nvSpPr>
          <p:cNvPr id="528" name="s528"/>
          <p:cNvSpPr/>
          <p:nvPr/>
        </p:nvSpPr>
        <p:spPr>
          <a:xfrm>
            <a:off x="5501640" y="4635500"/>
            <a:ext cx="1168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529" name="s529"/>
          <p:cNvSpPr/>
          <p:nvPr/>
        </p:nvSpPr>
        <p:spPr>
          <a:xfrm>
            <a:off x="6695440" y="46355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12,000</a:t>
            </a:r>
          </a:p>
        </p:txBody>
      </p:sp>
      <p:sp>
        <p:nvSpPr>
          <p:cNvPr id="530" name="s530"/>
          <p:cNvSpPr/>
          <p:nvPr/>
        </p:nvSpPr>
        <p:spPr>
          <a:xfrm>
            <a:off x="7432040" y="46355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8,940</a:t>
            </a:r>
          </a:p>
        </p:txBody>
      </p:sp>
      <p:sp>
        <p:nvSpPr>
          <p:cNvPr id="531" name="s531"/>
          <p:cNvSpPr/>
          <p:nvPr/>
        </p:nvSpPr>
        <p:spPr>
          <a:xfrm>
            <a:off x="8168640" y="46355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E8E5A"/>
                </a:solidFill>
                <a:latin typeface="Arial"/>
              </a:rPr>
              <a:t>3,060</a:t>
            </a:r>
          </a:p>
        </p:txBody>
      </p:sp>
      <p:sp>
        <p:nvSpPr>
          <p:cNvPr id="532" name="s532"/>
          <p:cNvSpPr/>
          <p:nvPr/>
        </p:nvSpPr>
        <p:spPr>
          <a:xfrm>
            <a:off x="8956040" y="4775200"/>
            <a:ext cx="73660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3" name="s533"/>
          <p:cNvSpPr/>
          <p:nvPr/>
        </p:nvSpPr>
        <p:spPr>
          <a:xfrm>
            <a:off x="8956040" y="4775200"/>
            <a:ext cx="552450" cy="635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9743440" y="46355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1E8E5A"/>
                </a:solidFill>
                <a:latin typeface="Arial"/>
              </a:rPr>
              <a:t>75%</a:t>
            </a:r>
          </a:p>
        </p:txBody>
      </p:sp>
      <p:sp>
        <p:nvSpPr>
          <p:cNvPr id="535" name="s535"/>
          <p:cNvSpPr/>
          <p:nvPr/>
        </p:nvSpPr>
        <p:spPr>
          <a:xfrm>
            <a:off x="10099040" y="46355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$20,140</a:t>
            </a:r>
          </a:p>
        </p:txBody>
      </p:sp>
      <p:sp>
        <p:nvSpPr>
          <p:cNvPr id="536" name="s536"/>
          <p:cNvSpPr/>
          <p:nvPr/>
        </p:nvSpPr>
        <p:spPr>
          <a:xfrm>
            <a:off x="10886440" y="4711700"/>
            <a:ext cx="5588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7" name="s537"/>
          <p:cNvSpPr/>
          <p:nvPr/>
        </p:nvSpPr>
        <p:spPr>
          <a:xfrm>
            <a:off x="10886440" y="4711700"/>
            <a:ext cx="558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Live</a:t>
            </a:r>
          </a:p>
        </p:txBody>
      </p:sp>
      <p:sp>
        <p:nvSpPr>
          <p:cNvPr id="538" name="s538"/>
          <p:cNvSpPr/>
          <p:nvPr/>
        </p:nvSpPr>
        <p:spPr>
          <a:xfrm>
            <a:off x="2148840" y="5289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2148840" y="5016500"/>
            <a:ext cx="25400" cy="2286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0" name="s540"/>
          <p:cNvSpPr/>
          <p:nvPr/>
        </p:nvSpPr>
        <p:spPr>
          <a:xfrm>
            <a:off x="2326640" y="49657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WH-02  Paynesville Distribution</a:t>
            </a:r>
          </a:p>
        </p:txBody>
      </p:sp>
      <p:sp>
        <p:nvSpPr>
          <p:cNvPr id="541" name="s541"/>
          <p:cNvSpPr/>
          <p:nvPr/>
        </p:nvSpPr>
        <p:spPr>
          <a:xfrm>
            <a:off x="4003040" y="4965700"/>
            <a:ext cx="1473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Paynesville, Monrovia</a:t>
            </a:r>
          </a:p>
        </p:txBody>
      </p:sp>
      <p:sp>
        <p:nvSpPr>
          <p:cNvPr id="542" name="s542"/>
          <p:cNvSpPr/>
          <p:nvPr/>
        </p:nvSpPr>
        <p:spPr>
          <a:xfrm>
            <a:off x="5501640" y="4965700"/>
            <a:ext cx="1168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Peter Sirleaf</a:t>
            </a:r>
          </a:p>
        </p:txBody>
      </p:sp>
      <p:sp>
        <p:nvSpPr>
          <p:cNvPr id="543" name="s543"/>
          <p:cNvSpPr/>
          <p:nvPr/>
        </p:nvSpPr>
        <p:spPr>
          <a:xfrm>
            <a:off x="6695440" y="49657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9,000</a:t>
            </a:r>
          </a:p>
        </p:txBody>
      </p:sp>
      <p:sp>
        <p:nvSpPr>
          <p:cNvPr id="544" name="s544"/>
          <p:cNvSpPr/>
          <p:nvPr/>
        </p:nvSpPr>
        <p:spPr>
          <a:xfrm>
            <a:off x="7432040" y="49657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5,720</a:t>
            </a:r>
          </a:p>
        </p:txBody>
      </p:sp>
      <p:sp>
        <p:nvSpPr>
          <p:cNvPr id="545" name="s545"/>
          <p:cNvSpPr/>
          <p:nvPr/>
        </p:nvSpPr>
        <p:spPr>
          <a:xfrm>
            <a:off x="8168640" y="49657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E8E5A"/>
                </a:solidFill>
                <a:latin typeface="Arial"/>
              </a:rPr>
              <a:t>3,280</a:t>
            </a:r>
          </a:p>
        </p:txBody>
      </p:sp>
      <p:sp>
        <p:nvSpPr>
          <p:cNvPr id="546" name="s546"/>
          <p:cNvSpPr/>
          <p:nvPr/>
        </p:nvSpPr>
        <p:spPr>
          <a:xfrm>
            <a:off x="8956040" y="5105400"/>
            <a:ext cx="73660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7" name="s547"/>
          <p:cNvSpPr/>
          <p:nvPr/>
        </p:nvSpPr>
        <p:spPr>
          <a:xfrm>
            <a:off x="8956040" y="5105400"/>
            <a:ext cx="471424" cy="635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9743440" y="49657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1E8E5A"/>
                </a:solidFill>
                <a:latin typeface="Arial"/>
              </a:rPr>
              <a:t>64%</a:t>
            </a:r>
          </a:p>
        </p:txBody>
      </p:sp>
      <p:sp>
        <p:nvSpPr>
          <p:cNvPr id="549" name="s549"/>
          <p:cNvSpPr/>
          <p:nvPr/>
        </p:nvSpPr>
        <p:spPr>
          <a:xfrm>
            <a:off x="10099040" y="49657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$13,460</a:t>
            </a:r>
          </a:p>
        </p:txBody>
      </p:sp>
      <p:sp>
        <p:nvSpPr>
          <p:cNvPr id="550" name="s550"/>
          <p:cNvSpPr/>
          <p:nvPr/>
        </p:nvSpPr>
        <p:spPr>
          <a:xfrm>
            <a:off x="10886440" y="5041900"/>
            <a:ext cx="5588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1" name="s551"/>
          <p:cNvSpPr/>
          <p:nvPr/>
        </p:nvSpPr>
        <p:spPr>
          <a:xfrm>
            <a:off x="10886440" y="5041900"/>
            <a:ext cx="558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Live</a:t>
            </a:r>
          </a:p>
        </p:txBody>
      </p:sp>
      <p:sp>
        <p:nvSpPr>
          <p:cNvPr id="552" name="s552"/>
          <p:cNvSpPr/>
          <p:nvPr/>
        </p:nvSpPr>
        <p:spPr>
          <a:xfrm>
            <a:off x="2148840" y="5619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3" name="s553"/>
          <p:cNvSpPr/>
          <p:nvPr/>
        </p:nvSpPr>
        <p:spPr>
          <a:xfrm>
            <a:off x="2148840" y="53467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4" name="s554"/>
          <p:cNvSpPr/>
          <p:nvPr/>
        </p:nvSpPr>
        <p:spPr>
          <a:xfrm>
            <a:off x="2326640" y="52959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WH-03  Gbarnga Regional</a:t>
            </a:r>
          </a:p>
        </p:txBody>
      </p:sp>
      <p:sp>
        <p:nvSpPr>
          <p:cNvPr id="555" name="s555"/>
          <p:cNvSpPr/>
          <p:nvPr/>
        </p:nvSpPr>
        <p:spPr>
          <a:xfrm>
            <a:off x="4003040" y="5295900"/>
            <a:ext cx="1473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Gbarnga, Bong</a:t>
            </a:r>
          </a:p>
        </p:txBody>
      </p:sp>
      <p:sp>
        <p:nvSpPr>
          <p:cNvPr id="556" name="s556"/>
          <p:cNvSpPr/>
          <p:nvPr/>
        </p:nvSpPr>
        <p:spPr>
          <a:xfrm>
            <a:off x="5501640" y="5295900"/>
            <a:ext cx="1168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Emmanuel Toe</a:t>
            </a:r>
          </a:p>
        </p:txBody>
      </p:sp>
      <p:sp>
        <p:nvSpPr>
          <p:cNvPr id="557" name="s557"/>
          <p:cNvSpPr/>
          <p:nvPr/>
        </p:nvSpPr>
        <p:spPr>
          <a:xfrm>
            <a:off x="6695440" y="52959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5,000</a:t>
            </a:r>
          </a:p>
        </p:txBody>
      </p:sp>
      <p:sp>
        <p:nvSpPr>
          <p:cNvPr id="558" name="s558"/>
          <p:cNvSpPr/>
          <p:nvPr/>
        </p:nvSpPr>
        <p:spPr>
          <a:xfrm>
            <a:off x="7432040" y="52959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3,790</a:t>
            </a:r>
          </a:p>
        </p:txBody>
      </p:sp>
      <p:sp>
        <p:nvSpPr>
          <p:cNvPr id="559" name="s559"/>
          <p:cNvSpPr/>
          <p:nvPr/>
        </p:nvSpPr>
        <p:spPr>
          <a:xfrm>
            <a:off x="8168640" y="52959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E8E5A"/>
                </a:solidFill>
                <a:latin typeface="Arial"/>
              </a:rPr>
              <a:t>1,210</a:t>
            </a:r>
          </a:p>
        </p:txBody>
      </p:sp>
      <p:sp>
        <p:nvSpPr>
          <p:cNvPr id="560" name="s560"/>
          <p:cNvSpPr/>
          <p:nvPr/>
        </p:nvSpPr>
        <p:spPr>
          <a:xfrm>
            <a:off x="8956040" y="5435600"/>
            <a:ext cx="73660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1" name="s561"/>
          <p:cNvSpPr/>
          <p:nvPr/>
        </p:nvSpPr>
        <p:spPr>
          <a:xfrm>
            <a:off x="8956040" y="5435600"/>
            <a:ext cx="559816" cy="635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2" name="s562"/>
          <p:cNvSpPr/>
          <p:nvPr/>
        </p:nvSpPr>
        <p:spPr>
          <a:xfrm>
            <a:off x="9743440" y="52959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D08700"/>
                </a:solidFill>
                <a:latin typeface="Arial"/>
              </a:rPr>
              <a:t>76%</a:t>
            </a:r>
          </a:p>
        </p:txBody>
      </p:sp>
      <p:sp>
        <p:nvSpPr>
          <p:cNvPr id="563" name="s563"/>
          <p:cNvSpPr/>
          <p:nvPr/>
        </p:nvSpPr>
        <p:spPr>
          <a:xfrm>
            <a:off x="10099040" y="52959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$9,250</a:t>
            </a:r>
          </a:p>
        </p:txBody>
      </p:sp>
      <p:sp>
        <p:nvSpPr>
          <p:cNvPr id="564" name="s564"/>
          <p:cNvSpPr/>
          <p:nvPr/>
        </p:nvSpPr>
        <p:spPr>
          <a:xfrm>
            <a:off x="10886440" y="5372100"/>
            <a:ext cx="5588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5" name="s565"/>
          <p:cNvSpPr/>
          <p:nvPr/>
        </p:nvSpPr>
        <p:spPr>
          <a:xfrm>
            <a:off x="10886440" y="5372100"/>
            <a:ext cx="558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Watch</a:t>
            </a:r>
          </a:p>
        </p:txBody>
      </p:sp>
      <p:sp>
        <p:nvSpPr>
          <p:cNvPr id="566" name="s566"/>
          <p:cNvSpPr/>
          <p:nvPr/>
        </p:nvSpPr>
        <p:spPr>
          <a:xfrm>
            <a:off x="2148840" y="5626100"/>
            <a:ext cx="9784080" cy="3302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7" name="s567"/>
          <p:cNvSpPr/>
          <p:nvPr/>
        </p:nvSpPr>
        <p:spPr>
          <a:xfrm>
            <a:off x="2326640" y="56261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All warehouses</a:t>
            </a:r>
          </a:p>
        </p:txBody>
      </p:sp>
      <p:sp>
        <p:nvSpPr>
          <p:cNvPr id="568" name="s568"/>
          <p:cNvSpPr/>
          <p:nvPr/>
        </p:nvSpPr>
        <p:spPr>
          <a:xfrm>
            <a:off x="6695440" y="56261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26,000</a:t>
            </a:r>
          </a:p>
        </p:txBody>
      </p:sp>
      <p:sp>
        <p:nvSpPr>
          <p:cNvPr id="569" name="s569"/>
          <p:cNvSpPr/>
          <p:nvPr/>
        </p:nvSpPr>
        <p:spPr>
          <a:xfrm>
            <a:off x="7432040" y="56261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18,450</a:t>
            </a:r>
          </a:p>
        </p:txBody>
      </p:sp>
      <p:sp>
        <p:nvSpPr>
          <p:cNvPr id="570" name="s570"/>
          <p:cNvSpPr/>
          <p:nvPr/>
        </p:nvSpPr>
        <p:spPr>
          <a:xfrm>
            <a:off x="8168640" y="56261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7,550</a:t>
            </a:r>
          </a:p>
        </p:txBody>
      </p:sp>
      <p:sp>
        <p:nvSpPr>
          <p:cNvPr id="571" name="s571"/>
          <p:cNvSpPr/>
          <p:nvPr/>
        </p:nvSpPr>
        <p:spPr>
          <a:xfrm>
            <a:off x="8956040" y="5765800"/>
            <a:ext cx="73660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2" name="s572"/>
          <p:cNvSpPr/>
          <p:nvPr/>
        </p:nvSpPr>
        <p:spPr>
          <a:xfrm>
            <a:off x="8956040" y="5765800"/>
            <a:ext cx="522986" cy="635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3" name="s573"/>
          <p:cNvSpPr/>
          <p:nvPr/>
        </p:nvSpPr>
        <p:spPr>
          <a:xfrm>
            <a:off x="9743440" y="56261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2559A8"/>
                </a:solidFill>
                <a:latin typeface="Arial"/>
              </a:rPr>
              <a:t>71%</a:t>
            </a:r>
          </a:p>
        </p:txBody>
      </p:sp>
      <p:sp>
        <p:nvSpPr>
          <p:cNvPr id="574" name="s574"/>
          <p:cNvSpPr/>
          <p:nvPr/>
        </p:nvSpPr>
        <p:spPr>
          <a:xfrm>
            <a:off x="10099040" y="56261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$42,850</a:t>
            </a:r>
          </a:p>
        </p:txBody>
      </p:sp>
      <p:sp>
        <p:nvSpPr>
          <p:cNvPr id="575" name="s575"/>
          <p:cNvSpPr/>
          <p:nvPr/>
        </p:nvSpPr>
        <p:spPr>
          <a:xfrm>
            <a:off x="2326640" y="60706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WH-03 Gbarnga is at 76% — schedule a transfer to WH-02 before the February intake.</a:t>
            </a:r>
          </a:p>
        </p:txBody>
      </p:sp>
      <p:sp>
        <p:nvSpPr>
          <p:cNvPr id="576" name="s576"/>
          <p:cNvSpPr/>
          <p:nvPr/>
        </p:nvSpPr>
        <p:spPr>
          <a:xfrm>
            <a:off x="8890000" y="6070600"/>
            <a:ext cx="2857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Capacity reviewed quarterly</a:t>
            </a:r>
          </a:p>
        </p:txBody>
      </p:sp>
      <p:pic>
        <p:nvPicPr>
          <p:cNvPr id="577" name="Copied Picture 577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91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2" name="s412"/>
          <p:cNvSpPr/>
          <p:nvPr/>
        </p:nvSpPr>
        <p:spPr>
          <a:xfrm>
            <a:off x="101600" y="3263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101600" y="3263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Warehouses  ›  Add warehouse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Add Warehouse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New locations are inactive until a manager is assigned and capacity is confirmed.</a:t>
            </a:r>
          </a:p>
        </p:txBody>
      </p:sp>
      <p:sp>
        <p:nvSpPr>
          <p:cNvPr id="444" name="s444"/>
          <p:cNvSpPr/>
          <p:nvPr/>
        </p:nvSpPr>
        <p:spPr>
          <a:xfrm>
            <a:off x="10668000" y="812800"/>
            <a:ext cx="126492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668000" y="812800"/>
            <a:ext cx="12649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Save Warehouse</a:t>
            </a:r>
          </a:p>
        </p:txBody>
      </p:sp>
      <p:sp>
        <p:nvSpPr>
          <p:cNvPr id="446" name="s446"/>
          <p:cNvSpPr/>
          <p:nvPr/>
        </p:nvSpPr>
        <p:spPr>
          <a:xfrm>
            <a:off x="982472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82472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Cancel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22400"/>
            <a:ext cx="6604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326640" y="15621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Warehouse Details</a:t>
            </a:r>
          </a:p>
        </p:txBody>
      </p:sp>
      <p:sp>
        <p:nvSpPr>
          <p:cNvPr id="450" name="s450"/>
          <p:cNvSpPr/>
          <p:nvPr/>
        </p:nvSpPr>
        <p:spPr>
          <a:xfrm>
            <a:off x="2326640" y="18542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IDENTITY</a:t>
            </a:r>
          </a:p>
        </p:txBody>
      </p:sp>
      <p:sp>
        <p:nvSpPr>
          <p:cNvPr id="451" name="s451"/>
          <p:cNvSpPr/>
          <p:nvPr/>
        </p:nvSpPr>
        <p:spPr>
          <a:xfrm>
            <a:off x="2326640" y="20447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2326640" y="20828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Warehouse code</a:t>
            </a:r>
          </a:p>
        </p:txBody>
      </p:sp>
      <p:sp>
        <p:nvSpPr>
          <p:cNvPr id="453" name="s453"/>
          <p:cNvSpPr/>
          <p:nvPr/>
        </p:nvSpPr>
        <p:spPr>
          <a:xfrm>
            <a:off x="4638040" y="20828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54" name="s454"/>
          <p:cNvSpPr/>
          <p:nvPr/>
        </p:nvSpPr>
        <p:spPr>
          <a:xfrm>
            <a:off x="2326640" y="22479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2440940" y="22479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WH-04</a:t>
            </a:r>
          </a:p>
        </p:txBody>
      </p:sp>
      <p:sp>
        <p:nvSpPr>
          <p:cNvPr id="456" name="s456"/>
          <p:cNvSpPr/>
          <p:nvPr/>
        </p:nvSpPr>
        <p:spPr>
          <a:xfrm>
            <a:off x="5552440" y="20828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Warehouse name</a:t>
            </a:r>
          </a:p>
        </p:txBody>
      </p:sp>
      <p:sp>
        <p:nvSpPr>
          <p:cNvPr id="457" name="s457"/>
          <p:cNvSpPr/>
          <p:nvPr/>
        </p:nvSpPr>
        <p:spPr>
          <a:xfrm>
            <a:off x="7863840" y="20828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58" name="s458"/>
          <p:cNvSpPr/>
          <p:nvPr/>
        </p:nvSpPr>
        <p:spPr>
          <a:xfrm>
            <a:off x="5552440" y="22479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5666740" y="22479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Kakata Satellite Store</a:t>
            </a:r>
          </a:p>
        </p:txBody>
      </p:sp>
      <p:sp>
        <p:nvSpPr>
          <p:cNvPr id="460" name="s460"/>
          <p:cNvSpPr/>
          <p:nvPr/>
        </p:nvSpPr>
        <p:spPr>
          <a:xfrm>
            <a:off x="2326640" y="25527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LOCATION</a:t>
            </a:r>
          </a:p>
        </p:txBody>
      </p:sp>
      <p:sp>
        <p:nvSpPr>
          <p:cNvPr id="461" name="s461"/>
          <p:cNvSpPr/>
          <p:nvPr/>
        </p:nvSpPr>
        <p:spPr>
          <a:xfrm>
            <a:off x="2326640" y="27432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2326640" y="27813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City / town</a:t>
            </a:r>
          </a:p>
        </p:txBody>
      </p:sp>
      <p:sp>
        <p:nvSpPr>
          <p:cNvPr id="463" name="s463"/>
          <p:cNvSpPr/>
          <p:nvPr/>
        </p:nvSpPr>
        <p:spPr>
          <a:xfrm>
            <a:off x="4638040" y="27813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64" name="s464"/>
          <p:cNvSpPr/>
          <p:nvPr/>
        </p:nvSpPr>
        <p:spPr>
          <a:xfrm>
            <a:off x="2326640" y="29464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2440940" y="29464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Kakata</a:t>
            </a:r>
          </a:p>
        </p:txBody>
      </p:sp>
      <p:sp>
        <p:nvSpPr>
          <p:cNvPr id="466" name="s466"/>
          <p:cNvSpPr/>
          <p:nvPr/>
        </p:nvSpPr>
        <p:spPr>
          <a:xfrm>
            <a:off x="5552440" y="27813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County</a:t>
            </a:r>
          </a:p>
        </p:txBody>
      </p:sp>
      <p:sp>
        <p:nvSpPr>
          <p:cNvPr id="467" name="s467"/>
          <p:cNvSpPr/>
          <p:nvPr/>
        </p:nvSpPr>
        <p:spPr>
          <a:xfrm>
            <a:off x="7863840" y="27813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68" name="s468"/>
          <p:cNvSpPr/>
          <p:nvPr/>
        </p:nvSpPr>
        <p:spPr>
          <a:xfrm>
            <a:off x="5552440" y="29464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5666740" y="29464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Margibi</a:t>
            </a:r>
          </a:p>
        </p:txBody>
      </p:sp>
      <p:sp>
        <p:nvSpPr>
          <p:cNvPr id="470" name="s470"/>
          <p:cNvSpPr/>
          <p:nvPr/>
        </p:nvSpPr>
        <p:spPr>
          <a:xfrm rot="10800000">
            <a:off x="8384540" y="30416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2326640" y="3251200"/>
            <a:ext cx="5511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Street address</a:t>
            </a:r>
          </a:p>
        </p:txBody>
      </p:sp>
      <p:sp>
        <p:nvSpPr>
          <p:cNvPr id="472" name="s472"/>
          <p:cNvSpPr/>
          <p:nvPr/>
        </p:nvSpPr>
        <p:spPr>
          <a:xfrm>
            <a:off x="2326640" y="3416300"/>
            <a:ext cx="62738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3" name="s473"/>
          <p:cNvSpPr/>
          <p:nvPr/>
        </p:nvSpPr>
        <p:spPr>
          <a:xfrm>
            <a:off x="2440940" y="3416300"/>
            <a:ext cx="589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Plot 14, Monrovia–Kakata Highway, opposite Booker Washington Institute</a:t>
            </a:r>
          </a:p>
        </p:txBody>
      </p:sp>
      <p:sp>
        <p:nvSpPr>
          <p:cNvPr id="474" name="s474"/>
          <p:cNvSpPr/>
          <p:nvPr/>
        </p:nvSpPr>
        <p:spPr>
          <a:xfrm>
            <a:off x="2326640" y="37211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MANAGEMENT</a:t>
            </a:r>
          </a:p>
        </p:txBody>
      </p:sp>
      <p:sp>
        <p:nvSpPr>
          <p:cNvPr id="475" name="s475"/>
          <p:cNvSpPr/>
          <p:nvPr/>
        </p:nvSpPr>
        <p:spPr>
          <a:xfrm>
            <a:off x="2326640" y="39116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6" name="s476"/>
          <p:cNvSpPr/>
          <p:nvPr/>
        </p:nvSpPr>
        <p:spPr>
          <a:xfrm>
            <a:off x="2326640" y="39497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Warehouse manager</a:t>
            </a:r>
          </a:p>
        </p:txBody>
      </p:sp>
      <p:sp>
        <p:nvSpPr>
          <p:cNvPr id="477" name="s477"/>
          <p:cNvSpPr/>
          <p:nvPr/>
        </p:nvSpPr>
        <p:spPr>
          <a:xfrm>
            <a:off x="2326640" y="4114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2440940" y="4114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8A93A0"/>
                </a:solidFill>
                <a:latin typeface="Calibri"/>
              </a:rPr>
              <a:t>Assign later</a:t>
            </a:r>
          </a:p>
        </p:txBody>
      </p:sp>
      <p:sp>
        <p:nvSpPr>
          <p:cNvPr id="479" name="s479"/>
          <p:cNvSpPr/>
          <p:nvPr/>
        </p:nvSpPr>
        <p:spPr>
          <a:xfrm rot="10800000">
            <a:off x="5158740" y="42100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0" name="s480"/>
          <p:cNvSpPr/>
          <p:nvPr/>
        </p:nvSpPr>
        <p:spPr>
          <a:xfrm>
            <a:off x="5552440" y="39497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Contact phone</a:t>
            </a:r>
          </a:p>
        </p:txBody>
      </p:sp>
      <p:sp>
        <p:nvSpPr>
          <p:cNvPr id="481" name="s481"/>
          <p:cNvSpPr/>
          <p:nvPr/>
        </p:nvSpPr>
        <p:spPr>
          <a:xfrm>
            <a:off x="5552440" y="4114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5666740" y="4114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+231 77 402 118</a:t>
            </a:r>
          </a:p>
        </p:txBody>
      </p:sp>
      <p:sp>
        <p:nvSpPr>
          <p:cNvPr id="483" name="s483"/>
          <p:cNvSpPr/>
          <p:nvPr/>
        </p:nvSpPr>
        <p:spPr>
          <a:xfrm>
            <a:off x="2326640" y="44196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Contact email</a:t>
            </a:r>
          </a:p>
        </p:txBody>
      </p:sp>
      <p:sp>
        <p:nvSpPr>
          <p:cNvPr id="484" name="s484"/>
          <p:cNvSpPr/>
          <p:nvPr/>
        </p:nvSpPr>
        <p:spPr>
          <a:xfrm>
            <a:off x="2326640" y="45847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2440940" y="45847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kakata@lazypygmy.lr</a:t>
            </a:r>
          </a:p>
        </p:txBody>
      </p:sp>
      <p:sp>
        <p:nvSpPr>
          <p:cNvPr id="486" name="s486"/>
          <p:cNvSpPr/>
          <p:nvPr/>
        </p:nvSpPr>
        <p:spPr>
          <a:xfrm>
            <a:off x="5552440" y="44196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Opening date</a:t>
            </a:r>
          </a:p>
        </p:txBody>
      </p:sp>
      <p:sp>
        <p:nvSpPr>
          <p:cNvPr id="487" name="s487"/>
          <p:cNvSpPr/>
          <p:nvPr/>
        </p:nvSpPr>
        <p:spPr>
          <a:xfrm>
            <a:off x="5552440" y="45847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5666740" y="45847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1 Feb 2026</a:t>
            </a:r>
          </a:p>
        </p:txBody>
      </p:sp>
      <p:sp>
        <p:nvSpPr>
          <p:cNvPr id="489" name="s489"/>
          <p:cNvSpPr/>
          <p:nvPr/>
        </p:nvSpPr>
        <p:spPr>
          <a:xfrm>
            <a:off x="2326640" y="48895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CAPACITY &amp; SCOPE</a:t>
            </a:r>
          </a:p>
        </p:txBody>
      </p:sp>
      <p:sp>
        <p:nvSpPr>
          <p:cNvPr id="490" name="s490"/>
          <p:cNvSpPr/>
          <p:nvPr/>
        </p:nvSpPr>
        <p:spPr>
          <a:xfrm>
            <a:off x="2326640" y="50800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2326640" y="51181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Storage capacity</a:t>
            </a:r>
          </a:p>
        </p:txBody>
      </p:sp>
      <p:sp>
        <p:nvSpPr>
          <p:cNvPr id="492" name="s492"/>
          <p:cNvSpPr/>
          <p:nvPr/>
        </p:nvSpPr>
        <p:spPr>
          <a:xfrm>
            <a:off x="4638040" y="51181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93" name="s493"/>
          <p:cNvSpPr/>
          <p:nvPr/>
        </p:nvSpPr>
        <p:spPr>
          <a:xfrm>
            <a:off x="2326640" y="5283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4" name="s494"/>
          <p:cNvSpPr/>
          <p:nvPr/>
        </p:nvSpPr>
        <p:spPr>
          <a:xfrm>
            <a:off x="2440940" y="5283200"/>
            <a:ext cx="2463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6,000</a:t>
            </a:r>
          </a:p>
        </p:txBody>
      </p:sp>
      <p:sp>
        <p:nvSpPr>
          <p:cNvPr id="495" name="s495"/>
          <p:cNvSpPr/>
          <p:nvPr/>
        </p:nvSpPr>
        <p:spPr>
          <a:xfrm>
            <a:off x="4866640" y="5283200"/>
            <a:ext cx="40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496" name="s496"/>
          <p:cNvSpPr/>
          <p:nvPr/>
        </p:nvSpPr>
        <p:spPr>
          <a:xfrm>
            <a:off x="5552440" y="51181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97" name="s497"/>
          <p:cNvSpPr/>
          <p:nvPr/>
        </p:nvSpPr>
        <p:spPr>
          <a:xfrm>
            <a:off x="5552440" y="5283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5666740" y="52832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Inactive</a:t>
            </a:r>
          </a:p>
        </p:txBody>
      </p:sp>
      <p:sp>
        <p:nvSpPr>
          <p:cNvPr id="499" name="s499"/>
          <p:cNvSpPr/>
          <p:nvPr/>
        </p:nvSpPr>
        <p:spPr>
          <a:xfrm rot="10800000">
            <a:off x="8384540" y="53784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0" name="s500"/>
          <p:cNvSpPr/>
          <p:nvPr/>
        </p:nvSpPr>
        <p:spPr>
          <a:xfrm>
            <a:off x="2326640" y="5588000"/>
            <a:ext cx="6273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Categories stored</a:t>
            </a:r>
          </a:p>
        </p:txBody>
      </p:sp>
      <p:sp>
        <p:nvSpPr>
          <p:cNvPr id="501" name="s501"/>
          <p:cNvSpPr/>
          <p:nvPr/>
        </p:nvSpPr>
        <p:spPr>
          <a:xfrm>
            <a:off x="2326640" y="5753100"/>
            <a:ext cx="6273800" cy="38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2" name="s502"/>
          <p:cNvSpPr/>
          <p:nvPr/>
        </p:nvSpPr>
        <p:spPr>
          <a:xfrm>
            <a:off x="2440940" y="5829300"/>
            <a:ext cx="635000" cy="228600"/>
          </a:xfrm>
          <a:prstGeom prst="roundRect">
            <a:avLst>
              <a:gd name="adj" fmla="val 20000"/>
            </a:avLst>
          </a:prstGeom>
          <a:solidFill>
            <a:srgbClr val="2559A8">
              <a:alpha val="14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2440940" y="58293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Books</a:t>
            </a:r>
          </a:p>
        </p:txBody>
      </p:sp>
      <p:sp>
        <p:nvSpPr>
          <p:cNvPr id="504" name="s504"/>
          <p:cNvSpPr/>
          <p:nvPr/>
        </p:nvSpPr>
        <p:spPr>
          <a:xfrm>
            <a:off x="2898140" y="5829300"/>
            <a:ext cx="12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0" spc="0" dirty="0">
                <a:solidFill>
                  <a:srgbClr val="2559A8"/>
                </a:solidFill>
                <a:latin typeface="Calibri"/>
              </a:rPr>
              <a:t>✕</a:t>
            </a:r>
          </a:p>
        </p:txBody>
      </p:sp>
      <p:sp>
        <p:nvSpPr>
          <p:cNvPr id="505" name="s505"/>
          <p:cNvSpPr/>
          <p:nvPr/>
        </p:nvSpPr>
        <p:spPr>
          <a:xfrm>
            <a:off x="3152140" y="5829300"/>
            <a:ext cx="756920" cy="228600"/>
          </a:xfrm>
          <a:prstGeom prst="roundRect">
            <a:avLst>
              <a:gd name="adj" fmla="val 20000"/>
            </a:avLst>
          </a:prstGeom>
          <a:solidFill>
            <a:srgbClr val="2559A8">
              <a:alpha val="14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6" name="s506"/>
          <p:cNvSpPr/>
          <p:nvPr/>
        </p:nvSpPr>
        <p:spPr>
          <a:xfrm>
            <a:off x="3152140" y="5829300"/>
            <a:ext cx="629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Puzzles</a:t>
            </a:r>
          </a:p>
        </p:txBody>
      </p:sp>
      <p:sp>
        <p:nvSpPr>
          <p:cNvPr id="507" name="s507"/>
          <p:cNvSpPr/>
          <p:nvPr/>
        </p:nvSpPr>
        <p:spPr>
          <a:xfrm>
            <a:off x="3731260" y="5829300"/>
            <a:ext cx="12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0" spc="0" dirty="0">
                <a:solidFill>
                  <a:srgbClr val="2559A8"/>
                </a:solidFill>
                <a:latin typeface="Calibri"/>
              </a:rPr>
              <a:t>✕</a:t>
            </a:r>
          </a:p>
        </p:txBody>
      </p:sp>
      <p:sp>
        <p:nvSpPr>
          <p:cNvPr id="508" name="s508"/>
          <p:cNvSpPr/>
          <p:nvPr/>
        </p:nvSpPr>
        <p:spPr>
          <a:xfrm>
            <a:off x="3985260" y="5829300"/>
            <a:ext cx="878840" cy="228600"/>
          </a:xfrm>
          <a:prstGeom prst="roundRect">
            <a:avLst>
              <a:gd name="adj" fmla="val 20000"/>
            </a:avLst>
          </a:prstGeom>
          <a:solidFill>
            <a:srgbClr val="2559A8">
              <a:alpha val="14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3985260" y="5829300"/>
            <a:ext cx="751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Copybooks</a:t>
            </a:r>
          </a:p>
        </p:txBody>
      </p:sp>
      <p:sp>
        <p:nvSpPr>
          <p:cNvPr id="510" name="s510"/>
          <p:cNvSpPr/>
          <p:nvPr/>
        </p:nvSpPr>
        <p:spPr>
          <a:xfrm>
            <a:off x="4686300" y="5829300"/>
            <a:ext cx="12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0" spc="0" dirty="0">
                <a:solidFill>
                  <a:srgbClr val="2559A8"/>
                </a:solidFill>
                <a:latin typeface="Calibri"/>
              </a:rPr>
              <a:t>✕</a:t>
            </a:r>
          </a:p>
        </p:txBody>
      </p:sp>
      <p:sp>
        <p:nvSpPr>
          <p:cNvPr id="511" name="s511"/>
          <p:cNvSpPr/>
          <p:nvPr/>
        </p:nvSpPr>
        <p:spPr>
          <a:xfrm>
            <a:off x="4940300" y="5829300"/>
            <a:ext cx="1056640" cy="228600"/>
          </a:xfrm>
          <a:prstGeom prst="roundRect">
            <a:avLst>
              <a:gd name="adj" fmla="val 20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4940300" y="5829300"/>
            <a:ext cx="1056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Alphabet Cards</a:t>
            </a:r>
          </a:p>
        </p:txBody>
      </p:sp>
      <p:sp>
        <p:nvSpPr>
          <p:cNvPr id="513" name="s513"/>
          <p:cNvSpPr/>
          <p:nvPr/>
        </p:nvSpPr>
        <p:spPr>
          <a:xfrm>
            <a:off x="6073140" y="5829300"/>
            <a:ext cx="812800" cy="228600"/>
          </a:xfrm>
          <a:prstGeom prst="roundRect">
            <a:avLst>
              <a:gd name="adj" fmla="val 20000"/>
            </a:avLst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s514"/>
          <p:cNvSpPr/>
          <p:nvPr/>
        </p:nvSpPr>
        <p:spPr>
          <a:xfrm>
            <a:off x="6073140" y="58293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Game Cards</a:t>
            </a:r>
          </a:p>
        </p:txBody>
      </p:sp>
      <p:sp>
        <p:nvSpPr>
          <p:cNvPr id="515" name="s515"/>
          <p:cNvSpPr/>
          <p:nvPr/>
        </p:nvSpPr>
        <p:spPr>
          <a:xfrm>
            <a:off x="2326640" y="6210300"/>
            <a:ext cx="6273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Only the selected categories can be received at this warehouse.</a:t>
            </a:r>
          </a:p>
        </p:txBody>
      </p:sp>
      <p:sp>
        <p:nvSpPr>
          <p:cNvPr id="516" name="s516"/>
          <p:cNvSpPr/>
          <p:nvPr/>
        </p:nvSpPr>
        <p:spPr>
          <a:xfrm>
            <a:off x="8930640" y="1422400"/>
            <a:ext cx="3002280" cy="248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7" name="s517"/>
          <p:cNvSpPr/>
          <p:nvPr/>
        </p:nvSpPr>
        <p:spPr>
          <a:xfrm>
            <a:off x="9108440" y="1562100"/>
            <a:ext cx="2641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Location</a:t>
            </a:r>
          </a:p>
        </p:txBody>
      </p:sp>
      <p:sp>
        <p:nvSpPr>
          <p:cNvPr id="518" name="s518"/>
          <p:cNvSpPr/>
          <p:nvPr/>
        </p:nvSpPr>
        <p:spPr>
          <a:xfrm>
            <a:off x="9108440" y="1778000"/>
            <a:ext cx="2641600" cy="1346200"/>
          </a:xfrm>
          <a:prstGeom prst="roundRect">
            <a:avLst>
              <a:gd name="adj" fmla="val 8000"/>
            </a:avLst>
          </a:prstGeom>
          <a:solidFill>
            <a:srgbClr val="E6F1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9" name="s519"/>
          <p:cNvSpPr/>
          <p:nvPr/>
        </p:nvSpPr>
        <p:spPr>
          <a:xfrm>
            <a:off x="9108440" y="2260600"/>
            <a:ext cx="2641600" cy="381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s520"/>
          <p:cNvSpPr/>
          <p:nvPr/>
        </p:nvSpPr>
        <p:spPr>
          <a:xfrm>
            <a:off x="10096500" y="1778000"/>
            <a:ext cx="38100" cy="1346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1" name="s521"/>
          <p:cNvSpPr/>
          <p:nvPr/>
        </p:nvSpPr>
        <p:spPr>
          <a:xfrm>
            <a:off x="9108440" y="2717800"/>
            <a:ext cx="2641600" cy="254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10833100" y="1778000"/>
            <a:ext cx="25400" cy="13462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9423400" y="1930400"/>
            <a:ext cx="558800" cy="27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s524"/>
          <p:cNvSpPr/>
          <p:nvPr/>
        </p:nvSpPr>
        <p:spPr>
          <a:xfrm>
            <a:off x="10998200" y="2413000"/>
            <a:ext cx="5080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10007600" y="2413000"/>
            <a:ext cx="203200" cy="2032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10064750" y="2470150"/>
            <a:ext cx="88900" cy="88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7" name="s527"/>
          <p:cNvSpPr/>
          <p:nvPr/>
        </p:nvSpPr>
        <p:spPr>
          <a:xfrm>
            <a:off x="9108440" y="3200400"/>
            <a:ext cx="264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Kakata, Margibi County</a:t>
            </a:r>
          </a:p>
        </p:txBody>
      </p:sp>
      <p:sp>
        <p:nvSpPr>
          <p:cNvPr id="528" name="s528"/>
          <p:cNvSpPr/>
          <p:nvPr/>
        </p:nvSpPr>
        <p:spPr>
          <a:xfrm>
            <a:off x="9108440" y="33782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6.5203° N, 10.3536° W  ·  48 km from WH-01</a:t>
            </a:r>
          </a:p>
        </p:txBody>
      </p:sp>
      <p:sp>
        <p:nvSpPr>
          <p:cNvPr id="529" name="s529"/>
          <p:cNvSpPr/>
          <p:nvPr/>
        </p:nvSpPr>
        <p:spPr>
          <a:xfrm>
            <a:off x="9108440" y="3606800"/>
            <a:ext cx="1320800" cy="25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Drop pin</a:t>
            </a:r>
          </a:p>
        </p:txBody>
      </p:sp>
      <p:sp>
        <p:nvSpPr>
          <p:cNvPr id="530" name="s530"/>
          <p:cNvSpPr/>
          <p:nvPr/>
        </p:nvSpPr>
        <p:spPr>
          <a:xfrm>
            <a:off x="10502900" y="3606800"/>
            <a:ext cx="1244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Verify address</a:t>
            </a:r>
          </a:p>
        </p:txBody>
      </p:sp>
      <p:sp>
        <p:nvSpPr>
          <p:cNvPr id="531" name="s531"/>
          <p:cNvSpPr/>
          <p:nvPr/>
        </p:nvSpPr>
        <p:spPr>
          <a:xfrm>
            <a:off x="8930640" y="4089400"/>
            <a:ext cx="3002280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2" name="s532"/>
          <p:cNvSpPr/>
          <p:nvPr/>
        </p:nvSpPr>
        <p:spPr>
          <a:xfrm>
            <a:off x="9108440" y="4229100"/>
            <a:ext cx="2641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Network Impact</a:t>
            </a:r>
          </a:p>
        </p:txBody>
      </p:sp>
      <p:sp>
        <p:nvSpPr>
          <p:cNvPr id="533" name="s533"/>
          <p:cNvSpPr/>
          <p:nvPr/>
        </p:nvSpPr>
        <p:spPr>
          <a:xfrm>
            <a:off x="9108440" y="44450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Total capacity after saving</a:t>
            </a:r>
          </a:p>
        </p:txBody>
      </p:sp>
      <p:sp>
        <p:nvSpPr>
          <p:cNvPr id="534" name="s534"/>
          <p:cNvSpPr/>
          <p:nvPr/>
        </p:nvSpPr>
        <p:spPr>
          <a:xfrm>
            <a:off x="9108440" y="4597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10141A"/>
                </a:solidFill>
                <a:latin typeface="Arial"/>
              </a:rPr>
              <a:t>32,000</a:t>
            </a:r>
          </a:p>
        </p:txBody>
      </p:sp>
      <p:sp>
        <p:nvSpPr>
          <p:cNvPr id="535" name="s535"/>
          <p:cNvSpPr/>
          <p:nvPr/>
        </p:nvSpPr>
        <p:spPr>
          <a:xfrm>
            <a:off x="10629900" y="4622800"/>
            <a:ext cx="111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was 26,000</a:t>
            </a:r>
          </a:p>
        </p:txBody>
      </p:sp>
      <p:sp>
        <p:nvSpPr>
          <p:cNvPr id="536" name="s536"/>
          <p:cNvSpPr/>
          <p:nvPr/>
        </p:nvSpPr>
        <p:spPr>
          <a:xfrm>
            <a:off x="9108440" y="49784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7" name="s537"/>
          <p:cNvSpPr/>
          <p:nvPr/>
        </p:nvSpPr>
        <p:spPr>
          <a:xfrm>
            <a:off x="9108440" y="5080000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Network utilisation</a:t>
            </a:r>
          </a:p>
        </p:txBody>
      </p:sp>
      <p:sp>
        <p:nvSpPr>
          <p:cNvPr id="538" name="s538"/>
          <p:cNvSpPr/>
          <p:nvPr/>
        </p:nvSpPr>
        <p:spPr>
          <a:xfrm>
            <a:off x="10629900" y="5054600"/>
            <a:ext cx="1117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300" b="1" spc="0" dirty="0">
                <a:solidFill>
                  <a:srgbClr val="1E8E5A"/>
                </a:solidFill>
                <a:latin typeface="Arial"/>
              </a:rPr>
              <a:t>58%</a:t>
            </a:r>
          </a:p>
        </p:txBody>
      </p:sp>
      <p:sp>
        <p:nvSpPr>
          <p:cNvPr id="539" name="s539"/>
          <p:cNvSpPr/>
          <p:nvPr/>
        </p:nvSpPr>
        <p:spPr>
          <a:xfrm>
            <a:off x="9108440" y="5308600"/>
            <a:ext cx="2641600" cy="762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0" name="s540"/>
          <p:cNvSpPr/>
          <p:nvPr/>
        </p:nvSpPr>
        <p:spPr>
          <a:xfrm>
            <a:off x="9108440" y="5308600"/>
            <a:ext cx="1532128" cy="762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1" name="s541"/>
          <p:cNvSpPr/>
          <p:nvPr/>
        </p:nvSpPr>
        <p:spPr>
          <a:xfrm>
            <a:off x="9108440" y="54356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18,450 units across 4 warehouses</a:t>
            </a:r>
          </a:p>
        </p:txBody>
      </p:sp>
      <p:sp>
        <p:nvSpPr>
          <p:cNvPr id="542" name="s542"/>
          <p:cNvSpPr/>
          <p:nvPr/>
        </p:nvSpPr>
        <p:spPr>
          <a:xfrm>
            <a:off x="9108440" y="5689600"/>
            <a:ext cx="2641600" cy="711200"/>
          </a:xfrm>
          <a:prstGeom prst="roundRect">
            <a:avLst>
              <a:gd name="adj" fmla="val 6000"/>
            </a:avLst>
          </a:prstGeom>
          <a:solidFill>
            <a:srgbClr val="1E8E5A">
              <a:alpha val="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9108440" y="5689600"/>
            <a:ext cx="25400" cy="7112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4" name="s544"/>
          <p:cNvSpPr/>
          <p:nvPr/>
        </p:nvSpPr>
        <p:spPr>
          <a:xfrm>
            <a:off x="9260840" y="5791200"/>
            <a:ext cx="241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00" b="0" spc="0" dirty="0">
                <a:solidFill>
                  <a:srgbClr val="14603D"/>
                </a:solidFill>
                <a:latin typeface="Calibri"/>
              </a:rPr>
              <a:t>Adding 6,000 units of capacity brings the network from 71% to 58% and relieves WH-03 Gbarnga at 76%.</a:t>
            </a:r>
          </a:p>
        </p:txBody>
      </p:sp>
      <p:pic>
        <p:nvPicPr>
          <p:cNvPr id="545" name="Copied Picture 545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82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2" name="s412"/>
          <p:cNvSpPr/>
          <p:nvPr/>
        </p:nvSpPr>
        <p:spPr>
          <a:xfrm>
            <a:off x="101600" y="3263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101600" y="3263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Warehouses  ›  WH-01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368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Central Warehouse Monrovia</a:t>
            </a:r>
          </a:p>
        </p:txBody>
      </p:sp>
      <p:sp>
        <p:nvSpPr>
          <p:cNvPr id="443" name="s443"/>
          <p:cNvSpPr/>
          <p:nvPr/>
        </p:nvSpPr>
        <p:spPr>
          <a:xfrm>
            <a:off x="5778500" y="838200"/>
            <a:ext cx="558800" cy="215900"/>
          </a:xfrm>
          <a:prstGeom prst="roundRect">
            <a:avLst>
              <a:gd name="adj" fmla="val 20000"/>
            </a:avLst>
          </a:prstGeom>
          <a:solidFill>
            <a:srgbClr val="2559A8">
              <a:alpha val="14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WH-01</a:t>
            </a:r>
          </a:p>
        </p:txBody>
      </p:sp>
      <p:sp>
        <p:nvSpPr>
          <p:cNvPr id="444" name="s444"/>
          <p:cNvSpPr/>
          <p:nvPr/>
        </p:nvSpPr>
        <p:spPr>
          <a:xfrm>
            <a:off x="6413500" y="8382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6413500" y="8382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Operational</a:t>
            </a:r>
          </a:p>
        </p:txBody>
      </p:sp>
      <p:sp>
        <p:nvSpPr>
          <p:cNvPr id="446" name="s446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Bushrod Island, Monrovia, Montserrado County  ·  118 products  ·  opened 4 Feb 2019</a:t>
            </a:r>
          </a:p>
        </p:txBody>
      </p:sp>
      <p:sp>
        <p:nvSpPr>
          <p:cNvPr id="447" name="s447"/>
          <p:cNvSpPr/>
          <p:nvPr/>
        </p:nvSpPr>
        <p:spPr>
          <a:xfrm>
            <a:off x="10668000" y="812800"/>
            <a:ext cx="126492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8" name="s448"/>
          <p:cNvSpPr/>
          <p:nvPr/>
        </p:nvSpPr>
        <p:spPr>
          <a:xfrm>
            <a:off x="10668000" y="812800"/>
            <a:ext cx="12649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New Transfer</a:t>
            </a:r>
          </a:p>
        </p:txBody>
      </p:sp>
      <p:sp>
        <p:nvSpPr>
          <p:cNvPr id="449" name="s449"/>
          <p:cNvSpPr/>
          <p:nvPr/>
        </p:nvSpPr>
        <p:spPr>
          <a:xfrm>
            <a:off x="9961880" y="812800"/>
            <a:ext cx="57912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0" name="s450"/>
          <p:cNvSpPr/>
          <p:nvPr/>
        </p:nvSpPr>
        <p:spPr>
          <a:xfrm>
            <a:off x="9961880" y="812800"/>
            <a:ext cx="5791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Edit</a:t>
            </a:r>
          </a:p>
        </p:txBody>
      </p:sp>
      <p:sp>
        <p:nvSpPr>
          <p:cNvPr id="451" name="s451"/>
          <p:cNvSpPr/>
          <p:nvPr/>
        </p:nvSpPr>
        <p:spPr>
          <a:xfrm>
            <a:off x="214884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Overview</a:t>
            </a:r>
          </a:p>
        </p:txBody>
      </p:sp>
      <p:sp>
        <p:nvSpPr>
          <p:cNvPr id="452" name="s452"/>
          <p:cNvSpPr/>
          <p:nvPr/>
        </p:nvSpPr>
        <p:spPr>
          <a:xfrm>
            <a:off x="2148840" y="1574800"/>
            <a:ext cx="858520" cy="254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s453"/>
          <p:cNvSpPr/>
          <p:nvPr/>
        </p:nvSpPr>
        <p:spPr>
          <a:xfrm>
            <a:off x="3007360" y="1346200"/>
            <a:ext cx="9245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Inventory</a:t>
            </a:r>
          </a:p>
        </p:txBody>
      </p:sp>
      <p:sp>
        <p:nvSpPr>
          <p:cNvPr id="454" name="s454"/>
          <p:cNvSpPr/>
          <p:nvPr/>
        </p:nvSpPr>
        <p:spPr>
          <a:xfrm>
            <a:off x="3931920" y="1346200"/>
            <a:ext cx="9245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Movements</a:t>
            </a:r>
          </a:p>
        </p:txBody>
      </p:sp>
      <p:sp>
        <p:nvSpPr>
          <p:cNvPr id="455" name="s455"/>
          <p:cNvSpPr/>
          <p:nvPr/>
        </p:nvSpPr>
        <p:spPr>
          <a:xfrm>
            <a:off x="4856480" y="1346200"/>
            <a:ext cx="9245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Transfers</a:t>
            </a:r>
          </a:p>
        </p:txBody>
      </p:sp>
      <p:sp>
        <p:nvSpPr>
          <p:cNvPr id="456" name="s456"/>
          <p:cNvSpPr/>
          <p:nvPr/>
        </p:nvSpPr>
        <p:spPr>
          <a:xfrm>
            <a:off x="5781040" y="1346200"/>
            <a:ext cx="105664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Performance</a:t>
            </a:r>
          </a:p>
        </p:txBody>
      </p:sp>
      <p:sp>
        <p:nvSpPr>
          <p:cNvPr id="457" name="s457"/>
          <p:cNvSpPr/>
          <p:nvPr/>
        </p:nvSpPr>
        <p:spPr>
          <a:xfrm>
            <a:off x="2148840" y="1593850"/>
            <a:ext cx="978408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2148840" y="1752600"/>
            <a:ext cx="6604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2326640" y="1892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Capacity Utilisation</a:t>
            </a:r>
          </a:p>
        </p:txBody>
      </p:sp>
      <p:sp>
        <p:nvSpPr>
          <p:cNvPr id="460" name="s460"/>
          <p:cNvSpPr/>
          <p:nvPr/>
        </p:nvSpPr>
        <p:spPr>
          <a:xfrm>
            <a:off x="7178040" y="18923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Reviewed quarterly</a:t>
            </a:r>
          </a:p>
        </p:txBody>
      </p:sp>
      <p:sp>
        <p:nvSpPr>
          <p:cNvPr id="461" name="s461"/>
          <p:cNvSpPr/>
          <p:nvPr/>
        </p:nvSpPr>
        <p:spPr>
          <a:xfrm>
            <a:off x="2326640" y="21082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800" b="1" spc="0" dirty="0">
                <a:solidFill>
                  <a:srgbClr val="10141A"/>
                </a:solidFill>
                <a:latin typeface="Arial"/>
              </a:rPr>
              <a:t>75%</a:t>
            </a:r>
          </a:p>
        </p:txBody>
      </p:sp>
      <p:sp>
        <p:nvSpPr>
          <p:cNvPr id="462" name="s462"/>
          <p:cNvSpPr/>
          <p:nvPr/>
        </p:nvSpPr>
        <p:spPr>
          <a:xfrm>
            <a:off x="2326640" y="2514600"/>
            <a:ext cx="2286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8,940 of 12,000 units</a:t>
            </a:r>
          </a:p>
        </p:txBody>
      </p:sp>
      <p:sp>
        <p:nvSpPr>
          <p:cNvPr id="463" name="s463"/>
          <p:cNvSpPr/>
          <p:nvPr/>
        </p:nvSpPr>
        <p:spPr>
          <a:xfrm>
            <a:off x="2326640" y="2743200"/>
            <a:ext cx="3810000" cy="1016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2326640" y="2743200"/>
            <a:ext cx="2857500" cy="1016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2326640" y="2921000"/>
            <a:ext cx="381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1E8E5A"/>
                </a:solidFill>
                <a:latin typeface="Calibri"/>
              </a:rPr>
              <a:t>Target band 60 – 80%  ·  within range</a:t>
            </a:r>
          </a:p>
        </p:txBody>
      </p:sp>
      <p:sp>
        <p:nvSpPr>
          <p:cNvPr id="466" name="s466"/>
          <p:cNvSpPr/>
          <p:nvPr/>
        </p:nvSpPr>
        <p:spPr>
          <a:xfrm>
            <a:off x="2326640" y="3175000"/>
            <a:ext cx="1143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Available</a:t>
            </a:r>
          </a:p>
        </p:txBody>
      </p:sp>
      <p:sp>
        <p:nvSpPr>
          <p:cNvPr id="467" name="s467"/>
          <p:cNvSpPr/>
          <p:nvPr/>
        </p:nvSpPr>
        <p:spPr>
          <a:xfrm>
            <a:off x="2326640" y="33147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E8E5A"/>
                </a:solidFill>
                <a:latin typeface="Arial"/>
              </a:rPr>
              <a:t>3,060</a:t>
            </a:r>
          </a:p>
        </p:txBody>
      </p:sp>
      <p:sp>
        <p:nvSpPr>
          <p:cNvPr id="468" name="s468"/>
          <p:cNvSpPr/>
          <p:nvPr/>
        </p:nvSpPr>
        <p:spPr>
          <a:xfrm>
            <a:off x="3596640" y="3175000"/>
            <a:ext cx="1143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Reserved</a:t>
            </a:r>
          </a:p>
        </p:txBody>
      </p:sp>
      <p:sp>
        <p:nvSpPr>
          <p:cNvPr id="469" name="s469"/>
          <p:cNvSpPr/>
          <p:nvPr/>
        </p:nvSpPr>
        <p:spPr>
          <a:xfrm>
            <a:off x="3596640" y="33147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D08700"/>
                </a:solidFill>
                <a:latin typeface="Arial"/>
              </a:rPr>
              <a:t>640</a:t>
            </a:r>
          </a:p>
        </p:txBody>
      </p:sp>
      <p:sp>
        <p:nvSpPr>
          <p:cNvPr id="470" name="s470"/>
          <p:cNvSpPr/>
          <p:nvPr/>
        </p:nvSpPr>
        <p:spPr>
          <a:xfrm>
            <a:off x="4866640" y="3175000"/>
            <a:ext cx="1143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Incoming</a:t>
            </a:r>
          </a:p>
        </p:txBody>
      </p:sp>
      <p:sp>
        <p:nvSpPr>
          <p:cNvPr id="471" name="s471"/>
          <p:cNvSpPr/>
          <p:nvPr/>
        </p:nvSpPr>
        <p:spPr>
          <a:xfrm>
            <a:off x="4866640" y="33147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2C6ECB"/>
                </a:solidFill>
                <a:latin typeface="Arial"/>
              </a:rPr>
              <a:t>400</a:t>
            </a:r>
          </a:p>
        </p:txBody>
      </p:sp>
      <p:sp>
        <p:nvSpPr>
          <p:cNvPr id="472" name="s472"/>
          <p:cNvSpPr/>
          <p:nvPr/>
        </p:nvSpPr>
        <p:spPr>
          <a:xfrm>
            <a:off x="6388100" y="2032000"/>
            <a:ext cx="6350" cy="132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3" name="s473"/>
          <p:cNvSpPr/>
          <p:nvPr/>
        </p:nvSpPr>
        <p:spPr>
          <a:xfrm>
            <a:off x="6591300" y="2082800"/>
            <a:ext cx="203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Units by category</a:t>
            </a:r>
          </a:p>
        </p:txBody>
      </p:sp>
      <p:sp>
        <p:nvSpPr>
          <p:cNvPr id="474" name="s474"/>
          <p:cNvSpPr/>
          <p:nvPr/>
        </p:nvSpPr>
        <p:spPr>
          <a:xfrm>
            <a:off x="6591300" y="2286000"/>
            <a:ext cx="939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Books</a:t>
            </a:r>
          </a:p>
        </p:txBody>
      </p:sp>
      <p:sp>
        <p:nvSpPr>
          <p:cNvPr id="475" name="s475"/>
          <p:cNvSpPr/>
          <p:nvPr/>
        </p:nvSpPr>
        <p:spPr>
          <a:xfrm>
            <a:off x="7581900" y="2336800"/>
            <a:ext cx="66040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6" name="s476"/>
          <p:cNvSpPr/>
          <p:nvPr/>
        </p:nvSpPr>
        <p:spPr>
          <a:xfrm>
            <a:off x="7581900" y="2336800"/>
            <a:ext cx="660400" cy="635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7" name="s477"/>
          <p:cNvSpPr/>
          <p:nvPr/>
        </p:nvSpPr>
        <p:spPr>
          <a:xfrm>
            <a:off x="8293100" y="22860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10141A"/>
                </a:solidFill>
                <a:latin typeface="Arial"/>
              </a:rPr>
              <a:t>3,420</a:t>
            </a:r>
          </a:p>
        </p:txBody>
      </p:sp>
      <p:sp>
        <p:nvSpPr>
          <p:cNvPr id="478" name="s478"/>
          <p:cNvSpPr/>
          <p:nvPr/>
        </p:nvSpPr>
        <p:spPr>
          <a:xfrm>
            <a:off x="6591300" y="2501900"/>
            <a:ext cx="939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Puzzles</a:t>
            </a:r>
          </a:p>
        </p:txBody>
      </p:sp>
      <p:sp>
        <p:nvSpPr>
          <p:cNvPr id="479" name="s479"/>
          <p:cNvSpPr/>
          <p:nvPr/>
        </p:nvSpPr>
        <p:spPr>
          <a:xfrm>
            <a:off x="7581900" y="2552700"/>
            <a:ext cx="66040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0" name="s480"/>
          <p:cNvSpPr/>
          <p:nvPr/>
        </p:nvSpPr>
        <p:spPr>
          <a:xfrm>
            <a:off x="7581900" y="2552700"/>
            <a:ext cx="382337" cy="635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1" name="s481"/>
          <p:cNvSpPr/>
          <p:nvPr/>
        </p:nvSpPr>
        <p:spPr>
          <a:xfrm>
            <a:off x="8293100" y="25019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10141A"/>
                </a:solidFill>
                <a:latin typeface="Arial"/>
              </a:rPr>
              <a:t>1,980</a:t>
            </a:r>
          </a:p>
        </p:txBody>
      </p:sp>
      <p:sp>
        <p:nvSpPr>
          <p:cNvPr id="482" name="s482"/>
          <p:cNvSpPr/>
          <p:nvPr/>
        </p:nvSpPr>
        <p:spPr>
          <a:xfrm>
            <a:off x="6591300" y="2717800"/>
            <a:ext cx="939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Copybooks</a:t>
            </a:r>
          </a:p>
        </p:txBody>
      </p:sp>
      <p:sp>
        <p:nvSpPr>
          <p:cNvPr id="483" name="s483"/>
          <p:cNvSpPr/>
          <p:nvPr/>
        </p:nvSpPr>
        <p:spPr>
          <a:xfrm>
            <a:off x="7581900" y="2768600"/>
            <a:ext cx="66040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4" name="s484"/>
          <p:cNvSpPr/>
          <p:nvPr/>
        </p:nvSpPr>
        <p:spPr>
          <a:xfrm>
            <a:off x="7581900" y="2768600"/>
            <a:ext cx="278063" cy="635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8293100" y="27178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10141A"/>
                </a:solidFill>
                <a:latin typeface="Arial"/>
              </a:rPr>
              <a:t>1,440</a:t>
            </a:r>
          </a:p>
        </p:txBody>
      </p:sp>
      <p:sp>
        <p:nvSpPr>
          <p:cNvPr id="486" name="s486"/>
          <p:cNvSpPr/>
          <p:nvPr/>
        </p:nvSpPr>
        <p:spPr>
          <a:xfrm>
            <a:off x="6591300" y="2933700"/>
            <a:ext cx="939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Alphabet Cards</a:t>
            </a:r>
          </a:p>
        </p:txBody>
      </p:sp>
      <p:sp>
        <p:nvSpPr>
          <p:cNvPr id="487" name="s487"/>
          <p:cNvSpPr/>
          <p:nvPr/>
        </p:nvSpPr>
        <p:spPr>
          <a:xfrm>
            <a:off x="7581900" y="2984500"/>
            <a:ext cx="66040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7581900" y="2984500"/>
            <a:ext cx="243305" cy="635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8293100" y="29337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490" name="s490"/>
          <p:cNvSpPr/>
          <p:nvPr/>
        </p:nvSpPr>
        <p:spPr>
          <a:xfrm>
            <a:off x="6591300" y="3149600"/>
            <a:ext cx="939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10141A"/>
                </a:solidFill>
                <a:latin typeface="Calibri"/>
              </a:rPr>
              <a:t>Game Cards</a:t>
            </a:r>
          </a:p>
        </p:txBody>
      </p:sp>
      <p:sp>
        <p:nvSpPr>
          <p:cNvPr id="491" name="s491"/>
          <p:cNvSpPr/>
          <p:nvPr/>
        </p:nvSpPr>
        <p:spPr>
          <a:xfrm>
            <a:off x="7581900" y="3200400"/>
            <a:ext cx="660400" cy="635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7581900" y="3200400"/>
            <a:ext cx="173789" cy="635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8293100" y="31496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0" dirty="0">
                <a:solidFill>
                  <a:srgbClr val="10141A"/>
                </a:solidFill>
                <a:latin typeface="Arial"/>
              </a:rPr>
              <a:t>860</a:t>
            </a:r>
          </a:p>
        </p:txBody>
      </p:sp>
      <p:sp>
        <p:nvSpPr>
          <p:cNvPr id="494" name="s494"/>
          <p:cNvSpPr/>
          <p:nvPr/>
        </p:nvSpPr>
        <p:spPr>
          <a:xfrm>
            <a:off x="2148840" y="3708400"/>
            <a:ext cx="6604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2326640" y="38481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Recent Movements</a:t>
            </a:r>
          </a:p>
        </p:txBody>
      </p:sp>
      <p:sp>
        <p:nvSpPr>
          <p:cNvPr id="496" name="s496"/>
          <p:cNvSpPr/>
          <p:nvPr/>
        </p:nvSpPr>
        <p:spPr>
          <a:xfrm>
            <a:off x="7178040" y="38481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View all</a:t>
            </a:r>
          </a:p>
        </p:txBody>
      </p:sp>
      <p:sp>
        <p:nvSpPr>
          <p:cNvPr id="497" name="s497"/>
          <p:cNvSpPr/>
          <p:nvPr/>
        </p:nvSpPr>
        <p:spPr>
          <a:xfrm>
            <a:off x="2326640" y="4089400"/>
            <a:ext cx="889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DATE</a:t>
            </a:r>
          </a:p>
        </p:txBody>
      </p:sp>
      <p:sp>
        <p:nvSpPr>
          <p:cNvPr id="498" name="s498"/>
          <p:cNvSpPr/>
          <p:nvPr/>
        </p:nvSpPr>
        <p:spPr>
          <a:xfrm>
            <a:off x="3266440" y="4089400"/>
            <a:ext cx="1498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99" name="s499"/>
          <p:cNvSpPr/>
          <p:nvPr/>
        </p:nvSpPr>
        <p:spPr>
          <a:xfrm>
            <a:off x="4815840" y="4089400"/>
            <a:ext cx="558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QTY</a:t>
            </a:r>
          </a:p>
        </p:txBody>
      </p:sp>
      <p:sp>
        <p:nvSpPr>
          <p:cNvPr id="500" name="s500"/>
          <p:cNvSpPr/>
          <p:nvPr/>
        </p:nvSpPr>
        <p:spPr>
          <a:xfrm>
            <a:off x="5654040" y="4089400"/>
            <a:ext cx="812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TYPE</a:t>
            </a:r>
          </a:p>
        </p:txBody>
      </p:sp>
      <p:sp>
        <p:nvSpPr>
          <p:cNvPr id="501" name="s501"/>
          <p:cNvSpPr/>
          <p:nvPr/>
        </p:nvSpPr>
        <p:spPr>
          <a:xfrm>
            <a:off x="6517640" y="4089400"/>
            <a:ext cx="990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COUNTERPARTY</a:t>
            </a:r>
          </a:p>
        </p:txBody>
      </p:sp>
      <p:sp>
        <p:nvSpPr>
          <p:cNvPr id="502" name="s502"/>
          <p:cNvSpPr/>
          <p:nvPr/>
        </p:nvSpPr>
        <p:spPr>
          <a:xfrm>
            <a:off x="7559040" y="4089400"/>
            <a:ext cx="990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REFERENCE</a:t>
            </a:r>
          </a:p>
        </p:txBody>
      </p:sp>
      <p:sp>
        <p:nvSpPr>
          <p:cNvPr id="503" name="s503"/>
          <p:cNvSpPr/>
          <p:nvPr/>
        </p:nvSpPr>
        <p:spPr>
          <a:xfrm>
            <a:off x="2148840" y="4089400"/>
            <a:ext cx="660400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4" name="s504"/>
          <p:cNvSpPr/>
          <p:nvPr/>
        </p:nvSpPr>
        <p:spPr>
          <a:xfrm>
            <a:off x="2326640" y="4089400"/>
            <a:ext cx="889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DATE</a:t>
            </a:r>
          </a:p>
        </p:txBody>
      </p:sp>
      <p:sp>
        <p:nvSpPr>
          <p:cNvPr id="505" name="s505"/>
          <p:cNvSpPr/>
          <p:nvPr/>
        </p:nvSpPr>
        <p:spPr>
          <a:xfrm>
            <a:off x="3266440" y="4089400"/>
            <a:ext cx="1498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506" name="s506"/>
          <p:cNvSpPr/>
          <p:nvPr/>
        </p:nvSpPr>
        <p:spPr>
          <a:xfrm>
            <a:off x="4815840" y="4089400"/>
            <a:ext cx="558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QTY</a:t>
            </a:r>
          </a:p>
        </p:txBody>
      </p:sp>
      <p:sp>
        <p:nvSpPr>
          <p:cNvPr id="507" name="s507"/>
          <p:cNvSpPr/>
          <p:nvPr/>
        </p:nvSpPr>
        <p:spPr>
          <a:xfrm>
            <a:off x="5654040" y="4089400"/>
            <a:ext cx="812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TYPE</a:t>
            </a:r>
          </a:p>
        </p:txBody>
      </p:sp>
      <p:sp>
        <p:nvSpPr>
          <p:cNvPr id="508" name="s508"/>
          <p:cNvSpPr/>
          <p:nvPr/>
        </p:nvSpPr>
        <p:spPr>
          <a:xfrm>
            <a:off x="6517640" y="4089400"/>
            <a:ext cx="990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COUNTERPARTY</a:t>
            </a:r>
          </a:p>
        </p:txBody>
      </p:sp>
      <p:sp>
        <p:nvSpPr>
          <p:cNvPr id="509" name="s509"/>
          <p:cNvSpPr/>
          <p:nvPr/>
        </p:nvSpPr>
        <p:spPr>
          <a:xfrm>
            <a:off x="7559040" y="4089400"/>
            <a:ext cx="990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REFERENCE</a:t>
            </a:r>
          </a:p>
        </p:txBody>
      </p:sp>
      <p:sp>
        <p:nvSpPr>
          <p:cNvPr id="510" name="s510"/>
          <p:cNvSpPr/>
          <p:nvPr/>
        </p:nvSpPr>
        <p:spPr>
          <a:xfrm>
            <a:off x="2148840" y="46545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1" name="s511"/>
          <p:cNvSpPr/>
          <p:nvPr/>
        </p:nvSpPr>
        <p:spPr>
          <a:xfrm>
            <a:off x="2148840" y="43942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2326640" y="43561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7 Jan</a:t>
            </a:r>
          </a:p>
        </p:txBody>
      </p:sp>
      <p:sp>
        <p:nvSpPr>
          <p:cNvPr id="513" name="s513"/>
          <p:cNvSpPr/>
          <p:nvPr/>
        </p:nvSpPr>
        <p:spPr>
          <a:xfrm>
            <a:off x="3266440" y="43561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14" name="s514"/>
          <p:cNvSpPr/>
          <p:nvPr/>
        </p:nvSpPr>
        <p:spPr>
          <a:xfrm>
            <a:off x="4815840" y="43561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−316</a:t>
            </a:r>
          </a:p>
        </p:txBody>
      </p:sp>
      <p:sp>
        <p:nvSpPr>
          <p:cNvPr id="515" name="s515"/>
          <p:cNvSpPr/>
          <p:nvPr/>
        </p:nvSpPr>
        <p:spPr>
          <a:xfrm>
            <a:off x="5654040" y="4419600"/>
            <a:ext cx="7874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6" name="s516"/>
          <p:cNvSpPr/>
          <p:nvPr/>
        </p:nvSpPr>
        <p:spPr>
          <a:xfrm>
            <a:off x="5654040" y="4419600"/>
            <a:ext cx="787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517" name="s517"/>
          <p:cNvSpPr/>
          <p:nvPr/>
        </p:nvSpPr>
        <p:spPr>
          <a:xfrm>
            <a:off x="6517640" y="43561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Nimba Community</a:t>
            </a:r>
          </a:p>
        </p:txBody>
      </p:sp>
      <p:sp>
        <p:nvSpPr>
          <p:cNvPr id="518" name="s518"/>
          <p:cNvSpPr/>
          <p:nvPr/>
        </p:nvSpPr>
        <p:spPr>
          <a:xfrm>
            <a:off x="7559040" y="43561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ORD-0086</a:t>
            </a:r>
          </a:p>
        </p:txBody>
      </p:sp>
      <p:sp>
        <p:nvSpPr>
          <p:cNvPr id="519" name="s519"/>
          <p:cNvSpPr/>
          <p:nvPr/>
        </p:nvSpPr>
        <p:spPr>
          <a:xfrm>
            <a:off x="2148840" y="49593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s520"/>
          <p:cNvSpPr/>
          <p:nvPr/>
        </p:nvSpPr>
        <p:spPr>
          <a:xfrm>
            <a:off x="2148840" y="46990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1" name="s521"/>
          <p:cNvSpPr/>
          <p:nvPr/>
        </p:nvSpPr>
        <p:spPr>
          <a:xfrm>
            <a:off x="2326640" y="46609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7 Jan</a:t>
            </a:r>
          </a:p>
        </p:txBody>
      </p:sp>
      <p:sp>
        <p:nvSpPr>
          <p:cNvPr id="522" name="s522"/>
          <p:cNvSpPr/>
          <p:nvPr/>
        </p:nvSpPr>
        <p:spPr>
          <a:xfrm>
            <a:off x="3266440" y="46609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Handwriting Copybook</a:t>
            </a:r>
          </a:p>
        </p:txBody>
      </p:sp>
      <p:sp>
        <p:nvSpPr>
          <p:cNvPr id="523" name="s523"/>
          <p:cNvSpPr/>
          <p:nvPr/>
        </p:nvSpPr>
        <p:spPr>
          <a:xfrm>
            <a:off x="4815840" y="46609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−180</a:t>
            </a:r>
          </a:p>
        </p:txBody>
      </p:sp>
      <p:sp>
        <p:nvSpPr>
          <p:cNvPr id="524" name="s524"/>
          <p:cNvSpPr/>
          <p:nvPr/>
        </p:nvSpPr>
        <p:spPr>
          <a:xfrm>
            <a:off x="5654040" y="4724400"/>
            <a:ext cx="7874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5654040" y="4724400"/>
            <a:ext cx="787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2C6ECB"/>
                </a:solidFill>
                <a:latin typeface="Calibri"/>
              </a:rPr>
              <a:t>Sale</a:t>
            </a:r>
          </a:p>
        </p:txBody>
      </p:sp>
      <p:sp>
        <p:nvSpPr>
          <p:cNvPr id="526" name="s526"/>
          <p:cNvSpPr/>
          <p:nvPr/>
        </p:nvSpPr>
        <p:spPr>
          <a:xfrm>
            <a:off x="6517640" y="46609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St. Teresa Primary</a:t>
            </a:r>
          </a:p>
        </p:txBody>
      </p:sp>
      <p:sp>
        <p:nvSpPr>
          <p:cNvPr id="527" name="s527"/>
          <p:cNvSpPr/>
          <p:nvPr/>
        </p:nvSpPr>
        <p:spPr>
          <a:xfrm>
            <a:off x="7559040" y="46609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ORD-0085</a:t>
            </a:r>
          </a:p>
        </p:txBody>
      </p:sp>
      <p:sp>
        <p:nvSpPr>
          <p:cNvPr id="528" name="s528"/>
          <p:cNvSpPr/>
          <p:nvPr/>
        </p:nvSpPr>
        <p:spPr>
          <a:xfrm>
            <a:off x="2148840" y="52641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9" name="s529"/>
          <p:cNvSpPr/>
          <p:nvPr/>
        </p:nvSpPr>
        <p:spPr>
          <a:xfrm>
            <a:off x="2148840" y="50038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0" name="s530"/>
          <p:cNvSpPr/>
          <p:nvPr/>
        </p:nvSpPr>
        <p:spPr>
          <a:xfrm>
            <a:off x="2326640" y="49657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5 Jan</a:t>
            </a:r>
          </a:p>
        </p:txBody>
      </p:sp>
      <p:sp>
        <p:nvSpPr>
          <p:cNvPr id="531" name="s531"/>
          <p:cNvSpPr/>
          <p:nvPr/>
        </p:nvSpPr>
        <p:spPr>
          <a:xfrm>
            <a:off x="3266440" y="49657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32" name="s532"/>
          <p:cNvSpPr/>
          <p:nvPr/>
        </p:nvSpPr>
        <p:spPr>
          <a:xfrm>
            <a:off x="4815840" y="49657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+400</a:t>
            </a:r>
          </a:p>
        </p:txBody>
      </p:sp>
      <p:sp>
        <p:nvSpPr>
          <p:cNvPr id="533" name="s533"/>
          <p:cNvSpPr/>
          <p:nvPr/>
        </p:nvSpPr>
        <p:spPr>
          <a:xfrm>
            <a:off x="5654040" y="5029200"/>
            <a:ext cx="7874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5654040" y="5029200"/>
            <a:ext cx="787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Purchase</a:t>
            </a:r>
          </a:p>
        </p:txBody>
      </p:sp>
      <p:sp>
        <p:nvSpPr>
          <p:cNvPr id="535" name="s535"/>
          <p:cNvSpPr/>
          <p:nvPr/>
        </p:nvSpPr>
        <p:spPr>
          <a:xfrm>
            <a:off x="6517640" y="49657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Kakata Paper Mills</a:t>
            </a:r>
          </a:p>
        </p:txBody>
      </p:sp>
      <p:sp>
        <p:nvSpPr>
          <p:cNvPr id="536" name="s536"/>
          <p:cNvSpPr/>
          <p:nvPr/>
        </p:nvSpPr>
        <p:spPr>
          <a:xfrm>
            <a:off x="7559040" y="49657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PO-0117</a:t>
            </a:r>
          </a:p>
        </p:txBody>
      </p:sp>
      <p:sp>
        <p:nvSpPr>
          <p:cNvPr id="537" name="s537"/>
          <p:cNvSpPr/>
          <p:nvPr/>
        </p:nvSpPr>
        <p:spPr>
          <a:xfrm>
            <a:off x="2148840" y="55689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2148840" y="53086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2326640" y="52705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5 Jan</a:t>
            </a:r>
          </a:p>
        </p:txBody>
      </p:sp>
      <p:sp>
        <p:nvSpPr>
          <p:cNvPr id="540" name="s540"/>
          <p:cNvSpPr/>
          <p:nvPr/>
        </p:nvSpPr>
        <p:spPr>
          <a:xfrm>
            <a:off x="3266440" y="52705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Numbers Puzzle</a:t>
            </a:r>
          </a:p>
        </p:txBody>
      </p:sp>
      <p:sp>
        <p:nvSpPr>
          <p:cNvPr id="541" name="s541"/>
          <p:cNvSpPr/>
          <p:nvPr/>
        </p:nvSpPr>
        <p:spPr>
          <a:xfrm>
            <a:off x="4815840" y="52705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+340</a:t>
            </a:r>
          </a:p>
        </p:txBody>
      </p:sp>
      <p:sp>
        <p:nvSpPr>
          <p:cNvPr id="542" name="s542"/>
          <p:cNvSpPr/>
          <p:nvPr/>
        </p:nvSpPr>
        <p:spPr>
          <a:xfrm>
            <a:off x="5654040" y="5334000"/>
            <a:ext cx="7874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5654040" y="5334000"/>
            <a:ext cx="787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Purchase</a:t>
            </a:r>
          </a:p>
        </p:txBody>
      </p:sp>
      <p:sp>
        <p:nvSpPr>
          <p:cNvPr id="544" name="s544"/>
          <p:cNvSpPr/>
          <p:nvPr/>
        </p:nvSpPr>
        <p:spPr>
          <a:xfrm>
            <a:off x="6517640" y="52705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Kakata Paper Mills</a:t>
            </a:r>
          </a:p>
        </p:txBody>
      </p:sp>
      <p:sp>
        <p:nvSpPr>
          <p:cNvPr id="545" name="s545"/>
          <p:cNvSpPr/>
          <p:nvPr/>
        </p:nvSpPr>
        <p:spPr>
          <a:xfrm>
            <a:off x="7559040" y="52705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PO-0117</a:t>
            </a:r>
          </a:p>
        </p:txBody>
      </p:sp>
      <p:sp>
        <p:nvSpPr>
          <p:cNvPr id="546" name="s546"/>
          <p:cNvSpPr/>
          <p:nvPr/>
        </p:nvSpPr>
        <p:spPr>
          <a:xfrm>
            <a:off x="2148840" y="58737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7" name="s547"/>
          <p:cNvSpPr/>
          <p:nvPr/>
        </p:nvSpPr>
        <p:spPr>
          <a:xfrm>
            <a:off x="2148840" y="56134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2326640" y="55753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4 Jan</a:t>
            </a:r>
          </a:p>
        </p:txBody>
      </p:sp>
      <p:sp>
        <p:nvSpPr>
          <p:cNvPr id="549" name="s549"/>
          <p:cNvSpPr/>
          <p:nvPr/>
        </p:nvSpPr>
        <p:spPr>
          <a:xfrm>
            <a:off x="3266440" y="55753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550" name="s550"/>
          <p:cNvSpPr/>
          <p:nvPr/>
        </p:nvSpPr>
        <p:spPr>
          <a:xfrm>
            <a:off x="4815840" y="55753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−12</a:t>
            </a:r>
          </a:p>
        </p:txBody>
      </p:sp>
      <p:sp>
        <p:nvSpPr>
          <p:cNvPr id="551" name="s551"/>
          <p:cNvSpPr/>
          <p:nvPr/>
        </p:nvSpPr>
        <p:spPr>
          <a:xfrm>
            <a:off x="5654040" y="5638800"/>
            <a:ext cx="7874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2" name="s552"/>
          <p:cNvSpPr/>
          <p:nvPr/>
        </p:nvSpPr>
        <p:spPr>
          <a:xfrm>
            <a:off x="5654040" y="5638800"/>
            <a:ext cx="787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B3261E"/>
                </a:solidFill>
                <a:latin typeface="Calibri"/>
              </a:rPr>
              <a:t>Damaged</a:t>
            </a:r>
          </a:p>
        </p:txBody>
      </p:sp>
      <p:sp>
        <p:nvSpPr>
          <p:cNvPr id="553" name="s553"/>
          <p:cNvSpPr/>
          <p:nvPr/>
        </p:nvSpPr>
        <p:spPr>
          <a:xfrm>
            <a:off x="6517640" y="55753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Write-off</a:t>
            </a:r>
          </a:p>
        </p:txBody>
      </p:sp>
      <p:sp>
        <p:nvSpPr>
          <p:cNvPr id="554" name="s554"/>
          <p:cNvSpPr/>
          <p:nvPr/>
        </p:nvSpPr>
        <p:spPr>
          <a:xfrm>
            <a:off x="7559040" y="55753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ADJ-0019</a:t>
            </a:r>
          </a:p>
        </p:txBody>
      </p:sp>
      <p:sp>
        <p:nvSpPr>
          <p:cNvPr id="555" name="s555"/>
          <p:cNvSpPr/>
          <p:nvPr/>
        </p:nvSpPr>
        <p:spPr>
          <a:xfrm>
            <a:off x="2148840" y="61785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6" name="s556"/>
          <p:cNvSpPr/>
          <p:nvPr/>
        </p:nvSpPr>
        <p:spPr>
          <a:xfrm>
            <a:off x="2148840" y="59182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7" name="s557"/>
          <p:cNvSpPr/>
          <p:nvPr/>
        </p:nvSpPr>
        <p:spPr>
          <a:xfrm>
            <a:off x="2326640" y="5880100"/>
            <a:ext cx="88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3 Jan</a:t>
            </a:r>
          </a:p>
        </p:txBody>
      </p:sp>
      <p:sp>
        <p:nvSpPr>
          <p:cNvPr id="558" name="s558"/>
          <p:cNvSpPr/>
          <p:nvPr/>
        </p:nvSpPr>
        <p:spPr>
          <a:xfrm>
            <a:off x="3266440" y="5880100"/>
            <a:ext cx="1498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59" name="s559"/>
          <p:cNvSpPr/>
          <p:nvPr/>
        </p:nvSpPr>
        <p:spPr>
          <a:xfrm>
            <a:off x="4815840" y="58801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−200</a:t>
            </a:r>
          </a:p>
        </p:txBody>
      </p:sp>
      <p:sp>
        <p:nvSpPr>
          <p:cNvPr id="560" name="s560"/>
          <p:cNvSpPr/>
          <p:nvPr/>
        </p:nvSpPr>
        <p:spPr>
          <a:xfrm>
            <a:off x="5654040" y="5943600"/>
            <a:ext cx="7874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1" name="s561"/>
          <p:cNvSpPr/>
          <p:nvPr/>
        </p:nvSpPr>
        <p:spPr>
          <a:xfrm>
            <a:off x="5654040" y="5943600"/>
            <a:ext cx="787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Transfer</a:t>
            </a:r>
          </a:p>
        </p:txBody>
      </p:sp>
      <p:sp>
        <p:nvSpPr>
          <p:cNvPr id="562" name="s562"/>
          <p:cNvSpPr/>
          <p:nvPr/>
        </p:nvSpPr>
        <p:spPr>
          <a:xfrm>
            <a:off x="6517640" y="58801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WH-02 Paynesville</a:t>
            </a:r>
          </a:p>
        </p:txBody>
      </p:sp>
      <p:sp>
        <p:nvSpPr>
          <p:cNvPr id="563" name="s563"/>
          <p:cNvSpPr/>
          <p:nvPr/>
        </p:nvSpPr>
        <p:spPr>
          <a:xfrm>
            <a:off x="7559040" y="58801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TRF-0042</a:t>
            </a:r>
          </a:p>
        </p:txBody>
      </p:sp>
      <p:sp>
        <p:nvSpPr>
          <p:cNvPr id="564" name="s564"/>
          <p:cNvSpPr/>
          <p:nvPr/>
        </p:nvSpPr>
        <p:spPr>
          <a:xfrm>
            <a:off x="2326640" y="6121400"/>
            <a:ext cx="431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6 of 428 movements at this warehouse in the last 30 days</a:t>
            </a:r>
          </a:p>
        </p:txBody>
      </p:sp>
      <p:sp>
        <p:nvSpPr>
          <p:cNvPr id="565" name="s565"/>
          <p:cNvSpPr/>
          <p:nvPr/>
        </p:nvSpPr>
        <p:spPr>
          <a:xfrm>
            <a:off x="8930640" y="1752600"/>
            <a:ext cx="300228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6" name="s566"/>
          <p:cNvSpPr/>
          <p:nvPr/>
        </p:nvSpPr>
        <p:spPr>
          <a:xfrm>
            <a:off x="9108440" y="1892300"/>
            <a:ext cx="2641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Manager &amp; Contact</a:t>
            </a:r>
          </a:p>
        </p:txBody>
      </p:sp>
      <p:sp>
        <p:nvSpPr>
          <p:cNvPr id="567" name="s567"/>
          <p:cNvSpPr/>
          <p:nvPr/>
        </p:nvSpPr>
        <p:spPr>
          <a:xfrm>
            <a:off x="9108440" y="2108200"/>
            <a:ext cx="457200" cy="457200"/>
          </a:xfrm>
          <a:prstGeom prst="ellipse">
            <a:avLst/>
          </a:prstGeom>
          <a:solidFill>
            <a:srgbClr val="2559A8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8" name="s568"/>
          <p:cNvSpPr/>
          <p:nvPr/>
        </p:nvSpPr>
        <p:spPr>
          <a:xfrm>
            <a:off x="9108440" y="2108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0" dirty="0">
                <a:solidFill>
                  <a:srgbClr val="2559A8"/>
                </a:solidFill>
                <a:latin typeface="Calibri"/>
              </a:rPr>
              <a:t>SW</a:t>
            </a:r>
          </a:p>
        </p:txBody>
      </p:sp>
      <p:sp>
        <p:nvSpPr>
          <p:cNvPr id="569" name="s569"/>
          <p:cNvSpPr/>
          <p:nvPr/>
        </p:nvSpPr>
        <p:spPr>
          <a:xfrm>
            <a:off x="9664700" y="21336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570" name="s570"/>
          <p:cNvSpPr/>
          <p:nvPr/>
        </p:nvSpPr>
        <p:spPr>
          <a:xfrm>
            <a:off x="9664700" y="2311400"/>
            <a:ext cx="2082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Warehouse Manager  ·  EMP-006</a:t>
            </a:r>
          </a:p>
        </p:txBody>
      </p:sp>
      <p:sp>
        <p:nvSpPr>
          <p:cNvPr id="571" name="s571"/>
          <p:cNvSpPr/>
          <p:nvPr/>
        </p:nvSpPr>
        <p:spPr>
          <a:xfrm>
            <a:off x="9108440" y="26924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2" name="s572"/>
          <p:cNvSpPr/>
          <p:nvPr/>
        </p:nvSpPr>
        <p:spPr>
          <a:xfrm>
            <a:off x="9108440" y="2768600"/>
            <a:ext cx="145288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Phone</a:t>
            </a:r>
          </a:p>
        </p:txBody>
      </p:sp>
      <p:sp>
        <p:nvSpPr>
          <p:cNvPr id="573" name="s573"/>
          <p:cNvSpPr/>
          <p:nvPr/>
        </p:nvSpPr>
        <p:spPr>
          <a:xfrm>
            <a:off x="10561320" y="2768600"/>
            <a:ext cx="118872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+231 77 118 204</a:t>
            </a:r>
          </a:p>
        </p:txBody>
      </p:sp>
      <p:sp>
        <p:nvSpPr>
          <p:cNvPr id="574" name="s574"/>
          <p:cNvSpPr/>
          <p:nvPr/>
        </p:nvSpPr>
        <p:spPr>
          <a:xfrm>
            <a:off x="9108440" y="2997200"/>
            <a:ext cx="145288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Email</a:t>
            </a:r>
          </a:p>
        </p:txBody>
      </p:sp>
      <p:sp>
        <p:nvSpPr>
          <p:cNvPr id="575" name="s575"/>
          <p:cNvSpPr/>
          <p:nvPr/>
        </p:nvSpPr>
        <p:spPr>
          <a:xfrm>
            <a:off x="10561320" y="2997200"/>
            <a:ext cx="118872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sarah.weah@lazypygmy.lr</a:t>
            </a:r>
          </a:p>
        </p:txBody>
      </p:sp>
      <p:sp>
        <p:nvSpPr>
          <p:cNvPr id="576" name="s576"/>
          <p:cNvSpPr/>
          <p:nvPr/>
        </p:nvSpPr>
        <p:spPr>
          <a:xfrm>
            <a:off x="9108440" y="3225800"/>
            <a:ext cx="145288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Storekeepers</a:t>
            </a:r>
          </a:p>
        </p:txBody>
      </p:sp>
      <p:sp>
        <p:nvSpPr>
          <p:cNvPr id="577" name="s577"/>
          <p:cNvSpPr/>
          <p:nvPr/>
        </p:nvSpPr>
        <p:spPr>
          <a:xfrm>
            <a:off x="10561320" y="3225800"/>
            <a:ext cx="118872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3 assigned</a:t>
            </a:r>
          </a:p>
        </p:txBody>
      </p:sp>
      <p:sp>
        <p:nvSpPr>
          <p:cNvPr id="578" name="s578"/>
          <p:cNvSpPr/>
          <p:nvPr/>
        </p:nvSpPr>
        <p:spPr>
          <a:xfrm>
            <a:off x="9108440" y="34544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1E8E5A"/>
                </a:solidFill>
                <a:latin typeface="Calibri"/>
              </a:rPr>
              <a:t>On duty today  ·  06:00 – 18:00</a:t>
            </a:r>
          </a:p>
        </p:txBody>
      </p:sp>
      <p:sp>
        <p:nvSpPr>
          <p:cNvPr id="579" name="s579"/>
          <p:cNvSpPr/>
          <p:nvPr/>
        </p:nvSpPr>
        <p:spPr>
          <a:xfrm>
            <a:off x="8930640" y="3835400"/>
            <a:ext cx="300228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0" name="s580"/>
          <p:cNvSpPr/>
          <p:nvPr/>
        </p:nvSpPr>
        <p:spPr>
          <a:xfrm>
            <a:off x="9108440" y="3975100"/>
            <a:ext cx="2641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Stock Value</a:t>
            </a:r>
          </a:p>
        </p:txBody>
      </p:sp>
      <p:sp>
        <p:nvSpPr>
          <p:cNvPr id="581" name="s581"/>
          <p:cNvSpPr/>
          <p:nvPr/>
        </p:nvSpPr>
        <p:spPr>
          <a:xfrm>
            <a:off x="9108440" y="41910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200" b="1" spc="0" dirty="0">
                <a:solidFill>
                  <a:srgbClr val="10141A"/>
                </a:solidFill>
                <a:latin typeface="Arial"/>
              </a:rPr>
              <a:t>$20,140</a:t>
            </a:r>
          </a:p>
        </p:txBody>
      </p:sp>
      <p:sp>
        <p:nvSpPr>
          <p:cNvPr id="582" name="s582"/>
          <p:cNvSpPr/>
          <p:nvPr/>
        </p:nvSpPr>
        <p:spPr>
          <a:xfrm>
            <a:off x="9108440" y="45212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47% of the $42,850 network total</a:t>
            </a:r>
          </a:p>
        </p:txBody>
      </p:sp>
      <p:sp>
        <p:nvSpPr>
          <p:cNvPr id="583" name="s583"/>
          <p:cNvSpPr/>
          <p:nvPr/>
        </p:nvSpPr>
        <p:spPr>
          <a:xfrm>
            <a:off x="9108440" y="4724400"/>
            <a:ext cx="2641600" cy="762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4" name="s584"/>
          <p:cNvSpPr/>
          <p:nvPr/>
        </p:nvSpPr>
        <p:spPr>
          <a:xfrm>
            <a:off x="9108440" y="4724400"/>
            <a:ext cx="1241552" cy="762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5" name="s585"/>
          <p:cNvSpPr/>
          <p:nvPr/>
        </p:nvSpPr>
        <p:spPr>
          <a:xfrm>
            <a:off x="9108440" y="48514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Highest-value site  ·  118 of 245 products held here</a:t>
            </a:r>
          </a:p>
        </p:txBody>
      </p:sp>
      <p:sp>
        <p:nvSpPr>
          <p:cNvPr id="586" name="s586"/>
          <p:cNvSpPr/>
          <p:nvPr/>
        </p:nvSpPr>
        <p:spPr>
          <a:xfrm>
            <a:off x="8930640" y="5283200"/>
            <a:ext cx="3002280" cy="121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7" name="s587"/>
          <p:cNvSpPr/>
          <p:nvPr/>
        </p:nvSpPr>
        <p:spPr>
          <a:xfrm>
            <a:off x="9108440" y="5422900"/>
            <a:ext cx="2641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Categories Stored</a:t>
            </a:r>
          </a:p>
        </p:txBody>
      </p:sp>
      <p:sp>
        <p:nvSpPr>
          <p:cNvPr id="588" name="s588"/>
          <p:cNvSpPr/>
          <p:nvPr/>
        </p:nvSpPr>
        <p:spPr>
          <a:xfrm>
            <a:off x="9108440" y="5638800"/>
            <a:ext cx="533400" cy="2286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Books</a:t>
            </a:r>
          </a:p>
        </p:txBody>
      </p:sp>
      <p:sp>
        <p:nvSpPr>
          <p:cNvPr id="589" name="s589"/>
          <p:cNvSpPr/>
          <p:nvPr/>
        </p:nvSpPr>
        <p:spPr>
          <a:xfrm>
            <a:off x="9718040" y="5638800"/>
            <a:ext cx="655320" cy="2286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Puzzles</a:t>
            </a:r>
          </a:p>
        </p:txBody>
      </p:sp>
      <p:sp>
        <p:nvSpPr>
          <p:cNvPr id="590" name="s590"/>
          <p:cNvSpPr/>
          <p:nvPr/>
        </p:nvSpPr>
        <p:spPr>
          <a:xfrm>
            <a:off x="10449560" y="563880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Copybooks</a:t>
            </a:r>
          </a:p>
        </p:txBody>
      </p:sp>
      <p:sp>
        <p:nvSpPr>
          <p:cNvPr id="591" name="s591"/>
          <p:cNvSpPr/>
          <p:nvPr/>
        </p:nvSpPr>
        <p:spPr>
          <a:xfrm>
            <a:off x="9108440" y="5918200"/>
            <a:ext cx="1082040" cy="2286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Alphabet Cards</a:t>
            </a:r>
          </a:p>
        </p:txBody>
      </p:sp>
      <p:sp>
        <p:nvSpPr>
          <p:cNvPr id="592" name="s592"/>
          <p:cNvSpPr/>
          <p:nvPr/>
        </p:nvSpPr>
        <p:spPr>
          <a:xfrm>
            <a:off x="10266680" y="5918200"/>
            <a:ext cx="838200" cy="228600"/>
          </a:xfrm>
          <a:prstGeom prst="roundRect">
            <a:avLst>
              <a:gd name="adj" fmla="val 20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Game Cards</a:t>
            </a:r>
          </a:p>
        </p:txBody>
      </p:sp>
      <p:sp>
        <p:nvSpPr>
          <p:cNvPr id="593" name="s593"/>
          <p:cNvSpPr/>
          <p:nvPr/>
        </p:nvSpPr>
        <p:spPr>
          <a:xfrm>
            <a:off x="9108440" y="62230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All 5 categories can be received here.</a:t>
            </a:r>
          </a:p>
        </p:txBody>
      </p:sp>
      <p:pic>
        <p:nvPicPr>
          <p:cNvPr id="594" name="Copied Picture 594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48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2" name="s412"/>
          <p:cNvSpPr/>
          <p:nvPr/>
        </p:nvSpPr>
        <p:spPr>
          <a:xfrm>
            <a:off x="101600" y="3263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101600" y="3263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Warehouses  ›  WH-01  ›  Inventory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Warehouse Inventory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 Warehouse Monrovia  ·  Bushrod Island  ·  bin locations shown</a:t>
            </a:r>
          </a:p>
        </p:txBody>
      </p:sp>
      <p:sp>
        <p:nvSpPr>
          <p:cNvPr id="444" name="s444"/>
          <p:cNvSpPr/>
          <p:nvPr/>
        </p:nvSpPr>
        <p:spPr>
          <a:xfrm>
            <a:off x="10393680" y="812800"/>
            <a:ext cx="153924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393680" y="812800"/>
            <a:ext cx="15392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Stock Adjustment</a:t>
            </a:r>
          </a:p>
        </p:txBody>
      </p:sp>
      <p:sp>
        <p:nvSpPr>
          <p:cNvPr id="446" name="s446"/>
          <p:cNvSpPr/>
          <p:nvPr/>
        </p:nvSpPr>
        <p:spPr>
          <a:xfrm>
            <a:off x="9207500" y="812800"/>
            <a:ext cx="10591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207500" y="812800"/>
            <a:ext cx="10591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Cycle Count</a:t>
            </a:r>
          </a:p>
        </p:txBody>
      </p:sp>
      <p:sp>
        <p:nvSpPr>
          <p:cNvPr id="448" name="s448"/>
          <p:cNvSpPr/>
          <p:nvPr/>
        </p:nvSpPr>
        <p:spPr>
          <a:xfrm>
            <a:off x="836422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836422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450" name="s450"/>
          <p:cNvSpPr/>
          <p:nvPr/>
        </p:nvSpPr>
        <p:spPr>
          <a:xfrm>
            <a:off x="214884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Overview</a:t>
            </a:r>
          </a:p>
        </p:txBody>
      </p:sp>
      <p:sp>
        <p:nvSpPr>
          <p:cNvPr id="451" name="s451"/>
          <p:cNvSpPr/>
          <p:nvPr/>
        </p:nvSpPr>
        <p:spPr>
          <a:xfrm>
            <a:off x="3007360" y="1346200"/>
            <a:ext cx="9245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Inventory</a:t>
            </a:r>
          </a:p>
        </p:txBody>
      </p:sp>
      <p:sp>
        <p:nvSpPr>
          <p:cNvPr id="452" name="s452"/>
          <p:cNvSpPr/>
          <p:nvPr/>
        </p:nvSpPr>
        <p:spPr>
          <a:xfrm>
            <a:off x="3007360" y="1574800"/>
            <a:ext cx="924560" cy="254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s453"/>
          <p:cNvSpPr/>
          <p:nvPr/>
        </p:nvSpPr>
        <p:spPr>
          <a:xfrm>
            <a:off x="3931920" y="1346200"/>
            <a:ext cx="9245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Movements</a:t>
            </a:r>
          </a:p>
        </p:txBody>
      </p:sp>
      <p:sp>
        <p:nvSpPr>
          <p:cNvPr id="454" name="s454"/>
          <p:cNvSpPr/>
          <p:nvPr/>
        </p:nvSpPr>
        <p:spPr>
          <a:xfrm>
            <a:off x="4856480" y="1346200"/>
            <a:ext cx="9245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Transfers</a:t>
            </a:r>
          </a:p>
        </p:txBody>
      </p:sp>
      <p:sp>
        <p:nvSpPr>
          <p:cNvPr id="455" name="s455"/>
          <p:cNvSpPr/>
          <p:nvPr/>
        </p:nvSpPr>
        <p:spPr>
          <a:xfrm>
            <a:off x="5781040" y="1346200"/>
            <a:ext cx="105664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Performance</a:t>
            </a:r>
          </a:p>
        </p:txBody>
      </p:sp>
      <p:sp>
        <p:nvSpPr>
          <p:cNvPr id="456" name="s456"/>
          <p:cNvSpPr/>
          <p:nvPr/>
        </p:nvSpPr>
        <p:spPr>
          <a:xfrm>
            <a:off x="2148840" y="1593850"/>
            <a:ext cx="978408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2148840" y="1752600"/>
            <a:ext cx="2312670" cy="71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2148840" y="1752600"/>
            <a:ext cx="31750" cy="711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230124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Products held</a:t>
            </a:r>
          </a:p>
        </p:txBody>
      </p:sp>
      <p:sp>
        <p:nvSpPr>
          <p:cNvPr id="460" name="s460"/>
          <p:cNvSpPr/>
          <p:nvPr/>
        </p:nvSpPr>
        <p:spPr>
          <a:xfrm>
            <a:off x="2301240" y="2019300"/>
            <a:ext cx="205867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118</a:t>
            </a:r>
          </a:p>
        </p:txBody>
      </p:sp>
      <p:sp>
        <p:nvSpPr>
          <p:cNvPr id="461" name="s461"/>
          <p:cNvSpPr/>
          <p:nvPr/>
        </p:nvSpPr>
        <p:spPr>
          <a:xfrm>
            <a:off x="4639310" y="1752600"/>
            <a:ext cx="2312670" cy="71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4639310" y="1752600"/>
            <a:ext cx="31750" cy="7112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479171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 on hand</a:t>
            </a:r>
          </a:p>
        </p:txBody>
      </p:sp>
      <p:sp>
        <p:nvSpPr>
          <p:cNvPr id="464" name="s464"/>
          <p:cNvSpPr/>
          <p:nvPr/>
        </p:nvSpPr>
        <p:spPr>
          <a:xfrm>
            <a:off x="4791710" y="2019300"/>
            <a:ext cx="205867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8,940</a:t>
            </a:r>
          </a:p>
        </p:txBody>
      </p:sp>
      <p:sp>
        <p:nvSpPr>
          <p:cNvPr id="465" name="s465"/>
          <p:cNvSpPr/>
          <p:nvPr/>
        </p:nvSpPr>
        <p:spPr>
          <a:xfrm>
            <a:off x="7129780" y="1752600"/>
            <a:ext cx="2312670" cy="71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7129780" y="1752600"/>
            <a:ext cx="31750" cy="711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7" name="s467"/>
          <p:cNvSpPr/>
          <p:nvPr/>
        </p:nvSpPr>
        <p:spPr>
          <a:xfrm>
            <a:off x="728218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Stock value</a:t>
            </a:r>
          </a:p>
        </p:txBody>
      </p:sp>
      <p:sp>
        <p:nvSpPr>
          <p:cNvPr id="468" name="s468"/>
          <p:cNvSpPr/>
          <p:nvPr/>
        </p:nvSpPr>
        <p:spPr>
          <a:xfrm>
            <a:off x="7282180" y="2019300"/>
            <a:ext cx="205867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$20,140</a:t>
            </a:r>
          </a:p>
        </p:txBody>
      </p:sp>
      <p:sp>
        <p:nvSpPr>
          <p:cNvPr id="469" name="s469"/>
          <p:cNvSpPr/>
          <p:nvPr/>
        </p:nvSpPr>
        <p:spPr>
          <a:xfrm>
            <a:off x="9620250" y="1752600"/>
            <a:ext cx="2312670" cy="71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9620250" y="1752600"/>
            <a:ext cx="31750" cy="7112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977265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Below reorder</a:t>
            </a:r>
          </a:p>
        </p:txBody>
      </p:sp>
      <p:sp>
        <p:nvSpPr>
          <p:cNvPr id="472" name="s472"/>
          <p:cNvSpPr/>
          <p:nvPr/>
        </p:nvSpPr>
        <p:spPr>
          <a:xfrm>
            <a:off x="9772650" y="2019300"/>
            <a:ext cx="205867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9</a:t>
            </a:r>
          </a:p>
        </p:txBody>
      </p:sp>
      <p:sp>
        <p:nvSpPr>
          <p:cNvPr id="473" name="s473"/>
          <p:cNvSpPr/>
          <p:nvPr/>
        </p:nvSpPr>
        <p:spPr>
          <a:xfrm>
            <a:off x="9772650" y="22733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of 18 network-wide</a:t>
            </a:r>
          </a:p>
        </p:txBody>
      </p:sp>
      <p:sp>
        <p:nvSpPr>
          <p:cNvPr id="474" name="s474"/>
          <p:cNvSpPr/>
          <p:nvPr/>
        </p:nvSpPr>
        <p:spPr>
          <a:xfrm>
            <a:off x="2148840" y="2616200"/>
            <a:ext cx="978408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2326640" y="2755900"/>
            <a:ext cx="8006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Stock at this Warehouse</a:t>
            </a:r>
          </a:p>
        </p:txBody>
      </p:sp>
      <p:sp>
        <p:nvSpPr>
          <p:cNvPr id="476" name="s476"/>
          <p:cNvSpPr/>
          <p:nvPr/>
        </p:nvSpPr>
        <p:spPr>
          <a:xfrm>
            <a:off x="10358120" y="27559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Filter by category</a:t>
            </a:r>
          </a:p>
        </p:txBody>
      </p:sp>
      <p:sp>
        <p:nvSpPr>
          <p:cNvPr id="477" name="s477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0" name="s480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1" name="s481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4" name="s484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6" name="s486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7" name="s487"/>
          <p:cNvSpPr/>
          <p:nvPr/>
        </p:nvSpPr>
        <p:spPr>
          <a:xfrm>
            <a:off x="2326640" y="3124200"/>
            <a:ext cx="736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88" name="s488"/>
          <p:cNvSpPr/>
          <p:nvPr/>
        </p:nvSpPr>
        <p:spPr>
          <a:xfrm>
            <a:off x="3088640" y="3124200"/>
            <a:ext cx="241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89" name="s489"/>
          <p:cNvSpPr/>
          <p:nvPr/>
        </p:nvSpPr>
        <p:spPr>
          <a:xfrm>
            <a:off x="5527040" y="3124200"/>
            <a:ext cx="111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CATEGORY</a:t>
            </a:r>
          </a:p>
        </p:txBody>
      </p:sp>
      <p:sp>
        <p:nvSpPr>
          <p:cNvPr id="490" name="s490"/>
          <p:cNvSpPr/>
          <p:nvPr/>
        </p:nvSpPr>
        <p:spPr>
          <a:xfrm>
            <a:off x="6670040" y="3124200"/>
            <a:ext cx="736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BIN</a:t>
            </a:r>
          </a:p>
        </p:txBody>
      </p:sp>
      <p:sp>
        <p:nvSpPr>
          <p:cNvPr id="491" name="s491"/>
          <p:cNvSpPr/>
          <p:nvPr/>
        </p:nvSpPr>
        <p:spPr>
          <a:xfrm>
            <a:off x="7432040" y="3124200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ON HAND</a:t>
            </a:r>
          </a:p>
        </p:txBody>
      </p:sp>
      <p:sp>
        <p:nvSpPr>
          <p:cNvPr id="492" name="s492"/>
          <p:cNvSpPr/>
          <p:nvPr/>
        </p:nvSpPr>
        <p:spPr>
          <a:xfrm>
            <a:off x="8143240" y="3124200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RESERVED</a:t>
            </a:r>
          </a:p>
        </p:txBody>
      </p:sp>
      <p:sp>
        <p:nvSpPr>
          <p:cNvPr id="493" name="s493"/>
          <p:cNvSpPr/>
          <p:nvPr/>
        </p:nvSpPr>
        <p:spPr>
          <a:xfrm>
            <a:off x="8854440" y="3124200"/>
            <a:ext cx="736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AVAILABLE</a:t>
            </a:r>
          </a:p>
        </p:txBody>
      </p:sp>
      <p:sp>
        <p:nvSpPr>
          <p:cNvPr id="494" name="s494"/>
          <p:cNvSpPr/>
          <p:nvPr/>
        </p:nvSpPr>
        <p:spPr>
          <a:xfrm>
            <a:off x="9616440" y="3124200"/>
            <a:ext cx="787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495" name="s495"/>
          <p:cNvSpPr/>
          <p:nvPr/>
        </p:nvSpPr>
        <p:spPr>
          <a:xfrm>
            <a:off x="10429240" y="3124200"/>
            <a:ext cx="965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96" name="s496"/>
          <p:cNvSpPr/>
          <p:nvPr/>
        </p:nvSpPr>
        <p:spPr>
          <a:xfrm>
            <a:off x="2148840" y="3689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2148840" y="34290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2326640" y="3390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BK-0142</a:t>
            </a:r>
          </a:p>
        </p:txBody>
      </p:sp>
      <p:sp>
        <p:nvSpPr>
          <p:cNvPr id="499" name="s499"/>
          <p:cNvSpPr/>
          <p:nvPr/>
        </p:nvSpPr>
        <p:spPr>
          <a:xfrm>
            <a:off x="3088640" y="33909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500" name="s500"/>
          <p:cNvSpPr/>
          <p:nvPr/>
        </p:nvSpPr>
        <p:spPr>
          <a:xfrm>
            <a:off x="5527040" y="3390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01" name="s501"/>
          <p:cNvSpPr/>
          <p:nvPr/>
        </p:nvSpPr>
        <p:spPr>
          <a:xfrm>
            <a:off x="6670040" y="3390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A-01-03</a:t>
            </a:r>
          </a:p>
        </p:txBody>
      </p:sp>
      <p:sp>
        <p:nvSpPr>
          <p:cNvPr id="502" name="s502"/>
          <p:cNvSpPr/>
          <p:nvPr/>
        </p:nvSpPr>
        <p:spPr>
          <a:xfrm>
            <a:off x="7432040" y="3390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503" name="s503"/>
          <p:cNvSpPr/>
          <p:nvPr/>
        </p:nvSpPr>
        <p:spPr>
          <a:xfrm>
            <a:off x="8143240" y="3390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180</a:t>
            </a:r>
          </a:p>
        </p:txBody>
      </p:sp>
      <p:sp>
        <p:nvSpPr>
          <p:cNvPr id="504" name="s504"/>
          <p:cNvSpPr/>
          <p:nvPr/>
        </p:nvSpPr>
        <p:spPr>
          <a:xfrm>
            <a:off x="8854440" y="3390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1,060</a:t>
            </a:r>
          </a:p>
        </p:txBody>
      </p:sp>
      <p:sp>
        <p:nvSpPr>
          <p:cNvPr id="505" name="s505"/>
          <p:cNvSpPr/>
          <p:nvPr/>
        </p:nvSpPr>
        <p:spPr>
          <a:xfrm>
            <a:off x="9616440" y="33909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$2,604</a:t>
            </a:r>
          </a:p>
        </p:txBody>
      </p:sp>
      <p:sp>
        <p:nvSpPr>
          <p:cNvPr id="506" name="s506"/>
          <p:cNvSpPr/>
          <p:nvPr/>
        </p:nvSpPr>
        <p:spPr>
          <a:xfrm>
            <a:off x="10429240" y="34544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7" name="s507"/>
          <p:cNvSpPr/>
          <p:nvPr/>
        </p:nvSpPr>
        <p:spPr>
          <a:xfrm>
            <a:off x="10429240" y="34544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08" name="s508"/>
          <p:cNvSpPr/>
          <p:nvPr/>
        </p:nvSpPr>
        <p:spPr>
          <a:xfrm>
            <a:off x="2148840" y="3994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2148840" y="37338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0" name="s510"/>
          <p:cNvSpPr/>
          <p:nvPr/>
        </p:nvSpPr>
        <p:spPr>
          <a:xfrm>
            <a:off x="2326640" y="36957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BK-0148</a:t>
            </a:r>
          </a:p>
        </p:txBody>
      </p:sp>
      <p:sp>
        <p:nvSpPr>
          <p:cNvPr id="511" name="s511"/>
          <p:cNvSpPr/>
          <p:nvPr/>
        </p:nvSpPr>
        <p:spPr>
          <a:xfrm>
            <a:off x="3088640" y="36957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My First Mathematics Book</a:t>
            </a:r>
          </a:p>
        </p:txBody>
      </p:sp>
      <p:sp>
        <p:nvSpPr>
          <p:cNvPr id="512" name="s512"/>
          <p:cNvSpPr/>
          <p:nvPr/>
        </p:nvSpPr>
        <p:spPr>
          <a:xfrm>
            <a:off x="5527040" y="36957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13" name="s513"/>
          <p:cNvSpPr/>
          <p:nvPr/>
        </p:nvSpPr>
        <p:spPr>
          <a:xfrm>
            <a:off x="6670040" y="36957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A-01-07</a:t>
            </a:r>
          </a:p>
        </p:txBody>
      </p:sp>
      <p:sp>
        <p:nvSpPr>
          <p:cNvPr id="514" name="s514"/>
          <p:cNvSpPr/>
          <p:nvPr/>
        </p:nvSpPr>
        <p:spPr>
          <a:xfrm>
            <a:off x="7432040" y="3695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860</a:t>
            </a:r>
          </a:p>
        </p:txBody>
      </p:sp>
      <p:sp>
        <p:nvSpPr>
          <p:cNvPr id="515" name="s515"/>
          <p:cNvSpPr/>
          <p:nvPr/>
        </p:nvSpPr>
        <p:spPr>
          <a:xfrm>
            <a:off x="8143240" y="3695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120</a:t>
            </a:r>
          </a:p>
        </p:txBody>
      </p:sp>
      <p:sp>
        <p:nvSpPr>
          <p:cNvPr id="516" name="s516"/>
          <p:cNvSpPr/>
          <p:nvPr/>
        </p:nvSpPr>
        <p:spPr>
          <a:xfrm>
            <a:off x="8854440" y="36957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740</a:t>
            </a:r>
          </a:p>
        </p:txBody>
      </p:sp>
      <p:sp>
        <p:nvSpPr>
          <p:cNvPr id="517" name="s517"/>
          <p:cNvSpPr/>
          <p:nvPr/>
        </p:nvSpPr>
        <p:spPr>
          <a:xfrm>
            <a:off x="9616440" y="36957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$2,064</a:t>
            </a:r>
          </a:p>
        </p:txBody>
      </p:sp>
      <p:sp>
        <p:nvSpPr>
          <p:cNvPr id="518" name="s518"/>
          <p:cNvSpPr/>
          <p:nvPr/>
        </p:nvSpPr>
        <p:spPr>
          <a:xfrm>
            <a:off x="10429240" y="37592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9" name="s519"/>
          <p:cNvSpPr/>
          <p:nvPr/>
        </p:nvSpPr>
        <p:spPr>
          <a:xfrm>
            <a:off x="10429240" y="37592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20" name="s520"/>
          <p:cNvSpPr/>
          <p:nvPr/>
        </p:nvSpPr>
        <p:spPr>
          <a:xfrm>
            <a:off x="2148840" y="4298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1" name="s521"/>
          <p:cNvSpPr/>
          <p:nvPr/>
        </p:nvSpPr>
        <p:spPr>
          <a:xfrm>
            <a:off x="2148840" y="40386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2326640" y="40005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BK-0160</a:t>
            </a:r>
          </a:p>
        </p:txBody>
      </p:sp>
      <p:sp>
        <p:nvSpPr>
          <p:cNvPr id="523" name="s523"/>
          <p:cNvSpPr/>
          <p:nvPr/>
        </p:nvSpPr>
        <p:spPr>
          <a:xfrm>
            <a:off x="3088640" y="40005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Alphabet Story Book</a:t>
            </a:r>
          </a:p>
        </p:txBody>
      </p:sp>
      <p:sp>
        <p:nvSpPr>
          <p:cNvPr id="524" name="s524"/>
          <p:cNvSpPr/>
          <p:nvPr/>
        </p:nvSpPr>
        <p:spPr>
          <a:xfrm>
            <a:off x="5527040" y="40005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25" name="s525"/>
          <p:cNvSpPr/>
          <p:nvPr/>
        </p:nvSpPr>
        <p:spPr>
          <a:xfrm>
            <a:off x="6670040" y="40005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A-02-01</a:t>
            </a:r>
          </a:p>
        </p:txBody>
      </p:sp>
      <p:sp>
        <p:nvSpPr>
          <p:cNvPr id="526" name="s526"/>
          <p:cNvSpPr/>
          <p:nvPr/>
        </p:nvSpPr>
        <p:spPr>
          <a:xfrm>
            <a:off x="7432040" y="4000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520</a:t>
            </a:r>
          </a:p>
        </p:txBody>
      </p:sp>
      <p:sp>
        <p:nvSpPr>
          <p:cNvPr id="527" name="s527"/>
          <p:cNvSpPr/>
          <p:nvPr/>
        </p:nvSpPr>
        <p:spPr>
          <a:xfrm>
            <a:off x="8143240" y="4000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60</a:t>
            </a:r>
          </a:p>
        </p:txBody>
      </p:sp>
      <p:sp>
        <p:nvSpPr>
          <p:cNvPr id="528" name="s528"/>
          <p:cNvSpPr/>
          <p:nvPr/>
        </p:nvSpPr>
        <p:spPr>
          <a:xfrm>
            <a:off x="8854440" y="40005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460</a:t>
            </a:r>
          </a:p>
        </p:txBody>
      </p:sp>
      <p:sp>
        <p:nvSpPr>
          <p:cNvPr id="529" name="s529"/>
          <p:cNvSpPr/>
          <p:nvPr/>
        </p:nvSpPr>
        <p:spPr>
          <a:xfrm>
            <a:off x="9616440" y="4000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$1,092</a:t>
            </a:r>
          </a:p>
        </p:txBody>
      </p:sp>
      <p:sp>
        <p:nvSpPr>
          <p:cNvPr id="530" name="s530"/>
          <p:cNvSpPr/>
          <p:nvPr/>
        </p:nvSpPr>
        <p:spPr>
          <a:xfrm>
            <a:off x="10429240" y="40640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1" name="s531"/>
          <p:cNvSpPr/>
          <p:nvPr/>
        </p:nvSpPr>
        <p:spPr>
          <a:xfrm>
            <a:off x="10429240" y="40640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32" name="s532"/>
          <p:cNvSpPr/>
          <p:nvPr/>
        </p:nvSpPr>
        <p:spPr>
          <a:xfrm>
            <a:off x="2148840" y="4603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3" name="s533"/>
          <p:cNvSpPr/>
          <p:nvPr/>
        </p:nvSpPr>
        <p:spPr>
          <a:xfrm>
            <a:off x="2148840" y="43434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2326640" y="43053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CB-0104</a:t>
            </a:r>
          </a:p>
        </p:txBody>
      </p:sp>
      <p:sp>
        <p:nvSpPr>
          <p:cNvPr id="535" name="s535"/>
          <p:cNvSpPr/>
          <p:nvPr/>
        </p:nvSpPr>
        <p:spPr>
          <a:xfrm>
            <a:off x="3088640" y="43053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Handwriting Copybook</a:t>
            </a:r>
          </a:p>
        </p:txBody>
      </p:sp>
      <p:sp>
        <p:nvSpPr>
          <p:cNvPr id="536" name="s536"/>
          <p:cNvSpPr/>
          <p:nvPr/>
        </p:nvSpPr>
        <p:spPr>
          <a:xfrm>
            <a:off x="5527040" y="43053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Copybooks</a:t>
            </a:r>
          </a:p>
        </p:txBody>
      </p:sp>
      <p:sp>
        <p:nvSpPr>
          <p:cNvPr id="537" name="s537"/>
          <p:cNvSpPr/>
          <p:nvPr/>
        </p:nvSpPr>
        <p:spPr>
          <a:xfrm>
            <a:off x="6670040" y="43053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C-04-02</a:t>
            </a:r>
          </a:p>
        </p:txBody>
      </p:sp>
      <p:sp>
        <p:nvSpPr>
          <p:cNvPr id="538" name="s538"/>
          <p:cNvSpPr/>
          <p:nvPr/>
        </p:nvSpPr>
        <p:spPr>
          <a:xfrm>
            <a:off x="7432040" y="4305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940</a:t>
            </a:r>
          </a:p>
        </p:txBody>
      </p:sp>
      <p:sp>
        <p:nvSpPr>
          <p:cNvPr id="539" name="s539"/>
          <p:cNvSpPr/>
          <p:nvPr/>
        </p:nvSpPr>
        <p:spPr>
          <a:xfrm>
            <a:off x="8143240" y="4305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210</a:t>
            </a:r>
          </a:p>
        </p:txBody>
      </p:sp>
      <p:sp>
        <p:nvSpPr>
          <p:cNvPr id="540" name="s540"/>
          <p:cNvSpPr/>
          <p:nvPr/>
        </p:nvSpPr>
        <p:spPr>
          <a:xfrm>
            <a:off x="8854440" y="43053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730</a:t>
            </a:r>
          </a:p>
        </p:txBody>
      </p:sp>
      <p:sp>
        <p:nvSpPr>
          <p:cNvPr id="541" name="s541"/>
          <p:cNvSpPr/>
          <p:nvPr/>
        </p:nvSpPr>
        <p:spPr>
          <a:xfrm>
            <a:off x="9616440" y="43053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$846</a:t>
            </a:r>
          </a:p>
        </p:txBody>
      </p:sp>
      <p:sp>
        <p:nvSpPr>
          <p:cNvPr id="542" name="s542"/>
          <p:cNvSpPr/>
          <p:nvPr/>
        </p:nvSpPr>
        <p:spPr>
          <a:xfrm>
            <a:off x="10429240" y="43688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10429240" y="43688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44" name="s544"/>
          <p:cNvSpPr/>
          <p:nvPr/>
        </p:nvSpPr>
        <p:spPr>
          <a:xfrm>
            <a:off x="2148840" y="4908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5" name="s545"/>
          <p:cNvSpPr/>
          <p:nvPr/>
        </p:nvSpPr>
        <p:spPr>
          <a:xfrm>
            <a:off x="2148840" y="46482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6" name="s546"/>
          <p:cNvSpPr/>
          <p:nvPr/>
        </p:nvSpPr>
        <p:spPr>
          <a:xfrm>
            <a:off x="2326640" y="46101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GC-0057</a:t>
            </a:r>
          </a:p>
        </p:txBody>
      </p:sp>
      <p:sp>
        <p:nvSpPr>
          <p:cNvPr id="547" name="s547"/>
          <p:cNvSpPr/>
          <p:nvPr/>
        </p:nvSpPr>
        <p:spPr>
          <a:xfrm>
            <a:off x="3088640" y="46101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Memory Matching Cards</a:t>
            </a:r>
          </a:p>
        </p:txBody>
      </p:sp>
      <p:sp>
        <p:nvSpPr>
          <p:cNvPr id="548" name="s548"/>
          <p:cNvSpPr/>
          <p:nvPr/>
        </p:nvSpPr>
        <p:spPr>
          <a:xfrm>
            <a:off x="5527040" y="46101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Game Cards</a:t>
            </a:r>
          </a:p>
        </p:txBody>
      </p:sp>
      <p:sp>
        <p:nvSpPr>
          <p:cNvPr id="549" name="s549"/>
          <p:cNvSpPr/>
          <p:nvPr/>
        </p:nvSpPr>
        <p:spPr>
          <a:xfrm>
            <a:off x="6670040" y="46101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E-03-04</a:t>
            </a:r>
          </a:p>
        </p:txBody>
      </p:sp>
      <p:sp>
        <p:nvSpPr>
          <p:cNvPr id="550" name="s550"/>
          <p:cNvSpPr/>
          <p:nvPr/>
        </p:nvSpPr>
        <p:spPr>
          <a:xfrm>
            <a:off x="7432040" y="4610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312</a:t>
            </a:r>
          </a:p>
        </p:txBody>
      </p:sp>
      <p:sp>
        <p:nvSpPr>
          <p:cNvPr id="551" name="s551"/>
          <p:cNvSpPr/>
          <p:nvPr/>
        </p:nvSpPr>
        <p:spPr>
          <a:xfrm>
            <a:off x="8143240" y="4610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40</a:t>
            </a:r>
          </a:p>
        </p:txBody>
      </p:sp>
      <p:sp>
        <p:nvSpPr>
          <p:cNvPr id="552" name="s552"/>
          <p:cNvSpPr/>
          <p:nvPr/>
        </p:nvSpPr>
        <p:spPr>
          <a:xfrm>
            <a:off x="8854440" y="46101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272</a:t>
            </a:r>
          </a:p>
        </p:txBody>
      </p:sp>
      <p:sp>
        <p:nvSpPr>
          <p:cNvPr id="553" name="s553"/>
          <p:cNvSpPr/>
          <p:nvPr/>
        </p:nvSpPr>
        <p:spPr>
          <a:xfrm>
            <a:off x="9616440" y="46101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$624</a:t>
            </a:r>
          </a:p>
        </p:txBody>
      </p:sp>
      <p:sp>
        <p:nvSpPr>
          <p:cNvPr id="554" name="s554"/>
          <p:cNvSpPr/>
          <p:nvPr/>
        </p:nvSpPr>
        <p:spPr>
          <a:xfrm>
            <a:off x="10429240" y="46736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5" name="s555"/>
          <p:cNvSpPr/>
          <p:nvPr/>
        </p:nvSpPr>
        <p:spPr>
          <a:xfrm>
            <a:off x="10429240" y="46736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56" name="s556"/>
          <p:cNvSpPr/>
          <p:nvPr/>
        </p:nvSpPr>
        <p:spPr>
          <a:xfrm>
            <a:off x="2148840" y="5213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7" name="s557"/>
          <p:cNvSpPr/>
          <p:nvPr/>
        </p:nvSpPr>
        <p:spPr>
          <a:xfrm>
            <a:off x="2148840" y="49530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8" name="s558"/>
          <p:cNvSpPr/>
          <p:nvPr/>
        </p:nvSpPr>
        <p:spPr>
          <a:xfrm>
            <a:off x="2326640" y="4914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CB-0116</a:t>
            </a:r>
          </a:p>
        </p:txBody>
      </p:sp>
      <p:sp>
        <p:nvSpPr>
          <p:cNvPr id="559" name="s559"/>
          <p:cNvSpPr/>
          <p:nvPr/>
        </p:nvSpPr>
        <p:spPr>
          <a:xfrm>
            <a:off x="3088640" y="49149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English Practice Copybook</a:t>
            </a:r>
          </a:p>
        </p:txBody>
      </p:sp>
      <p:sp>
        <p:nvSpPr>
          <p:cNvPr id="560" name="s560"/>
          <p:cNvSpPr/>
          <p:nvPr/>
        </p:nvSpPr>
        <p:spPr>
          <a:xfrm>
            <a:off x="5527040" y="49149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Copybooks</a:t>
            </a:r>
          </a:p>
        </p:txBody>
      </p:sp>
      <p:sp>
        <p:nvSpPr>
          <p:cNvPr id="561" name="s561"/>
          <p:cNvSpPr/>
          <p:nvPr/>
        </p:nvSpPr>
        <p:spPr>
          <a:xfrm>
            <a:off x="6670040" y="4914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C-04-06</a:t>
            </a:r>
          </a:p>
        </p:txBody>
      </p:sp>
      <p:sp>
        <p:nvSpPr>
          <p:cNvPr id="562" name="s562"/>
          <p:cNvSpPr/>
          <p:nvPr/>
        </p:nvSpPr>
        <p:spPr>
          <a:xfrm>
            <a:off x="7432040" y="4914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126</a:t>
            </a:r>
          </a:p>
        </p:txBody>
      </p:sp>
      <p:sp>
        <p:nvSpPr>
          <p:cNvPr id="563" name="s563"/>
          <p:cNvSpPr/>
          <p:nvPr/>
        </p:nvSpPr>
        <p:spPr>
          <a:xfrm>
            <a:off x="8143240" y="4914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18</a:t>
            </a:r>
          </a:p>
        </p:txBody>
      </p:sp>
      <p:sp>
        <p:nvSpPr>
          <p:cNvPr id="564" name="s564"/>
          <p:cNvSpPr/>
          <p:nvPr/>
        </p:nvSpPr>
        <p:spPr>
          <a:xfrm>
            <a:off x="8854440" y="49149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108</a:t>
            </a:r>
          </a:p>
        </p:txBody>
      </p:sp>
      <p:sp>
        <p:nvSpPr>
          <p:cNvPr id="565" name="s565"/>
          <p:cNvSpPr/>
          <p:nvPr/>
        </p:nvSpPr>
        <p:spPr>
          <a:xfrm>
            <a:off x="9616440" y="49149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$126</a:t>
            </a:r>
          </a:p>
        </p:txBody>
      </p:sp>
      <p:sp>
        <p:nvSpPr>
          <p:cNvPr id="566" name="s566"/>
          <p:cNvSpPr/>
          <p:nvPr/>
        </p:nvSpPr>
        <p:spPr>
          <a:xfrm>
            <a:off x="10429240" y="49784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7" name="s567"/>
          <p:cNvSpPr/>
          <p:nvPr/>
        </p:nvSpPr>
        <p:spPr>
          <a:xfrm>
            <a:off x="10429240" y="49784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68" name="s568"/>
          <p:cNvSpPr/>
          <p:nvPr/>
        </p:nvSpPr>
        <p:spPr>
          <a:xfrm>
            <a:off x="2148840" y="5518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9" name="s569"/>
          <p:cNvSpPr/>
          <p:nvPr/>
        </p:nvSpPr>
        <p:spPr>
          <a:xfrm>
            <a:off x="2148840" y="52578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0" name="s570"/>
          <p:cNvSpPr/>
          <p:nvPr/>
        </p:nvSpPr>
        <p:spPr>
          <a:xfrm>
            <a:off x="2326640" y="52197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BK-0156</a:t>
            </a:r>
          </a:p>
        </p:txBody>
      </p:sp>
      <p:sp>
        <p:nvSpPr>
          <p:cNvPr id="571" name="s571"/>
          <p:cNvSpPr/>
          <p:nvPr/>
        </p:nvSpPr>
        <p:spPr>
          <a:xfrm>
            <a:off x="3088640" y="52197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Science Discovery Book</a:t>
            </a:r>
          </a:p>
        </p:txBody>
      </p:sp>
      <p:sp>
        <p:nvSpPr>
          <p:cNvPr id="572" name="s572"/>
          <p:cNvSpPr/>
          <p:nvPr/>
        </p:nvSpPr>
        <p:spPr>
          <a:xfrm>
            <a:off x="5527040" y="52197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73" name="s573"/>
          <p:cNvSpPr/>
          <p:nvPr/>
        </p:nvSpPr>
        <p:spPr>
          <a:xfrm>
            <a:off x="6670040" y="52197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A-03-05</a:t>
            </a:r>
          </a:p>
        </p:txBody>
      </p:sp>
      <p:sp>
        <p:nvSpPr>
          <p:cNvPr id="574" name="s574"/>
          <p:cNvSpPr/>
          <p:nvPr/>
        </p:nvSpPr>
        <p:spPr>
          <a:xfrm>
            <a:off x="7432040" y="5219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112</a:t>
            </a:r>
          </a:p>
        </p:txBody>
      </p:sp>
      <p:sp>
        <p:nvSpPr>
          <p:cNvPr id="575" name="s575"/>
          <p:cNvSpPr/>
          <p:nvPr/>
        </p:nvSpPr>
        <p:spPr>
          <a:xfrm>
            <a:off x="8143240" y="5219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40</a:t>
            </a:r>
          </a:p>
        </p:txBody>
      </p:sp>
      <p:sp>
        <p:nvSpPr>
          <p:cNvPr id="576" name="s576"/>
          <p:cNvSpPr/>
          <p:nvPr/>
        </p:nvSpPr>
        <p:spPr>
          <a:xfrm>
            <a:off x="8854440" y="52197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72</a:t>
            </a:r>
          </a:p>
        </p:txBody>
      </p:sp>
      <p:sp>
        <p:nvSpPr>
          <p:cNvPr id="577" name="s577"/>
          <p:cNvSpPr/>
          <p:nvPr/>
        </p:nvSpPr>
        <p:spPr>
          <a:xfrm>
            <a:off x="9616440" y="52197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$314</a:t>
            </a:r>
          </a:p>
        </p:txBody>
      </p:sp>
      <p:sp>
        <p:nvSpPr>
          <p:cNvPr id="578" name="s578"/>
          <p:cNvSpPr/>
          <p:nvPr/>
        </p:nvSpPr>
        <p:spPr>
          <a:xfrm>
            <a:off x="10429240" y="52832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9" name="s579"/>
          <p:cNvSpPr/>
          <p:nvPr/>
        </p:nvSpPr>
        <p:spPr>
          <a:xfrm>
            <a:off x="10429240" y="52832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80" name="s580"/>
          <p:cNvSpPr/>
          <p:nvPr/>
        </p:nvSpPr>
        <p:spPr>
          <a:xfrm>
            <a:off x="2148840" y="5822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1" name="s581"/>
          <p:cNvSpPr/>
          <p:nvPr/>
        </p:nvSpPr>
        <p:spPr>
          <a:xfrm>
            <a:off x="2148840" y="55626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2" name="s582"/>
          <p:cNvSpPr/>
          <p:nvPr/>
        </p:nvSpPr>
        <p:spPr>
          <a:xfrm>
            <a:off x="2326640" y="55245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PZ-0088</a:t>
            </a:r>
          </a:p>
        </p:txBody>
      </p:sp>
      <p:sp>
        <p:nvSpPr>
          <p:cNvPr id="583" name="s583"/>
          <p:cNvSpPr/>
          <p:nvPr/>
        </p:nvSpPr>
        <p:spPr>
          <a:xfrm>
            <a:off x="3088640" y="55245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584" name="s584"/>
          <p:cNvSpPr/>
          <p:nvPr/>
        </p:nvSpPr>
        <p:spPr>
          <a:xfrm>
            <a:off x="5527040" y="55245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585" name="s585"/>
          <p:cNvSpPr/>
          <p:nvPr/>
        </p:nvSpPr>
        <p:spPr>
          <a:xfrm>
            <a:off x="6670040" y="55245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B-02-05</a:t>
            </a:r>
          </a:p>
        </p:txBody>
      </p:sp>
      <p:sp>
        <p:nvSpPr>
          <p:cNvPr id="586" name="s586"/>
          <p:cNvSpPr/>
          <p:nvPr/>
        </p:nvSpPr>
        <p:spPr>
          <a:xfrm>
            <a:off x="7432040" y="5524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587" name="s587"/>
          <p:cNvSpPr/>
          <p:nvPr/>
        </p:nvSpPr>
        <p:spPr>
          <a:xfrm>
            <a:off x="8143240" y="5524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24</a:t>
            </a:r>
          </a:p>
        </p:txBody>
      </p:sp>
      <p:sp>
        <p:nvSpPr>
          <p:cNvPr id="588" name="s588"/>
          <p:cNvSpPr/>
          <p:nvPr/>
        </p:nvSpPr>
        <p:spPr>
          <a:xfrm>
            <a:off x="8854440" y="55245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62</a:t>
            </a:r>
          </a:p>
        </p:txBody>
      </p:sp>
      <p:sp>
        <p:nvSpPr>
          <p:cNvPr id="589" name="s589"/>
          <p:cNvSpPr/>
          <p:nvPr/>
        </p:nvSpPr>
        <p:spPr>
          <a:xfrm>
            <a:off x="9616440" y="55245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$292</a:t>
            </a:r>
          </a:p>
        </p:txBody>
      </p:sp>
      <p:sp>
        <p:nvSpPr>
          <p:cNvPr id="590" name="s590"/>
          <p:cNvSpPr/>
          <p:nvPr/>
        </p:nvSpPr>
        <p:spPr>
          <a:xfrm>
            <a:off x="10429240" y="55880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1" name="s591"/>
          <p:cNvSpPr/>
          <p:nvPr/>
        </p:nvSpPr>
        <p:spPr>
          <a:xfrm>
            <a:off x="10429240" y="55880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92" name="s592"/>
          <p:cNvSpPr/>
          <p:nvPr/>
        </p:nvSpPr>
        <p:spPr>
          <a:xfrm>
            <a:off x="2148840" y="6127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3" name="s593"/>
          <p:cNvSpPr/>
          <p:nvPr/>
        </p:nvSpPr>
        <p:spPr>
          <a:xfrm>
            <a:off x="2148840" y="58674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4" name="s594"/>
          <p:cNvSpPr/>
          <p:nvPr/>
        </p:nvSpPr>
        <p:spPr>
          <a:xfrm>
            <a:off x="2326640" y="58293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GC-0061</a:t>
            </a:r>
          </a:p>
        </p:txBody>
      </p:sp>
      <p:sp>
        <p:nvSpPr>
          <p:cNvPr id="595" name="s595"/>
          <p:cNvSpPr/>
          <p:nvPr/>
        </p:nvSpPr>
        <p:spPr>
          <a:xfrm>
            <a:off x="3088640" y="58293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Number Learning Cards</a:t>
            </a:r>
          </a:p>
        </p:txBody>
      </p:sp>
      <p:sp>
        <p:nvSpPr>
          <p:cNvPr id="596" name="s596"/>
          <p:cNvSpPr/>
          <p:nvPr/>
        </p:nvSpPr>
        <p:spPr>
          <a:xfrm>
            <a:off x="5527040" y="58293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Game Cards</a:t>
            </a:r>
          </a:p>
        </p:txBody>
      </p:sp>
      <p:sp>
        <p:nvSpPr>
          <p:cNvPr id="597" name="s597"/>
          <p:cNvSpPr/>
          <p:nvPr/>
        </p:nvSpPr>
        <p:spPr>
          <a:xfrm>
            <a:off x="6670040" y="58293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E-03-08</a:t>
            </a:r>
          </a:p>
        </p:txBody>
      </p:sp>
      <p:sp>
        <p:nvSpPr>
          <p:cNvPr id="598" name="s598"/>
          <p:cNvSpPr/>
          <p:nvPr/>
        </p:nvSpPr>
        <p:spPr>
          <a:xfrm>
            <a:off x="7432040" y="5829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58</a:t>
            </a:r>
          </a:p>
        </p:txBody>
      </p:sp>
      <p:sp>
        <p:nvSpPr>
          <p:cNvPr id="599" name="s599"/>
          <p:cNvSpPr/>
          <p:nvPr/>
        </p:nvSpPr>
        <p:spPr>
          <a:xfrm>
            <a:off x="8143240" y="5829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0</a:t>
            </a:r>
          </a:p>
        </p:txBody>
      </p:sp>
      <p:sp>
        <p:nvSpPr>
          <p:cNvPr id="600" name="s600"/>
          <p:cNvSpPr/>
          <p:nvPr/>
        </p:nvSpPr>
        <p:spPr>
          <a:xfrm>
            <a:off x="8854440" y="58293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58</a:t>
            </a:r>
          </a:p>
        </p:txBody>
      </p:sp>
      <p:sp>
        <p:nvSpPr>
          <p:cNvPr id="601" name="s601"/>
          <p:cNvSpPr/>
          <p:nvPr/>
        </p:nvSpPr>
        <p:spPr>
          <a:xfrm>
            <a:off x="9616440" y="58293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$110</a:t>
            </a:r>
          </a:p>
        </p:txBody>
      </p:sp>
      <p:sp>
        <p:nvSpPr>
          <p:cNvPr id="602" name="s602"/>
          <p:cNvSpPr/>
          <p:nvPr/>
        </p:nvSpPr>
        <p:spPr>
          <a:xfrm>
            <a:off x="10429240" y="58928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3" name="s603"/>
          <p:cNvSpPr/>
          <p:nvPr/>
        </p:nvSpPr>
        <p:spPr>
          <a:xfrm>
            <a:off x="10429240" y="58928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604" name="s604"/>
          <p:cNvSpPr/>
          <p:nvPr/>
        </p:nvSpPr>
        <p:spPr>
          <a:xfrm>
            <a:off x="2148840" y="6432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5" name="s605"/>
          <p:cNvSpPr/>
          <p:nvPr/>
        </p:nvSpPr>
        <p:spPr>
          <a:xfrm>
            <a:off x="2148840" y="61722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6" name="s606"/>
          <p:cNvSpPr/>
          <p:nvPr/>
        </p:nvSpPr>
        <p:spPr>
          <a:xfrm>
            <a:off x="2326640" y="61341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AC-0031</a:t>
            </a:r>
          </a:p>
        </p:txBody>
      </p:sp>
      <p:sp>
        <p:nvSpPr>
          <p:cNvPr id="607" name="s607"/>
          <p:cNvSpPr/>
          <p:nvPr/>
        </p:nvSpPr>
        <p:spPr>
          <a:xfrm>
            <a:off x="3088640" y="61341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English Alphabet Flashcards</a:t>
            </a:r>
          </a:p>
        </p:txBody>
      </p:sp>
      <p:sp>
        <p:nvSpPr>
          <p:cNvPr id="608" name="s608"/>
          <p:cNvSpPr/>
          <p:nvPr/>
        </p:nvSpPr>
        <p:spPr>
          <a:xfrm>
            <a:off x="5527040" y="61341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Alphabet Cards</a:t>
            </a:r>
          </a:p>
        </p:txBody>
      </p:sp>
      <p:sp>
        <p:nvSpPr>
          <p:cNvPr id="609" name="s609"/>
          <p:cNvSpPr/>
          <p:nvPr/>
        </p:nvSpPr>
        <p:spPr>
          <a:xfrm>
            <a:off x="6670040" y="61341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Arial"/>
              </a:rPr>
              <a:t>D-01-01</a:t>
            </a:r>
          </a:p>
        </p:txBody>
      </p:sp>
      <p:sp>
        <p:nvSpPr>
          <p:cNvPr id="610" name="s610"/>
          <p:cNvSpPr/>
          <p:nvPr/>
        </p:nvSpPr>
        <p:spPr>
          <a:xfrm>
            <a:off x="7432040" y="6134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0</a:t>
            </a:r>
          </a:p>
        </p:txBody>
      </p:sp>
      <p:sp>
        <p:nvSpPr>
          <p:cNvPr id="611" name="s611"/>
          <p:cNvSpPr/>
          <p:nvPr/>
        </p:nvSpPr>
        <p:spPr>
          <a:xfrm>
            <a:off x="8143240" y="6134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0</a:t>
            </a:r>
          </a:p>
        </p:txBody>
      </p:sp>
      <p:sp>
        <p:nvSpPr>
          <p:cNvPr id="612" name="s612"/>
          <p:cNvSpPr/>
          <p:nvPr/>
        </p:nvSpPr>
        <p:spPr>
          <a:xfrm>
            <a:off x="8854440" y="61341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613" name="s613"/>
          <p:cNvSpPr/>
          <p:nvPr/>
        </p:nvSpPr>
        <p:spPr>
          <a:xfrm>
            <a:off x="9616440" y="6134100"/>
            <a:ext cx="787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$0</a:t>
            </a:r>
          </a:p>
        </p:txBody>
      </p:sp>
      <p:sp>
        <p:nvSpPr>
          <p:cNvPr id="614" name="s614"/>
          <p:cNvSpPr/>
          <p:nvPr/>
        </p:nvSpPr>
        <p:spPr>
          <a:xfrm>
            <a:off x="10429240" y="61976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5" name="s615"/>
          <p:cNvSpPr/>
          <p:nvPr/>
        </p:nvSpPr>
        <p:spPr>
          <a:xfrm>
            <a:off x="10429240" y="61976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B3261E"/>
                </a:solidFill>
                <a:latin typeface="Calibri"/>
              </a:rPr>
              <a:t>Out of Stock</a:t>
            </a:r>
          </a:p>
        </p:txBody>
      </p:sp>
      <p:sp>
        <p:nvSpPr>
          <p:cNvPr id="616" name="s616"/>
          <p:cNvSpPr/>
          <p:nvPr/>
        </p:nvSpPr>
        <p:spPr>
          <a:xfrm>
            <a:off x="2326640" y="61976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Showing 10 of 118 products at WH-01  ·  sorted by units descending</a:t>
            </a:r>
          </a:p>
        </p:txBody>
      </p:sp>
      <p:sp>
        <p:nvSpPr>
          <p:cNvPr id="617" name="s617"/>
          <p:cNvSpPr/>
          <p:nvPr/>
        </p:nvSpPr>
        <p:spPr>
          <a:xfrm>
            <a:off x="8382000" y="6197600"/>
            <a:ext cx="3365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Bin format:  aisle – rack – shelf</a:t>
            </a:r>
          </a:p>
        </p:txBody>
      </p:sp>
      <p:pic>
        <p:nvPicPr>
          <p:cNvPr id="618" name="Copied Picture 618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72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2" name="s412"/>
          <p:cNvSpPr/>
          <p:nvPr/>
        </p:nvSpPr>
        <p:spPr>
          <a:xfrm>
            <a:off x="101600" y="3263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101600" y="3263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Warehouses  ›  Stock transfer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New Stock Transfer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TRF-2026-0043  ·  draft  ·  availability is checked live against WH-01 stock</a:t>
            </a:r>
          </a:p>
        </p:txBody>
      </p:sp>
      <p:sp>
        <p:nvSpPr>
          <p:cNvPr id="444" name="s444"/>
          <p:cNvSpPr/>
          <p:nvPr/>
        </p:nvSpPr>
        <p:spPr>
          <a:xfrm>
            <a:off x="10325100" y="812800"/>
            <a:ext cx="160782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325100" y="812800"/>
            <a:ext cx="16078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Submit for Approval</a:t>
            </a:r>
          </a:p>
        </p:txBody>
      </p:sp>
      <p:sp>
        <p:nvSpPr>
          <p:cNvPr id="446" name="s446"/>
          <p:cNvSpPr/>
          <p:nvPr/>
        </p:nvSpPr>
        <p:spPr>
          <a:xfrm>
            <a:off x="9207500" y="812800"/>
            <a:ext cx="9906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207500" y="81280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Save Draft</a:t>
            </a:r>
          </a:p>
        </p:txBody>
      </p:sp>
      <p:sp>
        <p:nvSpPr>
          <p:cNvPr id="448" name="s448"/>
          <p:cNvSpPr/>
          <p:nvPr/>
        </p:nvSpPr>
        <p:spPr>
          <a:xfrm>
            <a:off x="836422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836422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Cancel</a:t>
            </a:r>
          </a:p>
        </p:txBody>
      </p:sp>
      <p:sp>
        <p:nvSpPr>
          <p:cNvPr id="450" name="s450"/>
          <p:cNvSpPr/>
          <p:nvPr/>
        </p:nvSpPr>
        <p:spPr>
          <a:xfrm>
            <a:off x="2148840" y="1422400"/>
            <a:ext cx="9784080" cy="116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2326640" y="1562100"/>
            <a:ext cx="8006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Transfer Route</a:t>
            </a:r>
          </a:p>
        </p:txBody>
      </p:sp>
      <p:sp>
        <p:nvSpPr>
          <p:cNvPr id="452" name="s452"/>
          <p:cNvSpPr/>
          <p:nvPr/>
        </p:nvSpPr>
        <p:spPr>
          <a:xfrm>
            <a:off x="2326640" y="1778000"/>
            <a:ext cx="4191000" cy="6604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s453"/>
          <p:cNvSpPr/>
          <p:nvPr/>
        </p:nvSpPr>
        <p:spPr>
          <a:xfrm>
            <a:off x="2326640" y="1778000"/>
            <a:ext cx="31750" cy="6604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2476500" y="1854200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80" dirty="0">
                <a:solidFill>
                  <a:srgbClr val="5B6572"/>
                </a:solidFill>
                <a:latin typeface="Calibri"/>
              </a:rPr>
              <a:t>FROM</a:t>
            </a:r>
          </a:p>
        </p:txBody>
      </p:sp>
      <p:sp>
        <p:nvSpPr>
          <p:cNvPr id="455" name="s455"/>
          <p:cNvSpPr/>
          <p:nvPr/>
        </p:nvSpPr>
        <p:spPr>
          <a:xfrm>
            <a:off x="2476500" y="2006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spc="0" dirty="0">
                <a:solidFill>
                  <a:srgbClr val="10141A"/>
                </a:solidFill>
                <a:latin typeface="Calibri"/>
              </a:rPr>
              <a:t>WH-01 Central Warehouse Monrovia</a:t>
            </a:r>
          </a:p>
        </p:txBody>
      </p:sp>
      <p:sp>
        <p:nvSpPr>
          <p:cNvPr id="456" name="s456"/>
          <p:cNvSpPr/>
          <p:nvPr/>
        </p:nvSpPr>
        <p:spPr>
          <a:xfrm>
            <a:off x="2476500" y="2209800"/>
            <a:ext cx="381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8,940 units on hand  ·  75% utilised  ·  Sarah Weah</a:t>
            </a:r>
          </a:p>
        </p:txBody>
      </p:sp>
      <p:sp>
        <p:nvSpPr>
          <p:cNvPr id="457" name="s457"/>
          <p:cNvSpPr/>
          <p:nvPr/>
        </p:nvSpPr>
        <p:spPr>
          <a:xfrm rot="10800000">
            <a:off x="6299200" y="2006600"/>
            <a:ext cx="127000" cy="889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6667500" y="1968500"/>
            <a:ext cx="381000" cy="279400"/>
          </a:xfrm>
          <a:prstGeom prst="rightArrow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7175500" y="1778000"/>
            <a:ext cx="4191000" cy="6604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7175500" y="1778000"/>
            <a:ext cx="31750" cy="6604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7327900" y="1854200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80" dirty="0">
                <a:solidFill>
                  <a:srgbClr val="5B6572"/>
                </a:solidFill>
                <a:latin typeface="Calibri"/>
              </a:rPr>
              <a:t>TO</a:t>
            </a:r>
          </a:p>
        </p:txBody>
      </p:sp>
      <p:sp>
        <p:nvSpPr>
          <p:cNvPr id="462" name="s462"/>
          <p:cNvSpPr/>
          <p:nvPr/>
        </p:nvSpPr>
        <p:spPr>
          <a:xfrm>
            <a:off x="7327900" y="2006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1" spc="0" dirty="0">
                <a:solidFill>
                  <a:srgbClr val="10141A"/>
                </a:solidFill>
                <a:latin typeface="Calibri"/>
              </a:rPr>
              <a:t>WH-02 Paynesville Distribution Center</a:t>
            </a:r>
          </a:p>
        </p:txBody>
      </p:sp>
      <p:sp>
        <p:nvSpPr>
          <p:cNvPr id="463" name="s463"/>
          <p:cNvSpPr/>
          <p:nvPr/>
        </p:nvSpPr>
        <p:spPr>
          <a:xfrm>
            <a:off x="7327900" y="2209800"/>
            <a:ext cx="381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5,720 units on hand  ·  64% utilised  ·  Peter Sirleaf</a:t>
            </a:r>
          </a:p>
        </p:txBody>
      </p:sp>
      <p:sp>
        <p:nvSpPr>
          <p:cNvPr id="464" name="s464"/>
          <p:cNvSpPr/>
          <p:nvPr/>
        </p:nvSpPr>
        <p:spPr>
          <a:xfrm rot="10800000">
            <a:off x="11150600" y="2006600"/>
            <a:ext cx="127000" cy="889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2148840" y="2717800"/>
            <a:ext cx="7112000" cy="378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2326640" y="2857500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Products to Transfer</a:t>
            </a:r>
          </a:p>
        </p:txBody>
      </p:sp>
      <p:sp>
        <p:nvSpPr>
          <p:cNvPr id="467" name="s467"/>
          <p:cNvSpPr/>
          <p:nvPr/>
        </p:nvSpPr>
        <p:spPr>
          <a:xfrm>
            <a:off x="7686040" y="28575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+ Add product</a:t>
            </a:r>
          </a:p>
        </p:txBody>
      </p:sp>
      <p:sp>
        <p:nvSpPr>
          <p:cNvPr id="468" name="s468"/>
          <p:cNvSpPr/>
          <p:nvPr/>
        </p:nvSpPr>
        <p:spPr>
          <a:xfrm>
            <a:off x="2326640" y="3124200"/>
            <a:ext cx="3048000" cy="266700"/>
          </a:xfrm>
          <a:prstGeom prst="roundRect">
            <a:avLst>
              <a:gd name="adj" fmla="val 12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2451100" y="3124200"/>
            <a:ext cx="284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WH-01 stock by name or SKU…</a:t>
            </a:r>
          </a:p>
        </p:txBody>
      </p:sp>
      <p:sp>
        <p:nvSpPr>
          <p:cNvPr id="470" name="s470"/>
          <p:cNvSpPr/>
          <p:nvPr/>
        </p:nvSpPr>
        <p:spPr>
          <a:xfrm>
            <a:off x="5473700" y="3124200"/>
            <a:ext cx="111760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Scan barcode</a:t>
            </a:r>
          </a:p>
        </p:txBody>
      </p:sp>
      <p:sp>
        <p:nvSpPr>
          <p:cNvPr id="471" name="s471"/>
          <p:cNvSpPr/>
          <p:nvPr/>
        </p:nvSpPr>
        <p:spPr>
          <a:xfrm>
            <a:off x="7112000" y="3124200"/>
            <a:ext cx="1968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5B6572"/>
                </a:solidFill>
                <a:latin typeface="Calibri"/>
              </a:rPr>
              <a:t>4 lines  ·  690 units</a:t>
            </a:r>
          </a:p>
        </p:txBody>
      </p:sp>
      <p:sp>
        <p:nvSpPr>
          <p:cNvPr id="472" name="s472"/>
          <p:cNvSpPr/>
          <p:nvPr/>
        </p:nvSpPr>
        <p:spPr>
          <a:xfrm>
            <a:off x="2148840" y="3530600"/>
            <a:ext cx="711200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3" name="s473"/>
          <p:cNvSpPr/>
          <p:nvPr/>
        </p:nvSpPr>
        <p:spPr>
          <a:xfrm>
            <a:off x="2326640" y="3530600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74" name="s474"/>
          <p:cNvSpPr/>
          <p:nvPr/>
        </p:nvSpPr>
        <p:spPr>
          <a:xfrm>
            <a:off x="4231640" y="35306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75" name="s475"/>
          <p:cNvSpPr/>
          <p:nvPr/>
        </p:nvSpPr>
        <p:spPr>
          <a:xfrm>
            <a:off x="5019040" y="353060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AVAILABLE</a:t>
            </a:r>
          </a:p>
        </p:txBody>
      </p:sp>
      <p:sp>
        <p:nvSpPr>
          <p:cNvPr id="476" name="s476"/>
          <p:cNvSpPr/>
          <p:nvPr/>
        </p:nvSpPr>
        <p:spPr>
          <a:xfrm>
            <a:off x="5857240" y="3530600"/>
            <a:ext cx="787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TRANSFER</a:t>
            </a:r>
          </a:p>
        </p:txBody>
      </p:sp>
      <p:sp>
        <p:nvSpPr>
          <p:cNvPr id="477" name="s477"/>
          <p:cNvSpPr/>
          <p:nvPr/>
        </p:nvSpPr>
        <p:spPr>
          <a:xfrm>
            <a:off x="6720840" y="353060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WH-01 AFTER</a:t>
            </a:r>
          </a:p>
        </p:txBody>
      </p:sp>
      <p:sp>
        <p:nvSpPr>
          <p:cNvPr id="478" name="s478"/>
          <p:cNvSpPr/>
          <p:nvPr/>
        </p:nvSpPr>
        <p:spPr>
          <a:xfrm>
            <a:off x="7559040" y="35306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WH-02 AFTER</a:t>
            </a:r>
          </a:p>
        </p:txBody>
      </p:sp>
      <p:sp>
        <p:nvSpPr>
          <p:cNvPr id="479" name="s479"/>
          <p:cNvSpPr/>
          <p:nvPr/>
        </p:nvSpPr>
        <p:spPr>
          <a:xfrm>
            <a:off x="8321040" y="353060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CHECK</a:t>
            </a:r>
          </a:p>
        </p:txBody>
      </p:sp>
      <p:sp>
        <p:nvSpPr>
          <p:cNvPr id="480" name="s480"/>
          <p:cNvSpPr/>
          <p:nvPr/>
        </p:nvSpPr>
        <p:spPr>
          <a:xfrm>
            <a:off x="2148840" y="41211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1" name="s481"/>
          <p:cNvSpPr/>
          <p:nvPr/>
        </p:nvSpPr>
        <p:spPr>
          <a:xfrm>
            <a:off x="2148840" y="38481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2326640" y="37973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483" name="s483"/>
          <p:cNvSpPr/>
          <p:nvPr/>
        </p:nvSpPr>
        <p:spPr>
          <a:xfrm>
            <a:off x="4231640" y="37973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2559A8"/>
                </a:solidFill>
                <a:latin typeface="Arial"/>
              </a:rPr>
              <a:t>BK-0142</a:t>
            </a:r>
          </a:p>
        </p:txBody>
      </p:sp>
      <p:sp>
        <p:nvSpPr>
          <p:cNvPr id="484" name="s484"/>
          <p:cNvSpPr/>
          <p:nvPr/>
        </p:nvSpPr>
        <p:spPr>
          <a:xfrm>
            <a:off x="5019040" y="3797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0" spc="0" dirty="0">
                <a:solidFill>
                  <a:srgbClr val="5B6572"/>
                </a:solidFill>
                <a:latin typeface="Arial"/>
              </a:rPr>
              <a:t>1,060</a:t>
            </a:r>
          </a:p>
        </p:txBody>
      </p:sp>
      <p:sp>
        <p:nvSpPr>
          <p:cNvPr id="485" name="s485"/>
          <p:cNvSpPr/>
          <p:nvPr/>
        </p:nvSpPr>
        <p:spPr>
          <a:xfrm>
            <a:off x="5857240" y="3835400"/>
            <a:ext cx="7874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6" name="s486"/>
          <p:cNvSpPr/>
          <p:nvPr/>
        </p:nvSpPr>
        <p:spPr>
          <a:xfrm>
            <a:off x="5857240" y="38354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200</a:t>
            </a:r>
          </a:p>
        </p:txBody>
      </p:sp>
      <p:sp>
        <p:nvSpPr>
          <p:cNvPr id="487" name="s487"/>
          <p:cNvSpPr/>
          <p:nvPr/>
        </p:nvSpPr>
        <p:spPr>
          <a:xfrm>
            <a:off x="6720840" y="3797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860</a:t>
            </a:r>
          </a:p>
        </p:txBody>
      </p:sp>
      <p:sp>
        <p:nvSpPr>
          <p:cNvPr id="488" name="s488"/>
          <p:cNvSpPr/>
          <p:nvPr/>
        </p:nvSpPr>
        <p:spPr>
          <a:xfrm>
            <a:off x="7559040" y="37973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0" spc="0" dirty="0">
                <a:solidFill>
                  <a:srgbClr val="1E8E5A"/>
                </a:solidFill>
                <a:latin typeface="Arial"/>
              </a:rPr>
              <a:t>540</a:t>
            </a:r>
          </a:p>
        </p:txBody>
      </p:sp>
      <p:sp>
        <p:nvSpPr>
          <p:cNvPr id="489" name="s489"/>
          <p:cNvSpPr/>
          <p:nvPr/>
        </p:nvSpPr>
        <p:spPr>
          <a:xfrm>
            <a:off x="8321040" y="3873500"/>
            <a:ext cx="762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0" name="s490"/>
          <p:cNvSpPr/>
          <p:nvPr/>
        </p:nvSpPr>
        <p:spPr>
          <a:xfrm>
            <a:off x="8321040" y="38735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OK</a:t>
            </a:r>
          </a:p>
        </p:txBody>
      </p:sp>
      <p:sp>
        <p:nvSpPr>
          <p:cNvPr id="491" name="s491"/>
          <p:cNvSpPr/>
          <p:nvPr/>
        </p:nvSpPr>
        <p:spPr>
          <a:xfrm>
            <a:off x="2148840" y="44513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2148840" y="41783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2326640" y="41275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Handwriting Copybook</a:t>
            </a:r>
          </a:p>
        </p:txBody>
      </p:sp>
      <p:sp>
        <p:nvSpPr>
          <p:cNvPr id="494" name="s494"/>
          <p:cNvSpPr/>
          <p:nvPr/>
        </p:nvSpPr>
        <p:spPr>
          <a:xfrm>
            <a:off x="4231640" y="41275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2559A8"/>
                </a:solidFill>
                <a:latin typeface="Arial"/>
              </a:rPr>
              <a:t>CB-0104</a:t>
            </a:r>
          </a:p>
        </p:txBody>
      </p:sp>
      <p:sp>
        <p:nvSpPr>
          <p:cNvPr id="495" name="s495"/>
          <p:cNvSpPr/>
          <p:nvPr/>
        </p:nvSpPr>
        <p:spPr>
          <a:xfrm>
            <a:off x="5019040" y="41275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0" spc="0" dirty="0">
                <a:solidFill>
                  <a:srgbClr val="5B6572"/>
                </a:solidFill>
                <a:latin typeface="Arial"/>
              </a:rPr>
              <a:t>730</a:t>
            </a:r>
          </a:p>
        </p:txBody>
      </p:sp>
      <p:sp>
        <p:nvSpPr>
          <p:cNvPr id="496" name="s496"/>
          <p:cNvSpPr/>
          <p:nvPr/>
        </p:nvSpPr>
        <p:spPr>
          <a:xfrm>
            <a:off x="5857240" y="4165600"/>
            <a:ext cx="7874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5857240" y="41656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150</a:t>
            </a:r>
          </a:p>
        </p:txBody>
      </p:sp>
      <p:sp>
        <p:nvSpPr>
          <p:cNvPr id="498" name="s498"/>
          <p:cNvSpPr/>
          <p:nvPr/>
        </p:nvSpPr>
        <p:spPr>
          <a:xfrm>
            <a:off x="6720840" y="41275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580</a:t>
            </a:r>
          </a:p>
        </p:txBody>
      </p:sp>
      <p:sp>
        <p:nvSpPr>
          <p:cNvPr id="499" name="s499"/>
          <p:cNvSpPr/>
          <p:nvPr/>
        </p:nvSpPr>
        <p:spPr>
          <a:xfrm>
            <a:off x="7559040" y="41275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0" spc="0" dirty="0">
                <a:solidFill>
                  <a:srgbClr val="1E8E5A"/>
                </a:solidFill>
                <a:latin typeface="Arial"/>
              </a:rPr>
              <a:t>410</a:t>
            </a:r>
          </a:p>
        </p:txBody>
      </p:sp>
      <p:sp>
        <p:nvSpPr>
          <p:cNvPr id="500" name="s500"/>
          <p:cNvSpPr/>
          <p:nvPr/>
        </p:nvSpPr>
        <p:spPr>
          <a:xfrm>
            <a:off x="8321040" y="4203700"/>
            <a:ext cx="762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1" name="s501"/>
          <p:cNvSpPr/>
          <p:nvPr/>
        </p:nvSpPr>
        <p:spPr>
          <a:xfrm>
            <a:off x="8321040" y="42037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OK</a:t>
            </a:r>
          </a:p>
        </p:txBody>
      </p:sp>
      <p:sp>
        <p:nvSpPr>
          <p:cNvPr id="502" name="s502"/>
          <p:cNvSpPr/>
          <p:nvPr/>
        </p:nvSpPr>
        <p:spPr>
          <a:xfrm>
            <a:off x="2148840" y="47815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2148840" y="45085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4" name="s504"/>
          <p:cNvSpPr/>
          <p:nvPr/>
        </p:nvSpPr>
        <p:spPr>
          <a:xfrm>
            <a:off x="2326640" y="44577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Memory Matching Cards</a:t>
            </a:r>
          </a:p>
        </p:txBody>
      </p:sp>
      <p:sp>
        <p:nvSpPr>
          <p:cNvPr id="505" name="s505"/>
          <p:cNvSpPr/>
          <p:nvPr/>
        </p:nvSpPr>
        <p:spPr>
          <a:xfrm>
            <a:off x="4231640" y="44577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2559A8"/>
                </a:solidFill>
                <a:latin typeface="Arial"/>
              </a:rPr>
              <a:t>GC-0057</a:t>
            </a:r>
          </a:p>
        </p:txBody>
      </p:sp>
      <p:sp>
        <p:nvSpPr>
          <p:cNvPr id="506" name="s506"/>
          <p:cNvSpPr/>
          <p:nvPr/>
        </p:nvSpPr>
        <p:spPr>
          <a:xfrm>
            <a:off x="5019040" y="44577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0" spc="0" dirty="0">
                <a:solidFill>
                  <a:srgbClr val="5B6572"/>
                </a:solidFill>
                <a:latin typeface="Arial"/>
              </a:rPr>
              <a:t>272</a:t>
            </a:r>
          </a:p>
        </p:txBody>
      </p:sp>
      <p:sp>
        <p:nvSpPr>
          <p:cNvPr id="507" name="s507"/>
          <p:cNvSpPr/>
          <p:nvPr/>
        </p:nvSpPr>
        <p:spPr>
          <a:xfrm>
            <a:off x="5857240" y="4495800"/>
            <a:ext cx="7874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3261E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8" name="s508"/>
          <p:cNvSpPr/>
          <p:nvPr/>
        </p:nvSpPr>
        <p:spPr>
          <a:xfrm>
            <a:off x="5857240" y="44958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300</a:t>
            </a:r>
          </a:p>
        </p:txBody>
      </p:sp>
      <p:sp>
        <p:nvSpPr>
          <p:cNvPr id="509" name="s509"/>
          <p:cNvSpPr/>
          <p:nvPr/>
        </p:nvSpPr>
        <p:spPr>
          <a:xfrm>
            <a:off x="6720840" y="44577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B3261E"/>
                </a:solidFill>
                <a:latin typeface="Arial"/>
              </a:rPr>
              <a:t>−28</a:t>
            </a:r>
          </a:p>
        </p:txBody>
      </p:sp>
      <p:sp>
        <p:nvSpPr>
          <p:cNvPr id="510" name="s510"/>
          <p:cNvSpPr/>
          <p:nvPr/>
        </p:nvSpPr>
        <p:spPr>
          <a:xfrm>
            <a:off x="7559040" y="44577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0" spc="0" dirty="0">
                <a:solidFill>
                  <a:srgbClr val="1E8E5A"/>
                </a:solidFill>
                <a:latin typeface="Arial"/>
              </a:rPr>
              <a:t>480</a:t>
            </a:r>
          </a:p>
        </p:txBody>
      </p:sp>
      <p:sp>
        <p:nvSpPr>
          <p:cNvPr id="511" name="s511"/>
          <p:cNvSpPr/>
          <p:nvPr/>
        </p:nvSpPr>
        <p:spPr>
          <a:xfrm>
            <a:off x="8321040" y="4533900"/>
            <a:ext cx="7620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8321040" y="45339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B3261E"/>
                </a:solidFill>
                <a:latin typeface="Calibri"/>
              </a:rPr>
              <a:t>Short 28</a:t>
            </a:r>
          </a:p>
        </p:txBody>
      </p:sp>
      <p:sp>
        <p:nvSpPr>
          <p:cNvPr id="513" name="s513"/>
          <p:cNvSpPr/>
          <p:nvPr/>
        </p:nvSpPr>
        <p:spPr>
          <a:xfrm>
            <a:off x="2148840" y="51117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s514"/>
          <p:cNvSpPr/>
          <p:nvPr/>
        </p:nvSpPr>
        <p:spPr>
          <a:xfrm>
            <a:off x="2148840" y="48387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5" name="s515"/>
          <p:cNvSpPr/>
          <p:nvPr/>
        </p:nvSpPr>
        <p:spPr>
          <a:xfrm>
            <a:off x="2326640" y="47879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516" name="s516"/>
          <p:cNvSpPr/>
          <p:nvPr/>
        </p:nvSpPr>
        <p:spPr>
          <a:xfrm>
            <a:off x="4231640" y="47879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2559A8"/>
                </a:solidFill>
                <a:latin typeface="Arial"/>
              </a:rPr>
              <a:t>PZ-0088</a:t>
            </a:r>
          </a:p>
        </p:txBody>
      </p:sp>
      <p:sp>
        <p:nvSpPr>
          <p:cNvPr id="517" name="s517"/>
          <p:cNvSpPr/>
          <p:nvPr/>
        </p:nvSpPr>
        <p:spPr>
          <a:xfrm>
            <a:off x="5019040" y="47879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0" spc="0" dirty="0">
                <a:solidFill>
                  <a:srgbClr val="5B6572"/>
                </a:solidFill>
                <a:latin typeface="Arial"/>
              </a:rPr>
              <a:t>62</a:t>
            </a:r>
          </a:p>
        </p:txBody>
      </p:sp>
      <p:sp>
        <p:nvSpPr>
          <p:cNvPr id="518" name="s518"/>
          <p:cNvSpPr/>
          <p:nvPr/>
        </p:nvSpPr>
        <p:spPr>
          <a:xfrm>
            <a:off x="5857240" y="4826000"/>
            <a:ext cx="787400" cy="25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9" name="s519"/>
          <p:cNvSpPr/>
          <p:nvPr/>
        </p:nvSpPr>
        <p:spPr>
          <a:xfrm>
            <a:off x="5857240" y="48260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40</a:t>
            </a:r>
          </a:p>
        </p:txBody>
      </p:sp>
      <p:sp>
        <p:nvSpPr>
          <p:cNvPr id="520" name="s520"/>
          <p:cNvSpPr/>
          <p:nvPr/>
        </p:nvSpPr>
        <p:spPr>
          <a:xfrm>
            <a:off x="6720840" y="47879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22</a:t>
            </a:r>
          </a:p>
        </p:txBody>
      </p:sp>
      <p:sp>
        <p:nvSpPr>
          <p:cNvPr id="521" name="s521"/>
          <p:cNvSpPr/>
          <p:nvPr/>
        </p:nvSpPr>
        <p:spPr>
          <a:xfrm>
            <a:off x="7559040" y="47879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0" spc="0" dirty="0">
                <a:solidFill>
                  <a:srgbClr val="1E8E5A"/>
                </a:solidFill>
                <a:latin typeface="Arial"/>
              </a:rPr>
              <a:t>40</a:t>
            </a:r>
          </a:p>
        </p:txBody>
      </p:sp>
      <p:sp>
        <p:nvSpPr>
          <p:cNvPr id="522" name="s522"/>
          <p:cNvSpPr/>
          <p:nvPr/>
        </p:nvSpPr>
        <p:spPr>
          <a:xfrm>
            <a:off x="8321040" y="4864100"/>
            <a:ext cx="7620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8321040" y="48641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Below reorder</a:t>
            </a:r>
          </a:p>
        </p:txBody>
      </p:sp>
      <p:sp>
        <p:nvSpPr>
          <p:cNvPr id="524" name="s524"/>
          <p:cNvSpPr/>
          <p:nvPr/>
        </p:nvSpPr>
        <p:spPr>
          <a:xfrm>
            <a:off x="2148840" y="5118100"/>
            <a:ext cx="7112000" cy="3302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2326640" y="5118100"/>
            <a:ext cx="182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Total</a:t>
            </a:r>
          </a:p>
        </p:txBody>
      </p:sp>
      <p:sp>
        <p:nvSpPr>
          <p:cNvPr id="526" name="s526"/>
          <p:cNvSpPr/>
          <p:nvPr/>
        </p:nvSpPr>
        <p:spPr>
          <a:xfrm>
            <a:off x="5857240" y="51181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50" b="1" spc="0" dirty="0">
                <a:solidFill>
                  <a:srgbClr val="10141A"/>
                </a:solidFill>
                <a:latin typeface="Arial"/>
              </a:rPr>
              <a:t>690</a:t>
            </a:r>
          </a:p>
        </p:txBody>
      </p:sp>
      <p:sp>
        <p:nvSpPr>
          <p:cNvPr id="527" name="s527"/>
          <p:cNvSpPr/>
          <p:nvPr/>
        </p:nvSpPr>
        <p:spPr>
          <a:xfrm>
            <a:off x="8321040" y="51181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B3261E"/>
                </a:solidFill>
                <a:latin typeface="Calibri"/>
              </a:rPr>
              <a:t>1 issue</a:t>
            </a:r>
          </a:p>
        </p:txBody>
      </p:sp>
      <p:sp>
        <p:nvSpPr>
          <p:cNvPr id="528" name="s528"/>
          <p:cNvSpPr/>
          <p:nvPr/>
        </p:nvSpPr>
        <p:spPr>
          <a:xfrm>
            <a:off x="2326640" y="55626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Availability is re-checked when the transfer is approved, not when it is drafted.</a:t>
            </a:r>
          </a:p>
        </p:txBody>
      </p:sp>
      <p:sp>
        <p:nvSpPr>
          <p:cNvPr id="529" name="s529"/>
          <p:cNvSpPr/>
          <p:nvPr/>
        </p:nvSpPr>
        <p:spPr>
          <a:xfrm>
            <a:off x="2326640" y="5867400"/>
            <a:ext cx="1905000" cy="279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Check availability</a:t>
            </a:r>
          </a:p>
        </p:txBody>
      </p:sp>
      <p:sp>
        <p:nvSpPr>
          <p:cNvPr id="530" name="s530"/>
          <p:cNvSpPr/>
          <p:nvPr/>
        </p:nvSpPr>
        <p:spPr>
          <a:xfrm>
            <a:off x="4381500" y="58674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Last checked 09:52  ·  live stock feed</a:t>
            </a:r>
          </a:p>
        </p:txBody>
      </p:sp>
      <p:sp>
        <p:nvSpPr>
          <p:cNvPr id="531" name="s531"/>
          <p:cNvSpPr/>
          <p:nvPr/>
        </p:nvSpPr>
        <p:spPr>
          <a:xfrm>
            <a:off x="9438640" y="2717800"/>
            <a:ext cx="2494280" cy="378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2" name="s532"/>
          <p:cNvSpPr/>
          <p:nvPr/>
        </p:nvSpPr>
        <p:spPr>
          <a:xfrm>
            <a:off x="9616440" y="2857500"/>
            <a:ext cx="2133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Transfer Summary</a:t>
            </a:r>
          </a:p>
        </p:txBody>
      </p:sp>
      <p:sp>
        <p:nvSpPr>
          <p:cNvPr id="533" name="s533"/>
          <p:cNvSpPr/>
          <p:nvPr/>
        </p:nvSpPr>
        <p:spPr>
          <a:xfrm>
            <a:off x="9616440" y="3073400"/>
            <a:ext cx="2133600" cy="190500"/>
          </a:xfrm>
          <a:prstGeom prst="roundRect">
            <a:avLst>
              <a:gd name="adj" fmla="val 26000"/>
            </a:avLst>
          </a:prstGeom>
          <a:solidFill>
            <a:srgbClr val="5B6572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9616440" y="3073400"/>
            <a:ext cx="2133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5B6572"/>
                </a:solidFill>
                <a:latin typeface="Calibri"/>
              </a:rPr>
              <a:t>Draft</a:t>
            </a:r>
          </a:p>
        </p:txBody>
      </p:sp>
      <p:sp>
        <p:nvSpPr>
          <p:cNvPr id="535" name="s535"/>
          <p:cNvSpPr/>
          <p:nvPr/>
        </p:nvSpPr>
        <p:spPr>
          <a:xfrm>
            <a:off x="10426700" y="30734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5B6572"/>
                </a:solidFill>
                <a:latin typeface="Arial"/>
              </a:rPr>
              <a:t>TRF-2026-0043</a:t>
            </a:r>
          </a:p>
        </p:txBody>
      </p:sp>
      <p:sp>
        <p:nvSpPr>
          <p:cNvPr id="536" name="s536"/>
          <p:cNvSpPr/>
          <p:nvPr/>
        </p:nvSpPr>
        <p:spPr>
          <a:xfrm>
            <a:off x="9616440" y="3403600"/>
            <a:ext cx="2133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Expected arrival</a:t>
            </a:r>
          </a:p>
        </p:txBody>
      </p:sp>
      <p:sp>
        <p:nvSpPr>
          <p:cNvPr id="537" name="s537"/>
          <p:cNvSpPr/>
          <p:nvPr/>
        </p:nvSpPr>
        <p:spPr>
          <a:xfrm>
            <a:off x="9616440" y="3568700"/>
            <a:ext cx="21336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9730740" y="35687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0" spc="0" dirty="0">
                <a:solidFill>
                  <a:srgbClr val="10141A"/>
                </a:solidFill>
                <a:latin typeface="Arial"/>
              </a:rPr>
              <a:t>12 Jan 2026</a:t>
            </a:r>
          </a:p>
        </p:txBody>
      </p:sp>
      <p:sp>
        <p:nvSpPr>
          <p:cNvPr id="539" name="s539"/>
          <p:cNvSpPr/>
          <p:nvPr/>
        </p:nvSpPr>
        <p:spPr>
          <a:xfrm>
            <a:off x="9616440" y="3911600"/>
            <a:ext cx="2133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Carrier</a:t>
            </a:r>
          </a:p>
        </p:txBody>
      </p:sp>
      <p:sp>
        <p:nvSpPr>
          <p:cNvPr id="540" name="s540"/>
          <p:cNvSpPr/>
          <p:nvPr/>
        </p:nvSpPr>
        <p:spPr>
          <a:xfrm>
            <a:off x="9616440" y="4076700"/>
            <a:ext cx="21336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1" name="s541"/>
          <p:cNvSpPr/>
          <p:nvPr/>
        </p:nvSpPr>
        <p:spPr>
          <a:xfrm>
            <a:off x="9730740" y="40767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0" spc="0" dirty="0">
                <a:solidFill>
                  <a:srgbClr val="10141A"/>
                </a:solidFill>
                <a:latin typeface="Calibri"/>
              </a:rPr>
              <a:t>Own fleet — Truck LR-4412</a:t>
            </a:r>
          </a:p>
        </p:txBody>
      </p:sp>
      <p:sp>
        <p:nvSpPr>
          <p:cNvPr id="542" name="s542"/>
          <p:cNvSpPr/>
          <p:nvPr/>
        </p:nvSpPr>
        <p:spPr>
          <a:xfrm rot="10800000">
            <a:off x="11546840" y="417195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9616440" y="4419600"/>
            <a:ext cx="2133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Dispatched by</a:t>
            </a:r>
          </a:p>
        </p:txBody>
      </p:sp>
      <p:sp>
        <p:nvSpPr>
          <p:cNvPr id="544" name="s544"/>
          <p:cNvSpPr/>
          <p:nvPr/>
        </p:nvSpPr>
        <p:spPr>
          <a:xfrm>
            <a:off x="9616440" y="4584700"/>
            <a:ext cx="21336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5" name="s545"/>
          <p:cNvSpPr/>
          <p:nvPr/>
        </p:nvSpPr>
        <p:spPr>
          <a:xfrm>
            <a:off x="9730740" y="45847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50" b="0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546" name="s546"/>
          <p:cNvSpPr/>
          <p:nvPr/>
        </p:nvSpPr>
        <p:spPr>
          <a:xfrm rot="10800000">
            <a:off x="11546840" y="467995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7" name="s547"/>
          <p:cNvSpPr/>
          <p:nvPr/>
        </p:nvSpPr>
        <p:spPr>
          <a:xfrm>
            <a:off x="9616440" y="4978400"/>
            <a:ext cx="2133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9616440" y="50800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Products</a:t>
            </a:r>
          </a:p>
        </p:txBody>
      </p:sp>
      <p:sp>
        <p:nvSpPr>
          <p:cNvPr id="549" name="s549"/>
          <p:cNvSpPr/>
          <p:nvPr/>
        </p:nvSpPr>
        <p:spPr>
          <a:xfrm>
            <a:off x="10833100" y="50800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4 lines</a:t>
            </a:r>
          </a:p>
        </p:txBody>
      </p:sp>
      <p:sp>
        <p:nvSpPr>
          <p:cNvPr id="550" name="s550"/>
          <p:cNvSpPr/>
          <p:nvPr/>
        </p:nvSpPr>
        <p:spPr>
          <a:xfrm>
            <a:off x="9616440" y="52959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551" name="s551"/>
          <p:cNvSpPr/>
          <p:nvPr/>
        </p:nvSpPr>
        <p:spPr>
          <a:xfrm>
            <a:off x="10833100" y="52959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690</a:t>
            </a:r>
          </a:p>
        </p:txBody>
      </p:sp>
      <p:sp>
        <p:nvSpPr>
          <p:cNvPr id="552" name="s552"/>
          <p:cNvSpPr/>
          <p:nvPr/>
        </p:nvSpPr>
        <p:spPr>
          <a:xfrm>
            <a:off x="9616440" y="55118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Est. value</a:t>
            </a:r>
          </a:p>
        </p:txBody>
      </p:sp>
      <p:sp>
        <p:nvSpPr>
          <p:cNvPr id="553" name="s553"/>
          <p:cNvSpPr/>
          <p:nvPr/>
        </p:nvSpPr>
        <p:spPr>
          <a:xfrm>
            <a:off x="10833100" y="55118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$1,884</a:t>
            </a:r>
          </a:p>
        </p:txBody>
      </p:sp>
      <p:sp>
        <p:nvSpPr>
          <p:cNvPr id="554" name="s554"/>
          <p:cNvSpPr/>
          <p:nvPr/>
        </p:nvSpPr>
        <p:spPr>
          <a:xfrm>
            <a:off x="9616440" y="57277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Distance</a:t>
            </a:r>
          </a:p>
        </p:txBody>
      </p:sp>
      <p:sp>
        <p:nvSpPr>
          <p:cNvPr id="555" name="s555"/>
          <p:cNvSpPr/>
          <p:nvPr/>
        </p:nvSpPr>
        <p:spPr>
          <a:xfrm>
            <a:off x="10833100" y="57277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18 km</a:t>
            </a:r>
          </a:p>
        </p:txBody>
      </p:sp>
      <p:sp>
        <p:nvSpPr>
          <p:cNvPr id="556" name="s556"/>
          <p:cNvSpPr/>
          <p:nvPr/>
        </p:nvSpPr>
        <p:spPr>
          <a:xfrm>
            <a:off x="9616440" y="5994400"/>
            <a:ext cx="2133600" cy="406400"/>
          </a:xfrm>
          <a:prstGeom prst="roundRect">
            <a:avLst>
              <a:gd name="adj" fmla="val 6000"/>
            </a:avLst>
          </a:prstGeom>
          <a:solidFill>
            <a:srgbClr val="B3261E">
              <a:alpha val="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7" name="s557"/>
          <p:cNvSpPr/>
          <p:nvPr/>
        </p:nvSpPr>
        <p:spPr>
          <a:xfrm>
            <a:off x="9616440" y="5994400"/>
            <a:ext cx="25400" cy="4064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8" name="s558"/>
          <p:cNvSpPr/>
          <p:nvPr/>
        </p:nvSpPr>
        <p:spPr>
          <a:xfrm>
            <a:off x="9743440" y="6045200"/>
            <a:ext cx="1930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00" b="0" spc="0" dirty="0">
                <a:solidFill>
                  <a:srgbClr val="8C1D18"/>
                </a:solidFill>
                <a:latin typeface="Calibri"/>
              </a:rPr>
              <a:t>Resolve 1 short line before submitting.</a:t>
            </a:r>
          </a:p>
        </p:txBody>
      </p:sp>
      <p:pic>
        <p:nvPicPr>
          <p:cNvPr id="559" name="Copied Picture 559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90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1200" b="1" spc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Lazy Pygmy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2" name="s412"/>
          <p:cNvSpPr/>
          <p:nvPr/>
        </p:nvSpPr>
        <p:spPr>
          <a:xfrm>
            <a:off x="101600" y="32639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101600" y="32639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Warehouses  ›  Transfers  ›  TRF-2026-0042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Transfer TRF-2026-0042</a:t>
            </a:r>
          </a:p>
        </p:txBody>
      </p:sp>
      <p:sp>
        <p:nvSpPr>
          <p:cNvPr id="443" name="s443"/>
          <p:cNvSpPr/>
          <p:nvPr/>
        </p:nvSpPr>
        <p:spPr>
          <a:xfrm>
            <a:off x="5270500" y="838200"/>
            <a:ext cx="838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4" name="s444"/>
          <p:cNvSpPr/>
          <p:nvPr/>
        </p:nvSpPr>
        <p:spPr>
          <a:xfrm>
            <a:off x="5270500" y="8382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Received</a:t>
            </a:r>
          </a:p>
        </p:txBody>
      </p:sp>
      <p:sp>
        <p:nvSpPr>
          <p:cNvPr id="445" name="s445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WH-01 Central Warehouse  →  WH-02 Paynesville  ·  620 units sent  ·  616 received</a:t>
            </a:r>
          </a:p>
        </p:txBody>
      </p:sp>
      <p:sp>
        <p:nvSpPr>
          <p:cNvPr id="446" name="s446"/>
          <p:cNvSpPr/>
          <p:nvPr/>
        </p:nvSpPr>
        <p:spPr>
          <a:xfrm>
            <a:off x="10805160" y="812800"/>
            <a:ext cx="112776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10805160" y="812800"/>
            <a:ext cx="112776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Download GRN</a:t>
            </a:r>
          </a:p>
        </p:txBody>
      </p:sp>
      <p:sp>
        <p:nvSpPr>
          <p:cNvPr id="448" name="s448"/>
          <p:cNvSpPr/>
          <p:nvPr/>
        </p:nvSpPr>
        <p:spPr>
          <a:xfrm>
            <a:off x="9756140" y="812800"/>
            <a:ext cx="92202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9756140" y="812800"/>
            <a:ext cx="9220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Duplicate</a:t>
            </a:r>
          </a:p>
        </p:txBody>
      </p:sp>
      <p:sp>
        <p:nvSpPr>
          <p:cNvPr id="450" name="s450"/>
          <p:cNvSpPr/>
          <p:nvPr/>
        </p:nvSpPr>
        <p:spPr>
          <a:xfrm>
            <a:off x="8981440" y="812800"/>
            <a:ext cx="6477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8981440" y="812800"/>
            <a:ext cx="6477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Print</a:t>
            </a:r>
          </a:p>
        </p:txBody>
      </p:sp>
      <p:sp>
        <p:nvSpPr>
          <p:cNvPr id="452" name="s452"/>
          <p:cNvSpPr/>
          <p:nvPr/>
        </p:nvSpPr>
        <p:spPr>
          <a:xfrm>
            <a:off x="2148840" y="1422400"/>
            <a:ext cx="9784080" cy="1320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s453"/>
          <p:cNvSpPr/>
          <p:nvPr/>
        </p:nvSpPr>
        <p:spPr>
          <a:xfrm>
            <a:off x="2326640" y="1562100"/>
            <a:ext cx="80060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Transfer Lifecycle</a:t>
            </a:r>
          </a:p>
        </p:txBody>
      </p:sp>
      <p:sp>
        <p:nvSpPr>
          <p:cNvPr id="454" name="s454"/>
          <p:cNvSpPr/>
          <p:nvPr/>
        </p:nvSpPr>
        <p:spPr>
          <a:xfrm>
            <a:off x="10358120" y="15621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All steps complete</a:t>
            </a:r>
          </a:p>
        </p:txBody>
      </p:sp>
      <p:sp>
        <p:nvSpPr>
          <p:cNvPr id="455" name="s455"/>
          <p:cNvSpPr/>
          <p:nvPr/>
        </p:nvSpPr>
        <p:spPr>
          <a:xfrm>
            <a:off x="2540000" y="1930400"/>
            <a:ext cx="254000" cy="2540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6" name="s456"/>
          <p:cNvSpPr/>
          <p:nvPr/>
        </p:nvSpPr>
        <p:spPr>
          <a:xfrm>
            <a:off x="2540000" y="19304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7" name="s457"/>
          <p:cNvSpPr/>
          <p:nvPr/>
        </p:nvSpPr>
        <p:spPr>
          <a:xfrm>
            <a:off x="2794000" y="2044700"/>
            <a:ext cx="2108200" cy="254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2362200" y="22606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Requested</a:t>
            </a:r>
          </a:p>
        </p:txBody>
      </p:sp>
      <p:sp>
        <p:nvSpPr>
          <p:cNvPr id="459" name="s459"/>
          <p:cNvSpPr/>
          <p:nvPr/>
        </p:nvSpPr>
        <p:spPr>
          <a:xfrm>
            <a:off x="2362200" y="24384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3 Jan 2026, 08:12</a:t>
            </a:r>
          </a:p>
        </p:txBody>
      </p:sp>
      <p:sp>
        <p:nvSpPr>
          <p:cNvPr id="460" name="s460"/>
          <p:cNvSpPr/>
          <p:nvPr/>
        </p:nvSpPr>
        <p:spPr>
          <a:xfrm>
            <a:off x="2362200" y="25781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8A93A0"/>
                </a:solidFill>
                <a:latin typeface="Calibri"/>
              </a:rPr>
              <a:t>Sarah Weah · Storekeeper</a:t>
            </a:r>
          </a:p>
        </p:txBody>
      </p:sp>
      <p:sp>
        <p:nvSpPr>
          <p:cNvPr id="461" name="s461"/>
          <p:cNvSpPr/>
          <p:nvPr/>
        </p:nvSpPr>
        <p:spPr>
          <a:xfrm>
            <a:off x="4902200" y="1930400"/>
            <a:ext cx="254000" cy="2540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4902200" y="19304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3" name="s463"/>
          <p:cNvSpPr/>
          <p:nvPr/>
        </p:nvSpPr>
        <p:spPr>
          <a:xfrm>
            <a:off x="5156200" y="2044700"/>
            <a:ext cx="2108200" cy="254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4724400" y="22606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Approved</a:t>
            </a:r>
          </a:p>
        </p:txBody>
      </p:sp>
      <p:sp>
        <p:nvSpPr>
          <p:cNvPr id="465" name="s465"/>
          <p:cNvSpPr/>
          <p:nvPr/>
        </p:nvSpPr>
        <p:spPr>
          <a:xfrm>
            <a:off x="4724400" y="24384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3 Jan 2026, 10:40</a:t>
            </a:r>
          </a:p>
        </p:txBody>
      </p:sp>
      <p:sp>
        <p:nvSpPr>
          <p:cNvPr id="466" name="s466"/>
          <p:cNvSpPr/>
          <p:nvPr/>
        </p:nvSpPr>
        <p:spPr>
          <a:xfrm>
            <a:off x="4724400" y="25781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8A93A0"/>
                </a:solidFill>
                <a:latin typeface="Calibri"/>
              </a:rPr>
              <a:t>Grace Kollie · Inventory Mgr</a:t>
            </a:r>
          </a:p>
        </p:txBody>
      </p:sp>
      <p:sp>
        <p:nvSpPr>
          <p:cNvPr id="467" name="s467"/>
          <p:cNvSpPr/>
          <p:nvPr/>
        </p:nvSpPr>
        <p:spPr>
          <a:xfrm>
            <a:off x="7264400" y="1930400"/>
            <a:ext cx="254000" cy="2540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8" name="s468"/>
          <p:cNvSpPr/>
          <p:nvPr/>
        </p:nvSpPr>
        <p:spPr>
          <a:xfrm>
            <a:off x="7264400" y="19304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9" name="s469"/>
          <p:cNvSpPr/>
          <p:nvPr/>
        </p:nvSpPr>
        <p:spPr>
          <a:xfrm>
            <a:off x="7518400" y="2044700"/>
            <a:ext cx="2108200" cy="254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7086600" y="22606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In Transit</a:t>
            </a:r>
          </a:p>
        </p:txBody>
      </p:sp>
      <p:sp>
        <p:nvSpPr>
          <p:cNvPr id="471" name="s471"/>
          <p:cNvSpPr/>
          <p:nvPr/>
        </p:nvSpPr>
        <p:spPr>
          <a:xfrm>
            <a:off x="7086600" y="24384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4 Jan 2026, 07:05</a:t>
            </a:r>
          </a:p>
        </p:txBody>
      </p:sp>
      <p:sp>
        <p:nvSpPr>
          <p:cNvPr id="472" name="s472"/>
          <p:cNvSpPr/>
          <p:nvPr/>
        </p:nvSpPr>
        <p:spPr>
          <a:xfrm>
            <a:off x="7086600" y="25781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8A93A0"/>
                </a:solidFill>
                <a:latin typeface="Calibri"/>
              </a:rPr>
              <a:t>Truck LR-4412 · own fleet</a:t>
            </a:r>
          </a:p>
        </p:txBody>
      </p:sp>
      <p:sp>
        <p:nvSpPr>
          <p:cNvPr id="473" name="s473"/>
          <p:cNvSpPr/>
          <p:nvPr/>
        </p:nvSpPr>
        <p:spPr>
          <a:xfrm>
            <a:off x="9626600" y="1930400"/>
            <a:ext cx="254000" cy="2540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4" name="s474"/>
          <p:cNvSpPr/>
          <p:nvPr/>
        </p:nvSpPr>
        <p:spPr>
          <a:xfrm>
            <a:off x="9626600" y="19304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75" name="s475"/>
          <p:cNvSpPr/>
          <p:nvPr/>
        </p:nvSpPr>
        <p:spPr>
          <a:xfrm>
            <a:off x="9448800" y="22606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Received</a:t>
            </a:r>
          </a:p>
        </p:txBody>
      </p:sp>
      <p:sp>
        <p:nvSpPr>
          <p:cNvPr id="476" name="s476"/>
          <p:cNvSpPr/>
          <p:nvPr/>
        </p:nvSpPr>
        <p:spPr>
          <a:xfrm>
            <a:off x="9448800" y="24384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5 Jan 2026, 11:28</a:t>
            </a:r>
          </a:p>
        </p:txBody>
      </p:sp>
      <p:sp>
        <p:nvSpPr>
          <p:cNvPr id="477" name="s477"/>
          <p:cNvSpPr/>
          <p:nvPr/>
        </p:nvSpPr>
        <p:spPr>
          <a:xfrm>
            <a:off x="9448800" y="25781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8A93A0"/>
                </a:solidFill>
                <a:latin typeface="Calibri"/>
              </a:rPr>
              <a:t>Peter Sirleaf · WH-02</a:t>
            </a:r>
          </a:p>
        </p:txBody>
      </p:sp>
      <p:sp>
        <p:nvSpPr>
          <p:cNvPr id="478" name="s478"/>
          <p:cNvSpPr/>
          <p:nvPr/>
        </p:nvSpPr>
        <p:spPr>
          <a:xfrm>
            <a:off x="2148840" y="2870200"/>
            <a:ext cx="7112000" cy="363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2326640" y="3009900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Transfer Lines</a:t>
            </a:r>
          </a:p>
        </p:txBody>
      </p:sp>
      <p:sp>
        <p:nvSpPr>
          <p:cNvPr id="480" name="s480"/>
          <p:cNvSpPr/>
          <p:nvPr/>
        </p:nvSpPr>
        <p:spPr>
          <a:xfrm>
            <a:off x="7686040" y="30099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4 products</a:t>
            </a:r>
          </a:p>
        </p:txBody>
      </p:sp>
      <p:sp>
        <p:nvSpPr>
          <p:cNvPr id="481" name="s481"/>
          <p:cNvSpPr/>
          <p:nvPr/>
        </p:nvSpPr>
        <p:spPr>
          <a:xfrm>
            <a:off x="2148840" y="3276600"/>
            <a:ext cx="711200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2326640" y="32766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83" name="s483"/>
          <p:cNvSpPr/>
          <p:nvPr/>
        </p:nvSpPr>
        <p:spPr>
          <a:xfrm>
            <a:off x="4307840" y="32766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84" name="s484"/>
          <p:cNvSpPr/>
          <p:nvPr/>
        </p:nvSpPr>
        <p:spPr>
          <a:xfrm>
            <a:off x="5095240" y="32766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SENT</a:t>
            </a:r>
          </a:p>
        </p:txBody>
      </p:sp>
      <p:sp>
        <p:nvSpPr>
          <p:cNvPr id="485" name="s485"/>
          <p:cNvSpPr/>
          <p:nvPr/>
        </p:nvSpPr>
        <p:spPr>
          <a:xfrm>
            <a:off x="5908040" y="3276600"/>
            <a:ext cx="787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RECEIVED</a:t>
            </a:r>
          </a:p>
        </p:txBody>
      </p:sp>
      <p:sp>
        <p:nvSpPr>
          <p:cNvPr id="486" name="s486"/>
          <p:cNvSpPr/>
          <p:nvPr/>
        </p:nvSpPr>
        <p:spPr>
          <a:xfrm>
            <a:off x="6797040" y="327660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VARIANCE</a:t>
            </a:r>
          </a:p>
        </p:txBody>
      </p:sp>
      <p:sp>
        <p:nvSpPr>
          <p:cNvPr id="487" name="s487"/>
          <p:cNvSpPr/>
          <p:nvPr/>
        </p:nvSpPr>
        <p:spPr>
          <a:xfrm>
            <a:off x="7660640" y="3276600"/>
            <a:ext cx="965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88" name="s488"/>
          <p:cNvSpPr/>
          <p:nvPr/>
        </p:nvSpPr>
        <p:spPr>
          <a:xfrm>
            <a:off x="2148840" y="38671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2148840" y="35941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0" name="s490"/>
          <p:cNvSpPr/>
          <p:nvPr/>
        </p:nvSpPr>
        <p:spPr>
          <a:xfrm>
            <a:off x="2326640" y="35433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491" name="s491"/>
          <p:cNvSpPr/>
          <p:nvPr/>
        </p:nvSpPr>
        <p:spPr>
          <a:xfrm>
            <a:off x="4307840" y="35433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2559A8"/>
                </a:solidFill>
                <a:latin typeface="Arial"/>
              </a:rPr>
              <a:t>BK-0142</a:t>
            </a:r>
          </a:p>
        </p:txBody>
      </p:sp>
      <p:sp>
        <p:nvSpPr>
          <p:cNvPr id="492" name="s492"/>
          <p:cNvSpPr/>
          <p:nvPr/>
        </p:nvSpPr>
        <p:spPr>
          <a:xfrm>
            <a:off x="5095240" y="35433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200</a:t>
            </a:r>
          </a:p>
        </p:txBody>
      </p:sp>
      <p:sp>
        <p:nvSpPr>
          <p:cNvPr id="493" name="s493"/>
          <p:cNvSpPr/>
          <p:nvPr/>
        </p:nvSpPr>
        <p:spPr>
          <a:xfrm>
            <a:off x="5908040" y="35433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200</a:t>
            </a:r>
          </a:p>
        </p:txBody>
      </p:sp>
      <p:sp>
        <p:nvSpPr>
          <p:cNvPr id="494" name="s494"/>
          <p:cNvSpPr/>
          <p:nvPr/>
        </p:nvSpPr>
        <p:spPr>
          <a:xfrm>
            <a:off x="6797040" y="35433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5B6572"/>
                </a:solidFill>
                <a:latin typeface="Arial"/>
              </a:rPr>
              <a:t>0</a:t>
            </a:r>
          </a:p>
        </p:txBody>
      </p:sp>
      <p:sp>
        <p:nvSpPr>
          <p:cNvPr id="495" name="s495"/>
          <p:cNvSpPr/>
          <p:nvPr/>
        </p:nvSpPr>
        <p:spPr>
          <a:xfrm>
            <a:off x="7660640" y="36195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7660640" y="36195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Complete</a:t>
            </a:r>
          </a:p>
        </p:txBody>
      </p:sp>
      <p:sp>
        <p:nvSpPr>
          <p:cNvPr id="497" name="s497"/>
          <p:cNvSpPr/>
          <p:nvPr/>
        </p:nvSpPr>
        <p:spPr>
          <a:xfrm>
            <a:off x="2148840" y="41973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2148840" y="39243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9" name="s499"/>
          <p:cNvSpPr/>
          <p:nvPr/>
        </p:nvSpPr>
        <p:spPr>
          <a:xfrm>
            <a:off x="2326640" y="38735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Handwriting Copybook</a:t>
            </a:r>
          </a:p>
        </p:txBody>
      </p:sp>
      <p:sp>
        <p:nvSpPr>
          <p:cNvPr id="500" name="s500"/>
          <p:cNvSpPr/>
          <p:nvPr/>
        </p:nvSpPr>
        <p:spPr>
          <a:xfrm>
            <a:off x="4307840" y="38735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2559A8"/>
                </a:solidFill>
                <a:latin typeface="Arial"/>
              </a:rPr>
              <a:t>CB-0104</a:t>
            </a:r>
          </a:p>
        </p:txBody>
      </p:sp>
      <p:sp>
        <p:nvSpPr>
          <p:cNvPr id="501" name="s501"/>
          <p:cNvSpPr/>
          <p:nvPr/>
        </p:nvSpPr>
        <p:spPr>
          <a:xfrm>
            <a:off x="5095240" y="38735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180</a:t>
            </a:r>
          </a:p>
        </p:txBody>
      </p:sp>
      <p:sp>
        <p:nvSpPr>
          <p:cNvPr id="502" name="s502"/>
          <p:cNvSpPr/>
          <p:nvPr/>
        </p:nvSpPr>
        <p:spPr>
          <a:xfrm>
            <a:off x="5908040" y="38735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180</a:t>
            </a:r>
          </a:p>
        </p:txBody>
      </p:sp>
      <p:sp>
        <p:nvSpPr>
          <p:cNvPr id="503" name="s503"/>
          <p:cNvSpPr/>
          <p:nvPr/>
        </p:nvSpPr>
        <p:spPr>
          <a:xfrm>
            <a:off x="6797040" y="38735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5B6572"/>
                </a:solidFill>
                <a:latin typeface="Arial"/>
              </a:rPr>
              <a:t>0</a:t>
            </a:r>
          </a:p>
        </p:txBody>
      </p:sp>
      <p:sp>
        <p:nvSpPr>
          <p:cNvPr id="504" name="s504"/>
          <p:cNvSpPr/>
          <p:nvPr/>
        </p:nvSpPr>
        <p:spPr>
          <a:xfrm>
            <a:off x="7660640" y="39497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7660640" y="39497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Complete</a:t>
            </a:r>
          </a:p>
        </p:txBody>
      </p:sp>
      <p:sp>
        <p:nvSpPr>
          <p:cNvPr id="506" name="s506"/>
          <p:cNvSpPr/>
          <p:nvPr/>
        </p:nvSpPr>
        <p:spPr>
          <a:xfrm>
            <a:off x="2148840" y="45275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7" name="s507"/>
          <p:cNvSpPr/>
          <p:nvPr/>
        </p:nvSpPr>
        <p:spPr>
          <a:xfrm>
            <a:off x="2148840" y="42545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8" name="s508"/>
          <p:cNvSpPr/>
          <p:nvPr/>
        </p:nvSpPr>
        <p:spPr>
          <a:xfrm>
            <a:off x="2326640" y="42037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Memory Matching Cards</a:t>
            </a:r>
          </a:p>
        </p:txBody>
      </p:sp>
      <p:sp>
        <p:nvSpPr>
          <p:cNvPr id="509" name="s509"/>
          <p:cNvSpPr/>
          <p:nvPr/>
        </p:nvSpPr>
        <p:spPr>
          <a:xfrm>
            <a:off x="4307840" y="42037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2559A8"/>
                </a:solidFill>
                <a:latin typeface="Arial"/>
              </a:rPr>
              <a:t>GC-0057</a:t>
            </a:r>
          </a:p>
        </p:txBody>
      </p:sp>
      <p:sp>
        <p:nvSpPr>
          <p:cNvPr id="510" name="s510"/>
          <p:cNvSpPr/>
          <p:nvPr/>
        </p:nvSpPr>
        <p:spPr>
          <a:xfrm>
            <a:off x="5095240" y="42037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140</a:t>
            </a:r>
          </a:p>
        </p:txBody>
      </p:sp>
      <p:sp>
        <p:nvSpPr>
          <p:cNvPr id="511" name="s511"/>
          <p:cNvSpPr/>
          <p:nvPr/>
        </p:nvSpPr>
        <p:spPr>
          <a:xfrm>
            <a:off x="5908040" y="42037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136</a:t>
            </a:r>
          </a:p>
        </p:txBody>
      </p:sp>
      <p:sp>
        <p:nvSpPr>
          <p:cNvPr id="512" name="s512"/>
          <p:cNvSpPr/>
          <p:nvPr/>
        </p:nvSpPr>
        <p:spPr>
          <a:xfrm>
            <a:off x="6797040" y="42037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D08700"/>
                </a:solidFill>
                <a:latin typeface="Arial"/>
              </a:rPr>
              <a:t>−4</a:t>
            </a:r>
          </a:p>
        </p:txBody>
      </p:sp>
      <p:sp>
        <p:nvSpPr>
          <p:cNvPr id="513" name="s513"/>
          <p:cNvSpPr/>
          <p:nvPr/>
        </p:nvSpPr>
        <p:spPr>
          <a:xfrm>
            <a:off x="7660640" y="42799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s514"/>
          <p:cNvSpPr/>
          <p:nvPr/>
        </p:nvSpPr>
        <p:spPr>
          <a:xfrm>
            <a:off x="7660640" y="42799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Short received</a:t>
            </a:r>
          </a:p>
        </p:txBody>
      </p:sp>
      <p:sp>
        <p:nvSpPr>
          <p:cNvPr id="515" name="s515"/>
          <p:cNvSpPr/>
          <p:nvPr/>
        </p:nvSpPr>
        <p:spPr>
          <a:xfrm>
            <a:off x="2148840" y="4857750"/>
            <a:ext cx="7112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6" name="s516"/>
          <p:cNvSpPr/>
          <p:nvPr/>
        </p:nvSpPr>
        <p:spPr>
          <a:xfrm>
            <a:off x="2148840" y="45847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7" name="s517"/>
          <p:cNvSpPr/>
          <p:nvPr/>
        </p:nvSpPr>
        <p:spPr>
          <a:xfrm>
            <a:off x="2326640" y="45339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Numbers Puzzle</a:t>
            </a:r>
          </a:p>
        </p:txBody>
      </p:sp>
      <p:sp>
        <p:nvSpPr>
          <p:cNvPr id="518" name="s518"/>
          <p:cNvSpPr/>
          <p:nvPr/>
        </p:nvSpPr>
        <p:spPr>
          <a:xfrm>
            <a:off x="4307840" y="45339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2559A8"/>
                </a:solidFill>
                <a:latin typeface="Arial"/>
              </a:rPr>
              <a:t>PZ-0091</a:t>
            </a:r>
          </a:p>
        </p:txBody>
      </p:sp>
      <p:sp>
        <p:nvSpPr>
          <p:cNvPr id="519" name="s519"/>
          <p:cNvSpPr/>
          <p:nvPr/>
        </p:nvSpPr>
        <p:spPr>
          <a:xfrm>
            <a:off x="5095240" y="45339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100</a:t>
            </a:r>
          </a:p>
        </p:txBody>
      </p:sp>
      <p:sp>
        <p:nvSpPr>
          <p:cNvPr id="520" name="s520"/>
          <p:cNvSpPr/>
          <p:nvPr/>
        </p:nvSpPr>
        <p:spPr>
          <a:xfrm>
            <a:off x="5908040" y="45339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100</a:t>
            </a:r>
          </a:p>
        </p:txBody>
      </p:sp>
      <p:sp>
        <p:nvSpPr>
          <p:cNvPr id="521" name="s521"/>
          <p:cNvSpPr/>
          <p:nvPr/>
        </p:nvSpPr>
        <p:spPr>
          <a:xfrm>
            <a:off x="6797040" y="45339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5B6572"/>
                </a:solidFill>
                <a:latin typeface="Arial"/>
              </a:rPr>
              <a:t>0</a:t>
            </a:r>
          </a:p>
        </p:txBody>
      </p:sp>
      <p:sp>
        <p:nvSpPr>
          <p:cNvPr id="522" name="s522"/>
          <p:cNvSpPr/>
          <p:nvPr/>
        </p:nvSpPr>
        <p:spPr>
          <a:xfrm>
            <a:off x="7660640" y="4610100"/>
            <a:ext cx="965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7660640" y="4610100"/>
            <a:ext cx="96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Complete</a:t>
            </a:r>
          </a:p>
        </p:txBody>
      </p:sp>
      <p:sp>
        <p:nvSpPr>
          <p:cNvPr id="524" name="s524"/>
          <p:cNvSpPr/>
          <p:nvPr/>
        </p:nvSpPr>
        <p:spPr>
          <a:xfrm>
            <a:off x="2148840" y="4864100"/>
            <a:ext cx="7112000" cy="3302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2326640" y="48641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Total</a:t>
            </a:r>
          </a:p>
        </p:txBody>
      </p:sp>
      <p:sp>
        <p:nvSpPr>
          <p:cNvPr id="526" name="s526"/>
          <p:cNvSpPr/>
          <p:nvPr/>
        </p:nvSpPr>
        <p:spPr>
          <a:xfrm>
            <a:off x="5095240" y="48641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50" b="1" spc="0" dirty="0">
                <a:solidFill>
                  <a:srgbClr val="10141A"/>
                </a:solidFill>
                <a:latin typeface="Arial"/>
              </a:rPr>
              <a:t>620</a:t>
            </a:r>
          </a:p>
        </p:txBody>
      </p:sp>
      <p:sp>
        <p:nvSpPr>
          <p:cNvPr id="527" name="s527"/>
          <p:cNvSpPr/>
          <p:nvPr/>
        </p:nvSpPr>
        <p:spPr>
          <a:xfrm>
            <a:off x="5908040" y="48641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50" b="1" spc="0" dirty="0">
                <a:solidFill>
                  <a:srgbClr val="10141A"/>
                </a:solidFill>
                <a:latin typeface="Arial"/>
              </a:rPr>
              <a:t>616</a:t>
            </a:r>
          </a:p>
        </p:txBody>
      </p:sp>
      <p:sp>
        <p:nvSpPr>
          <p:cNvPr id="528" name="s528"/>
          <p:cNvSpPr/>
          <p:nvPr/>
        </p:nvSpPr>
        <p:spPr>
          <a:xfrm>
            <a:off x="6797040" y="48641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50" b="1" spc="0" dirty="0">
                <a:solidFill>
                  <a:srgbClr val="D08700"/>
                </a:solidFill>
                <a:latin typeface="Arial"/>
              </a:rPr>
              <a:t>−4</a:t>
            </a:r>
          </a:p>
        </p:txBody>
      </p:sp>
      <p:sp>
        <p:nvSpPr>
          <p:cNvPr id="529" name="s529"/>
          <p:cNvSpPr/>
          <p:nvPr/>
        </p:nvSpPr>
        <p:spPr>
          <a:xfrm>
            <a:off x="2326640" y="5562600"/>
            <a:ext cx="6756400" cy="508000"/>
          </a:xfrm>
          <a:prstGeom prst="roundRect">
            <a:avLst>
              <a:gd name="adj" fmla="val 6000"/>
            </a:avLst>
          </a:prstGeom>
          <a:solidFill>
            <a:srgbClr val="D08700">
              <a:alpha val="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0" name="s530"/>
          <p:cNvSpPr/>
          <p:nvPr/>
        </p:nvSpPr>
        <p:spPr>
          <a:xfrm>
            <a:off x="2326640" y="5562600"/>
            <a:ext cx="25400" cy="5080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1" name="s531"/>
          <p:cNvSpPr/>
          <p:nvPr/>
        </p:nvSpPr>
        <p:spPr>
          <a:xfrm>
            <a:off x="2501900" y="5638800"/>
            <a:ext cx="647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spc="0" dirty="0">
                <a:solidFill>
                  <a:srgbClr val="8A5A00"/>
                </a:solidFill>
                <a:latin typeface="Calibri"/>
              </a:rPr>
              <a:t>4 units of Memory Matching Cards arrived water-damaged. Logged at WH-02 as ADJ-2026-0021 and excluded from sellable stock.</a:t>
            </a:r>
          </a:p>
        </p:txBody>
      </p:sp>
      <p:sp>
        <p:nvSpPr>
          <p:cNvPr id="532" name="s532"/>
          <p:cNvSpPr/>
          <p:nvPr/>
        </p:nvSpPr>
        <p:spPr>
          <a:xfrm>
            <a:off x="2326640" y="6172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Inventory at both warehouses updated automatically on receipt.</a:t>
            </a:r>
          </a:p>
        </p:txBody>
      </p:sp>
      <p:sp>
        <p:nvSpPr>
          <p:cNvPr id="533" name="s533"/>
          <p:cNvSpPr/>
          <p:nvPr/>
        </p:nvSpPr>
        <p:spPr>
          <a:xfrm>
            <a:off x="9438640" y="2870200"/>
            <a:ext cx="2494280" cy="3632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9616440" y="3009900"/>
            <a:ext cx="2133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Transfer Details</a:t>
            </a:r>
          </a:p>
        </p:txBody>
      </p:sp>
      <p:sp>
        <p:nvSpPr>
          <p:cNvPr id="535" name="s535"/>
          <p:cNvSpPr/>
          <p:nvPr/>
        </p:nvSpPr>
        <p:spPr>
          <a:xfrm>
            <a:off x="9616440" y="32512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Reference</a:t>
            </a:r>
          </a:p>
        </p:txBody>
      </p:sp>
      <p:sp>
        <p:nvSpPr>
          <p:cNvPr id="536" name="s536"/>
          <p:cNvSpPr/>
          <p:nvPr/>
        </p:nvSpPr>
        <p:spPr>
          <a:xfrm>
            <a:off x="10597896" y="3251200"/>
            <a:ext cx="115214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10141A"/>
                </a:solidFill>
                <a:latin typeface="Arial"/>
              </a:rPr>
              <a:t>TRF-2026-0042</a:t>
            </a:r>
          </a:p>
        </p:txBody>
      </p:sp>
      <p:sp>
        <p:nvSpPr>
          <p:cNvPr id="537" name="s537"/>
          <p:cNvSpPr/>
          <p:nvPr/>
        </p:nvSpPr>
        <p:spPr>
          <a:xfrm>
            <a:off x="9616440" y="34798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Raised</a:t>
            </a:r>
          </a:p>
        </p:txBody>
      </p:sp>
      <p:sp>
        <p:nvSpPr>
          <p:cNvPr id="538" name="s538"/>
          <p:cNvSpPr/>
          <p:nvPr/>
        </p:nvSpPr>
        <p:spPr>
          <a:xfrm>
            <a:off x="10597896" y="3479800"/>
            <a:ext cx="115214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10141A"/>
                </a:solidFill>
                <a:latin typeface="Calibri"/>
              </a:rPr>
              <a:t>3 Jan 2026</a:t>
            </a:r>
          </a:p>
        </p:txBody>
      </p:sp>
      <p:sp>
        <p:nvSpPr>
          <p:cNvPr id="539" name="s539"/>
          <p:cNvSpPr/>
          <p:nvPr/>
        </p:nvSpPr>
        <p:spPr>
          <a:xfrm>
            <a:off x="9616440" y="37084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Completed</a:t>
            </a:r>
          </a:p>
        </p:txBody>
      </p:sp>
      <p:sp>
        <p:nvSpPr>
          <p:cNvPr id="540" name="s540"/>
          <p:cNvSpPr/>
          <p:nvPr/>
        </p:nvSpPr>
        <p:spPr>
          <a:xfrm>
            <a:off x="10597896" y="3708400"/>
            <a:ext cx="115214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10141A"/>
                </a:solidFill>
                <a:latin typeface="Calibri"/>
              </a:rPr>
              <a:t>5 Jan 2026</a:t>
            </a:r>
          </a:p>
        </p:txBody>
      </p:sp>
      <p:sp>
        <p:nvSpPr>
          <p:cNvPr id="541" name="s541"/>
          <p:cNvSpPr/>
          <p:nvPr/>
        </p:nvSpPr>
        <p:spPr>
          <a:xfrm>
            <a:off x="9616440" y="39370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Transit time</a:t>
            </a:r>
          </a:p>
        </p:txBody>
      </p:sp>
      <p:sp>
        <p:nvSpPr>
          <p:cNvPr id="542" name="s542"/>
          <p:cNvSpPr/>
          <p:nvPr/>
        </p:nvSpPr>
        <p:spPr>
          <a:xfrm>
            <a:off x="10597896" y="3937000"/>
            <a:ext cx="115214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10141A"/>
                </a:solidFill>
                <a:latin typeface="Calibri"/>
              </a:rPr>
              <a:t>2 days</a:t>
            </a:r>
          </a:p>
        </p:txBody>
      </p:sp>
      <p:sp>
        <p:nvSpPr>
          <p:cNvPr id="543" name="s543"/>
          <p:cNvSpPr/>
          <p:nvPr/>
        </p:nvSpPr>
        <p:spPr>
          <a:xfrm>
            <a:off x="9616440" y="41656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Distance</a:t>
            </a:r>
          </a:p>
        </p:txBody>
      </p:sp>
      <p:sp>
        <p:nvSpPr>
          <p:cNvPr id="544" name="s544"/>
          <p:cNvSpPr/>
          <p:nvPr/>
        </p:nvSpPr>
        <p:spPr>
          <a:xfrm>
            <a:off x="10597896" y="4165600"/>
            <a:ext cx="115214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10141A"/>
                </a:solidFill>
                <a:latin typeface="Calibri"/>
              </a:rPr>
              <a:t>18 km</a:t>
            </a:r>
          </a:p>
        </p:txBody>
      </p:sp>
      <p:sp>
        <p:nvSpPr>
          <p:cNvPr id="545" name="s545"/>
          <p:cNvSpPr/>
          <p:nvPr/>
        </p:nvSpPr>
        <p:spPr>
          <a:xfrm>
            <a:off x="9616440" y="43942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Value moved</a:t>
            </a:r>
          </a:p>
        </p:txBody>
      </p:sp>
      <p:sp>
        <p:nvSpPr>
          <p:cNvPr id="546" name="s546"/>
          <p:cNvSpPr/>
          <p:nvPr/>
        </p:nvSpPr>
        <p:spPr>
          <a:xfrm>
            <a:off x="10597896" y="4394200"/>
            <a:ext cx="1152144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10141A"/>
                </a:solidFill>
                <a:latin typeface="Arial"/>
              </a:rPr>
              <a:t>$1,704</a:t>
            </a:r>
          </a:p>
        </p:txBody>
      </p:sp>
      <p:sp>
        <p:nvSpPr>
          <p:cNvPr id="547" name="s547"/>
          <p:cNvSpPr/>
          <p:nvPr/>
        </p:nvSpPr>
        <p:spPr>
          <a:xfrm>
            <a:off x="9616440" y="4699000"/>
            <a:ext cx="2133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9616440" y="4800600"/>
            <a:ext cx="2133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80" dirty="0">
                <a:solidFill>
                  <a:srgbClr val="2559A8"/>
                </a:solidFill>
                <a:latin typeface="Calibri"/>
              </a:rPr>
              <a:t>PEOPLE</a:t>
            </a:r>
          </a:p>
        </p:txBody>
      </p:sp>
      <p:sp>
        <p:nvSpPr>
          <p:cNvPr id="549" name="s549"/>
          <p:cNvSpPr/>
          <p:nvPr/>
        </p:nvSpPr>
        <p:spPr>
          <a:xfrm>
            <a:off x="9616440" y="5003800"/>
            <a:ext cx="279400" cy="279400"/>
          </a:xfrm>
          <a:prstGeom prst="ellipse">
            <a:avLst/>
          </a:prstGeom>
          <a:solidFill>
            <a:srgbClr val="2559A8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0" name="s550"/>
          <p:cNvSpPr/>
          <p:nvPr/>
        </p:nvSpPr>
        <p:spPr>
          <a:xfrm>
            <a:off x="9616440" y="5003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2559A8"/>
                </a:solidFill>
                <a:latin typeface="Calibri"/>
              </a:rPr>
              <a:t>SW</a:t>
            </a:r>
          </a:p>
        </p:txBody>
      </p:sp>
      <p:sp>
        <p:nvSpPr>
          <p:cNvPr id="551" name="s551"/>
          <p:cNvSpPr/>
          <p:nvPr/>
        </p:nvSpPr>
        <p:spPr>
          <a:xfrm>
            <a:off x="9969500" y="50038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10141A"/>
                </a:solidFill>
                <a:latin typeface="Calibri"/>
              </a:rPr>
              <a:t>Sarah Weah</a:t>
            </a:r>
          </a:p>
        </p:txBody>
      </p:sp>
      <p:sp>
        <p:nvSpPr>
          <p:cNvPr id="552" name="s552"/>
          <p:cNvSpPr/>
          <p:nvPr/>
        </p:nvSpPr>
        <p:spPr>
          <a:xfrm>
            <a:off x="9969500" y="51435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Raised · WH-01</a:t>
            </a:r>
          </a:p>
        </p:txBody>
      </p:sp>
      <p:sp>
        <p:nvSpPr>
          <p:cNvPr id="553" name="s553"/>
          <p:cNvSpPr/>
          <p:nvPr/>
        </p:nvSpPr>
        <p:spPr>
          <a:xfrm>
            <a:off x="9616440" y="5410200"/>
            <a:ext cx="279400" cy="279400"/>
          </a:xfrm>
          <a:prstGeom prst="ellipse">
            <a:avLst/>
          </a:prstGeom>
          <a:solidFill>
            <a:srgbClr val="24AA9D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4" name="s554"/>
          <p:cNvSpPr/>
          <p:nvPr/>
        </p:nvSpPr>
        <p:spPr>
          <a:xfrm>
            <a:off x="9616440" y="54102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24AA9D"/>
                </a:solidFill>
                <a:latin typeface="Calibri"/>
              </a:rPr>
              <a:t>GK</a:t>
            </a:r>
          </a:p>
        </p:txBody>
      </p:sp>
      <p:sp>
        <p:nvSpPr>
          <p:cNvPr id="555" name="s555"/>
          <p:cNvSpPr/>
          <p:nvPr/>
        </p:nvSpPr>
        <p:spPr>
          <a:xfrm>
            <a:off x="9969500" y="54102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10141A"/>
                </a:solidFill>
                <a:latin typeface="Calibri"/>
              </a:rPr>
              <a:t>Grace Kollie</a:t>
            </a:r>
          </a:p>
        </p:txBody>
      </p:sp>
      <p:sp>
        <p:nvSpPr>
          <p:cNvPr id="556" name="s556"/>
          <p:cNvSpPr/>
          <p:nvPr/>
        </p:nvSpPr>
        <p:spPr>
          <a:xfrm>
            <a:off x="9969500" y="55499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Approved</a:t>
            </a:r>
          </a:p>
        </p:txBody>
      </p:sp>
      <p:sp>
        <p:nvSpPr>
          <p:cNvPr id="557" name="s557"/>
          <p:cNvSpPr/>
          <p:nvPr/>
        </p:nvSpPr>
        <p:spPr>
          <a:xfrm>
            <a:off x="9616440" y="5816600"/>
            <a:ext cx="279400" cy="279400"/>
          </a:xfrm>
          <a:prstGeom prst="ellipse">
            <a:avLst/>
          </a:prstGeom>
          <a:solidFill>
            <a:srgbClr val="65C1BA">
              <a:alpha val="18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8" name="s558"/>
          <p:cNvSpPr/>
          <p:nvPr/>
        </p:nvSpPr>
        <p:spPr>
          <a:xfrm>
            <a:off x="9616440" y="58166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65C1BA"/>
                </a:solidFill>
                <a:latin typeface="Calibri"/>
              </a:rPr>
              <a:t>PS</a:t>
            </a:r>
          </a:p>
        </p:txBody>
      </p:sp>
      <p:sp>
        <p:nvSpPr>
          <p:cNvPr id="559" name="s559"/>
          <p:cNvSpPr/>
          <p:nvPr/>
        </p:nvSpPr>
        <p:spPr>
          <a:xfrm>
            <a:off x="9969500" y="58166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spc="0" dirty="0">
                <a:solidFill>
                  <a:srgbClr val="10141A"/>
                </a:solidFill>
                <a:latin typeface="Calibri"/>
              </a:rPr>
              <a:t>Peter Sirleaf</a:t>
            </a:r>
          </a:p>
        </p:txBody>
      </p:sp>
      <p:sp>
        <p:nvSpPr>
          <p:cNvPr id="560" name="s560"/>
          <p:cNvSpPr/>
          <p:nvPr/>
        </p:nvSpPr>
        <p:spPr>
          <a:xfrm>
            <a:off x="9969500" y="5956300"/>
            <a:ext cx="177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Received · WH-02</a:t>
            </a:r>
          </a:p>
        </p:txBody>
      </p:sp>
      <p:sp>
        <p:nvSpPr>
          <p:cNvPr id="561" name="s561"/>
          <p:cNvSpPr/>
          <p:nvPr/>
        </p:nvSpPr>
        <p:spPr>
          <a:xfrm>
            <a:off x="9616440" y="6223000"/>
            <a:ext cx="2133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2" name="s562"/>
          <p:cNvSpPr/>
          <p:nvPr/>
        </p:nvSpPr>
        <p:spPr>
          <a:xfrm>
            <a:off x="9616440" y="62992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2 documents attached</a:t>
            </a:r>
          </a:p>
        </p:txBody>
      </p:sp>
      <p:pic>
        <p:nvPicPr>
          <p:cNvPr id="563" name="Copied Picture 563">
            <a:extLst>
              <a:ext uri="{FF2B5EF4-FFF2-40B4-BE49-F238E27FC236}">
                <a16:creationId xmlns:a16="http://schemas.microsoft.com/office/drawing/2014/main" id="{31683C30-A265-4B60-C1E6-4FB52965F3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000" t="6000" r="30000" b="43000"/>
          <a:stretch>
            <a:fillRect/>
          </a:stretch>
        </p:blipFill>
        <p:spPr>
          <a:xfrm>
            <a:off x="209550" y="234315"/>
            <a:ext cx="215900" cy="1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94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EduStock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101600" y="2908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2" name="s412"/>
          <p:cNvSpPr/>
          <p:nvPr/>
        </p:nvSpPr>
        <p:spPr>
          <a:xfrm>
            <a:off x="101600" y="2908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Suppliers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Supplier Directory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22 suppliers  ·  4 with outstanding balances  ·  $9,840 payable  ·  average rating 4.3 / 5</a:t>
            </a:r>
          </a:p>
        </p:txBody>
      </p:sp>
      <p:sp>
        <p:nvSpPr>
          <p:cNvPr id="444" name="s444"/>
          <p:cNvSpPr/>
          <p:nvPr/>
        </p:nvSpPr>
        <p:spPr>
          <a:xfrm>
            <a:off x="10668000" y="812800"/>
            <a:ext cx="126492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668000" y="812800"/>
            <a:ext cx="12649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Add Supplier</a:t>
            </a:r>
          </a:p>
        </p:txBody>
      </p:sp>
      <p:sp>
        <p:nvSpPr>
          <p:cNvPr id="446" name="s446"/>
          <p:cNvSpPr/>
          <p:nvPr/>
        </p:nvSpPr>
        <p:spPr>
          <a:xfrm>
            <a:off x="982472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82472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22400"/>
            <a:ext cx="231267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148840" y="1422400"/>
            <a:ext cx="31750" cy="838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0" name="s450"/>
          <p:cNvSpPr/>
          <p:nvPr/>
        </p:nvSpPr>
        <p:spPr>
          <a:xfrm>
            <a:off x="2301240" y="15494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Active suppliers</a:t>
            </a:r>
          </a:p>
        </p:txBody>
      </p:sp>
      <p:sp>
        <p:nvSpPr>
          <p:cNvPr id="451" name="s451"/>
          <p:cNvSpPr/>
          <p:nvPr/>
        </p:nvSpPr>
        <p:spPr>
          <a:xfrm>
            <a:off x="2301240" y="1714500"/>
            <a:ext cx="205867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Arial"/>
              </a:rPr>
              <a:t>19</a:t>
            </a:r>
          </a:p>
        </p:txBody>
      </p:sp>
      <p:sp>
        <p:nvSpPr>
          <p:cNvPr id="452" name="s452"/>
          <p:cNvSpPr/>
          <p:nvPr/>
        </p:nvSpPr>
        <p:spPr>
          <a:xfrm>
            <a:off x="2301240" y="20193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across 6 counties</a:t>
            </a:r>
          </a:p>
        </p:txBody>
      </p:sp>
      <p:sp>
        <p:nvSpPr>
          <p:cNvPr id="453" name="s453"/>
          <p:cNvSpPr/>
          <p:nvPr/>
        </p:nvSpPr>
        <p:spPr>
          <a:xfrm>
            <a:off x="4639310" y="1422400"/>
            <a:ext cx="231267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4639310" y="1422400"/>
            <a:ext cx="31750" cy="8382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4791710" y="15494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Under review</a:t>
            </a:r>
          </a:p>
        </p:txBody>
      </p:sp>
      <p:sp>
        <p:nvSpPr>
          <p:cNvPr id="456" name="s456"/>
          <p:cNvSpPr/>
          <p:nvPr/>
        </p:nvSpPr>
        <p:spPr>
          <a:xfrm>
            <a:off x="4791710" y="1714500"/>
            <a:ext cx="205867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Arial"/>
              </a:rPr>
              <a:t>2</a:t>
            </a:r>
          </a:p>
        </p:txBody>
      </p:sp>
      <p:sp>
        <p:nvSpPr>
          <p:cNvPr id="457" name="s457"/>
          <p:cNvSpPr/>
          <p:nvPr/>
        </p:nvSpPr>
        <p:spPr>
          <a:xfrm>
            <a:off x="4791710" y="20193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delivery issues</a:t>
            </a:r>
          </a:p>
        </p:txBody>
      </p:sp>
      <p:sp>
        <p:nvSpPr>
          <p:cNvPr id="458" name="s458"/>
          <p:cNvSpPr/>
          <p:nvPr/>
        </p:nvSpPr>
        <p:spPr>
          <a:xfrm>
            <a:off x="7129780" y="1422400"/>
            <a:ext cx="231267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7129780" y="1422400"/>
            <a:ext cx="31750" cy="838200"/>
          </a:xfrm>
          <a:prstGeom prst="rect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7282180" y="15494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Inactive</a:t>
            </a:r>
          </a:p>
        </p:txBody>
      </p:sp>
      <p:sp>
        <p:nvSpPr>
          <p:cNvPr id="461" name="s461"/>
          <p:cNvSpPr/>
          <p:nvPr/>
        </p:nvSpPr>
        <p:spPr>
          <a:xfrm>
            <a:off x="7282180" y="1714500"/>
            <a:ext cx="205867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Arial"/>
              </a:rPr>
              <a:t>1</a:t>
            </a:r>
          </a:p>
        </p:txBody>
      </p:sp>
      <p:sp>
        <p:nvSpPr>
          <p:cNvPr id="462" name="s462"/>
          <p:cNvSpPr/>
          <p:nvPr/>
        </p:nvSpPr>
        <p:spPr>
          <a:xfrm>
            <a:off x="7282180" y="20193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no orders in 12 months</a:t>
            </a:r>
          </a:p>
        </p:txBody>
      </p:sp>
      <p:sp>
        <p:nvSpPr>
          <p:cNvPr id="463" name="s463"/>
          <p:cNvSpPr/>
          <p:nvPr/>
        </p:nvSpPr>
        <p:spPr>
          <a:xfrm>
            <a:off x="9620250" y="1422400"/>
            <a:ext cx="2312670" cy="83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9620250" y="1422400"/>
            <a:ext cx="31750" cy="8382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5" name="s465"/>
          <p:cNvSpPr/>
          <p:nvPr/>
        </p:nvSpPr>
        <p:spPr>
          <a:xfrm>
            <a:off x="9772650" y="15494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Outstanding payable</a:t>
            </a:r>
          </a:p>
        </p:txBody>
      </p:sp>
      <p:sp>
        <p:nvSpPr>
          <p:cNvPr id="466" name="s466"/>
          <p:cNvSpPr/>
          <p:nvPr/>
        </p:nvSpPr>
        <p:spPr>
          <a:xfrm>
            <a:off x="9772650" y="1714500"/>
            <a:ext cx="205867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Arial"/>
              </a:rPr>
              <a:t>$9,840</a:t>
            </a:r>
          </a:p>
        </p:txBody>
      </p:sp>
      <p:sp>
        <p:nvSpPr>
          <p:cNvPr id="467" name="s467"/>
          <p:cNvSpPr/>
          <p:nvPr/>
        </p:nvSpPr>
        <p:spPr>
          <a:xfrm>
            <a:off x="9772650" y="20193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4 suppliers</a:t>
            </a:r>
          </a:p>
        </p:txBody>
      </p:sp>
      <p:sp>
        <p:nvSpPr>
          <p:cNvPr id="468" name="s468"/>
          <p:cNvSpPr/>
          <p:nvPr/>
        </p:nvSpPr>
        <p:spPr>
          <a:xfrm>
            <a:off x="2148840" y="2489200"/>
            <a:ext cx="9784080" cy="401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2326640" y="2628900"/>
            <a:ext cx="94284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All Suppliers</a:t>
            </a:r>
          </a:p>
        </p:txBody>
      </p:sp>
      <p:sp>
        <p:nvSpPr>
          <p:cNvPr id="470" name="s470"/>
          <p:cNvSpPr/>
          <p:nvPr/>
        </p:nvSpPr>
        <p:spPr>
          <a:xfrm>
            <a:off x="2326640" y="2895600"/>
            <a:ext cx="96901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2453640" y="2895600"/>
            <a:ext cx="61341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County: </a:t>
            </a:r>
          </a:p>
        </p:txBody>
      </p:sp>
      <p:sp>
        <p:nvSpPr>
          <p:cNvPr id="472" name="s472"/>
          <p:cNvSpPr/>
          <p:nvPr/>
        </p:nvSpPr>
        <p:spPr>
          <a:xfrm>
            <a:off x="2905760" y="2895600"/>
            <a:ext cx="58801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All</a:t>
            </a:r>
          </a:p>
        </p:txBody>
      </p:sp>
      <p:sp>
        <p:nvSpPr>
          <p:cNvPr id="473" name="s473"/>
          <p:cNvSpPr/>
          <p:nvPr/>
        </p:nvSpPr>
        <p:spPr>
          <a:xfrm rot="10800000">
            <a:off x="3105150" y="300990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4" name="s474"/>
          <p:cNvSpPr/>
          <p:nvPr/>
        </p:nvSpPr>
        <p:spPr>
          <a:xfrm>
            <a:off x="3397250" y="2895600"/>
            <a:ext cx="91059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3524250" y="2895600"/>
            <a:ext cx="55499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Terms: </a:t>
            </a:r>
          </a:p>
        </p:txBody>
      </p:sp>
      <p:sp>
        <p:nvSpPr>
          <p:cNvPr id="476" name="s476"/>
          <p:cNvSpPr/>
          <p:nvPr/>
        </p:nvSpPr>
        <p:spPr>
          <a:xfrm>
            <a:off x="3917950" y="2895600"/>
            <a:ext cx="52959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All</a:t>
            </a:r>
          </a:p>
        </p:txBody>
      </p:sp>
      <p:sp>
        <p:nvSpPr>
          <p:cNvPr id="477" name="s477"/>
          <p:cNvSpPr/>
          <p:nvPr/>
        </p:nvSpPr>
        <p:spPr>
          <a:xfrm rot="10800000">
            <a:off x="4117340" y="300990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4409440" y="2895600"/>
            <a:ext cx="115570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4536440" y="2895600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Status: </a:t>
            </a:r>
          </a:p>
        </p:txBody>
      </p:sp>
      <p:sp>
        <p:nvSpPr>
          <p:cNvPr id="480" name="s480"/>
          <p:cNvSpPr/>
          <p:nvPr/>
        </p:nvSpPr>
        <p:spPr>
          <a:xfrm>
            <a:off x="4988560" y="2895600"/>
            <a:ext cx="774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Active</a:t>
            </a:r>
          </a:p>
        </p:txBody>
      </p:sp>
      <p:sp>
        <p:nvSpPr>
          <p:cNvPr id="481" name="s481"/>
          <p:cNvSpPr/>
          <p:nvPr/>
        </p:nvSpPr>
        <p:spPr>
          <a:xfrm rot="10800000">
            <a:off x="5374640" y="300990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5666740" y="2895600"/>
            <a:ext cx="96901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5793740" y="2895600"/>
            <a:ext cx="61341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Rating: </a:t>
            </a:r>
          </a:p>
        </p:txBody>
      </p:sp>
      <p:sp>
        <p:nvSpPr>
          <p:cNvPr id="484" name="s484"/>
          <p:cNvSpPr/>
          <p:nvPr/>
        </p:nvSpPr>
        <p:spPr>
          <a:xfrm>
            <a:off x="6245860" y="2895600"/>
            <a:ext cx="58801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Any</a:t>
            </a:r>
          </a:p>
        </p:txBody>
      </p:sp>
      <p:sp>
        <p:nvSpPr>
          <p:cNvPr id="485" name="s485"/>
          <p:cNvSpPr/>
          <p:nvPr/>
        </p:nvSpPr>
        <p:spPr>
          <a:xfrm rot="10800000">
            <a:off x="6445250" y="3009900"/>
            <a:ext cx="88900" cy="5715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6" name="s486"/>
          <p:cNvSpPr/>
          <p:nvPr/>
        </p:nvSpPr>
        <p:spPr>
          <a:xfrm>
            <a:off x="9418320" y="2895600"/>
            <a:ext cx="114300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Columns</a:t>
            </a:r>
          </a:p>
        </p:txBody>
      </p:sp>
      <p:sp>
        <p:nvSpPr>
          <p:cNvPr id="487" name="s487"/>
          <p:cNvSpPr/>
          <p:nvPr/>
        </p:nvSpPr>
        <p:spPr>
          <a:xfrm>
            <a:off x="10662920" y="2895600"/>
            <a:ext cx="1092200" cy="266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Calibri"/>
              </a:rPr>
              <a:t>Export CSV</a:t>
            </a:r>
          </a:p>
        </p:txBody>
      </p:sp>
      <p:sp>
        <p:nvSpPr>
          <p:cNvPr id="488" name="s488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0" name="s490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4" name="s494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6" name="s496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2148840" y="33274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2326640" y="3327400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SUPPLIER</a:t>
            </a:r>
          </a:p>
        </p:txBody>
      </p:sp>
      <p:sp>
        <p:nvSpPr>
          <p:cNvPr id="499" name="s499"/>
          <p:cNvSpPr/>
          <p:nvPr/>
        </p:nvSpPr>
        <p:spPr>
          <a:xfrm>
            <a:off x="4511040" y="3327400"/>
            <a:ext cx="1270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LOCATION</a:t>
            </a:r>
          </a:p>
        </p:txBody>
      </p:sp>
      <p:sp>
        <p:nvSpPr>
          <p:cNvPr id="500" name="s500"/>
          <p:cNvSpPr/>
          <p:nvPr/>
        </p:nvSpPr>
        <p:spPr>
          <a:xfrm>
            <a:off x="5831840" y="33274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CONTACT</a:t>
            </a:r>
          </a:p>
        </p:txBody>
      </p:sp>
      <p:sp>
        <p:nvSpPr>
          <p:cNvPr id="501" name="s501"/>
          <p:cNvSpPr/>
          <p:nvPr/>
        </p:nvSpPr>
        <p:spPr>
          <a:xfrm>
            <a:off x="7101840" y="3327400"/>
            <a:ext cx="635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TERMS</a:t>
            </a:r>
          </a:p>
        </p:txBody>
      </p:sp>
      <p:sp>
        <p:nvSpPr>
          <p:cNvPr id="502" name="s502"/>
          <p:cNvSpPr/>
          <p:nvPr/>
        </p:nvSpPr>
        <p:spPr>
          <a:xfrm>
            <a:off x="7787640" y="3327400"/>
            <a:ext cx="584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PRODUCTS</a:t>
            </a:r>
          </a:p>
        </p:txBody>
      </p:sp>
      <p:sp>
        <p:nvSpPr>
          <p:cNvPr id="503" name="s503"/>
          <p:cNvSpPr/>
          <p:nvPr/>
        </p:nvSpPr>
        <p:spPr>
          <a:xfrm>
            <a:off x="8422640" y="3327400"/>
            <a:ext cx="812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PURCHASES</a:t>
            </a:r>
          </a:p>
        </p:txBody>
      </p:sp>
      <p:sp>
        <p:nvSpPr>
          <p:cNvPr id="504" name="s504"/>
          <p:cNvSpPr/>
          <p:nvPr/>
        </p:nvSpPr>
        <p:spPr>
          <a:xfrm>
            <a:off x="9286240" y="3327400"/>
            <a:ext cx="787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OUTSTANDING</a:t>
            </a:r>
          </a:p>
        </p:txBody>
      </p:sp>
      <p:sp>
        <p:nvSpPr>
          <p:cNvPr id="505" name="s505"/>
          <p:cNvSpPr/>
          <p:nvPr/>
        </p:nvSpPr>
        <p:spPr>
          <a:xfrm>
            <a:off x="10226040" y="3327400"/>
            <a:ext cx="584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RATING</a:t>
            </a:r>
          </a:p>
        </p:txBody>
      </p:sp>
      <p:sp>
        <p:nvSpPr>
          <p:cNvPr id="506" name="s506"/>
          <p:cNvSpPr/>
          <p:nvPr/>
        </p:nvSpPr>
        <p:spPr>
          <a:xfrm>
            <a:off x="10861040" y="3327400"/>
            <a:ext cx="889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507" name="s507"/>
          <p:cNvSpPr/>
          <p:nvPr/>
        </p:nvSpPr>
        <p:spPr>
          <a:xfrm>
            <a:off x="2148840" y="3917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8" name="s508"/>
          <p:cNvSpPr/>
          <p:nvPr/>
        </p:nvSpPr>
        <p:spPr>
          <a:xfrm>
            <a:off x="2148840" y="36449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2326640" y="3644900"/>
            <a:ext cx="228600" cy="228600"/>
          </a:xfrm>
          <a:prstGeom prst="ellipse">
            <a:avLst/>
          </a:prstGeom>
          <a:solidFill>
            <a:srgbClr val="2559A8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0" name="s510"/>
          <p:cNvSpPr/>
          <p:nvPr/>
        </p:nvSpPr>
        <p:spPr>
          <a:xfrm>
            <a:off x="2326640" y="36449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2559A8"/>
                </a:solidFill>
                <a:latin typeface="Calibri"/>
              </a:rPr>
              <a:t>KP</a:t>
            </a:r>
          </a:p>
        </p:txBody>
      </p:sp>
      <p:sp>
        <p:nvSpPr>
          <p:cNvPr id="511" name="s511"/>
          <p:cNvSpPr/>
          <p:nvPr/>
        </p:nvSpPr>
        <p:spPr>
          <a:xfrm>
            <a:off x="2631440" y="3619500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512" name="s512"/>
          <p:cNvSpPr/>
          <p:nvPr/>
        </p:nvSpPr>
        <p:spPr>
          <a:xfrm>
            <a:off x="2631440" y="3759200"/>
            <a:ext cx="1828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Arial"/>
              </a:rPr>
              <a:t>SUP-007</a:t>
            </a:r>
          </a:p>
        </p:txBody>
      </p:sp>
      <p:sp>
        <p:nvSpPr>
          <p:cNvPr id="513" name="s513"/>
          <p:cNvSpPr/>
          <p:nvPr/>
        </p:nvSpPr>
        <p:spPr>
          <a:xfrm>
            <a:off x="4511040" y="35941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Kakata, Margibi</a:t>
            </a:r>
          </a:p>
        </p:txBody>
      </p:sp>
      <p:sp>
        <p:nvSpPr>
          <p:cNvPr id="514" name="s514"/>
          <p:cNvSpPr/>
          <p:nvPr/>
        </p:nvSpPr>
        <p:spPr>
          <a:xfrm>
            <a:off x="5831840" y="3594100"/>
            <a:ext cx="1219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James Doe</a:t>
            </a:r>
          </a:p>
        </p:txBody>
      </p:sp>
      <p:sp>
        <p:nvSpPr>
          <p:cNvPr id="515" name="s515"/>
          <p:cNvSpPr/>
          <p:nvPr/>
        </p:nvSpPr>
        <p:spPr>
          <a:xfrm>
            <a:off x="7101840" y="35941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Net 30</a:t>
            </a:r>
          </a:p>
        </p:txBody>
      </p:sp>
      <p:sp>
        <p:nvSpPr>
          <p:cNvPr id="516" name="s516"/>
          <p:cNvSpPr/>
          <p:nvPr/>
        </p:nvSpPr>
        <p:spPr>
          <a:xfrm>
            <a:off x="7787640" y="3594100"/>
            <a:ext cx="584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12</a:t>
            </a:r>
          </a:p>
        </p:txBody>
      </p:sp>
      <p:sp>
        <p:nvSpPr>
          <p:cNvPr id="517" name="s517"/>
          <p:cNvSpPr/>
          <p:nvPr/>
        </p:nvSpPr>
        <p:spPr>
          <a:xfrm>
            <a:off x="8422640" y="35941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$18,420</a:t>
            </a:r>
          </a:p>
        </p:txBody>
      </p:sp>
      <p:sp>
        <p:nvSpPr>
          <p:cNvPr id="518" name="s518"/>
          <p:cNvSpPr/>
          <p:nvPr/>
        </p:nvSpPr>
        <p:spPr>
          <a:xfrm>
            <a:off x="9286240" y="35941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$2,140</a:t>
            </a:r>
          </a:p>
        </p:txBody>
      </p:sp>
      <p:sp>
        <p:nvSpPr>
          <p:cNvPr id="519" name="s519"/>
          <p:cNvSpPr/>
          <p:nvPr/>
        </p:nvSpPr>
        <p:spPr>
          <a:xfrm>
            <a:off x="10226040" y="35941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4.6</a:t>
            </a:r>
          </a:p>
        </p:txBody>
      </p:sp>
      <p:sp>
        <p:nvSpPr>
          <p:cNvPr id="520" name="s520"/>
          <p:cNvSpPr/>
          <p:nvPr/>
        </p:nvSpPr>
        <p:spPr>
          <a:xfrm>
            <a:off x="10581640" y="3733800"/>
            <a:ext cx="203200" cy="5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1" name="s521"/>
          <p:cNvSpPr/>
          <p:nvPr/>
        </p:nvSpPr>
        <p:spPr>
          <a:xfrm>
            <a:off x="10581640" y="3733800"/>
            <a:ext cx="186944" cy="508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10861040" y="3670300"/>
            <a:ext cx="889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3" name="s523"/>
          <p:cNvSpPr/>
          <p:nvPr/>
        </p:nvSpPr>
        <p:spPr>
          <a:xfrm>
            <a:off x="10861040" y="36703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Active</a:t>
            </a:r>
          </a:p>
        </p:txBody>
      </p:sp>
      <p:sp>
        <p:nvSpPr>
          <p:cNvPr id="524" name="s524"/>
          <p:cNvSpPr/>
          <p:nvPr/>
        </p:nvSpPr>
        <p:spPr>
          <a:xfrm>
            <a:off x="2148840" y="4248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2148840" y="39751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2326640" y="3975100"/>
            <a:ext cx="228600" cy="228600"/>
          </a:xfrm>
          <a:prstGeom prst="ellipse">
            <a:avLst/>
          </a:prstGeom>
          <a:solidFill>
            <a:srgbClr val="24AA9D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7" name="s527"/>
          <p:cNvSpPr/>
          <p:nvPr/>
        </p:nvSpPr>
        <p:spPr>
          <a:xfrm>
            <a:off x="2326640" y="39751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24AA9D"/>
                </a:solidFill>
                <a:latin typeface="Calibri"/>
              </a:rPr>
              <a:t>MP</a:t>
            </a:r>
          </a:p>
        </p:txBody>
      </p:sp>
      <p:sp>
        <p:nvSpPr>
          <p:cNvPr id="528" name="s528"/>
          <p:cNvSpPr/>
          <p:nvPr/>
        </p:nvSpPr>
        <p:spPr>
          <a:xfrm>
            <a:off x="2631440" y="3949700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Monrovia Print Works</a:t>
            </a:r>
          </a:p>
        </p:txBody>
      </p:sp>
      <p:sp>
        <p:nvSpPr>
          <p:cNvPr id="529" name="s529"/>
          <p:cNvSpPr/>
          <p:nvPr/>
        </p:nvSpPr>
        <p:spPr>
          <a:xfrm>
            <a:off x="2631440" y="4089400"/>
            <a:ext cx="1828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Arial"/>
              </a:rPr>
              <a:t>SUP-003</a:t>
            </a:r>
          </a:p>
        </p:txBody>
      </p:sp>
      <p:sp>
        <p:nvSpPr>
          <p:cNvPr id="530" name="s530"/>
          <p:cNvSpPr/>
          <p:nvPr/>
        </p:nvSpPr>
        <p:spPr>
          <a:xfrm>
            <a:off x="4511040" y="39243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Monrovia, Montserrado</a:t>
            </a:r>
          </a:p>
        </p:txBody>
      </p:sp>
      <p:sp>
        <p:nvSpPr>
          <p:cNvPr id="531" name="s531"/>
          <p:cNvSpPr/>
          <p:nvPr/>
        </p:nvSpPr>
        <p:spPr>
          <a:xfrm>
            <a:off x="5831840" y="3924300"/>
            <a:ext cx="1219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Alice Johnson</a:t>
            </a:r>
          </a:p>
        </p:txBody>
      </p:sp>
      <p:sp>
        <p:nvSpPr>
          <p:cNvPr id="532" name="s532"/>
          <p:cNvSpPr/>
          <p:nvPr/>
        </p:nvSpPr>
        <p:spPr>
          <a:xfrm>
            <a:off x="7101840" y="39243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Net 15</a:t>
            </a:r>
          </a:p>
        </p:txBody>
      </p:sp>
      <p:sp>
        <p:nvSpPr>
          <p:cNvPr id="533" name="s533"/>
          <p:cNvSpPr/>
          <p:nvPr/>
        </p:nvSpPr>
        <p:spPr>
          <a:xfrm>
            <a:off x="7787640" y="3924300"/>
            <a:ext cx="584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9</a:t>
            </a:r>
          </a:p>
        </p:txBody>
      </p:sp>
      <p:sp>
        <p:nvSpPr>
          <p:cNvPr id="534" name="s534"/>
          <p:cNvSpPr/>
          <p:nvPr/>
        </p:nvSpPr>
        <p:spPr>
          <a:xfrm>
            <a:off x="8422640" y="39243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$14,860</a:t>
            </a:r>
          </a:p>
        </p:txBody>
      </p:sp>
      <p:sp>
        <p:nvSpPr>
          <p:cNvPr id="535" name="s535"/>
          <p:cNvSpPr/>
          <p:nvPr/>
        </p:nvSpPr>
        <p:spPr>
          <a:xfrm>
            <a:off x="9286240" y="39243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8A93A0"/>
                </a:solidFill>
                <a:latin typeface="Arial"/>
              </a:rPr>
              <a:t>—</a:t>
            </a:r>
          </a:p>
        </p:txBody>
      </p:sp>
      <p:sp>
        <p:nvSpPr>
          <p:cNvPr id="536" name="s536"/>
          <p:cNvSpPr/>
          <p:nvPr/>
        </p:nvSpPr>
        <p:spPr>
          <a:xfrm>
            <a:off x="10226040" y="39243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4.8</a:t>
            </a:r>
          </a:p>
        </p:txBody>
      </p:sp>
      <p:sp>
        <p:nvSpPr>
          <p:cNvPr id="537" name="s537"/>
          <p:cNvSpPr/>
          <p:nvPr/>
        </p:nvSpPr>
        <p:spPr>
          <a:xfrm>
            <a:off x="10581640" y="4064000"/>
            <a:ext cx="203200" cy="5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10581640" y="4064000"/>
            <a:ext cx="195072" cy="508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9" name="s539"/>
          <p:cNvSpPr/>
          <p:nvPr/>
        </p:nvSpPr>
        <p:spPr>
          <a:xfrm>
            <a:off x="10861040" y="4000500"/>
            <a:ext cx="889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0" name="s540"/>
          <p:cNvSpPr/>
          <p:nvPr/>
        </p:nvSpPr>
        <p:spPr>
          <a:xfrm>
            <a:off x="10861040" y="40005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Active</a:t>
            </a:r>
          </a:p>
        </p:txBody>
      </p:sp>
      <p:sp>
        <p:nvSpPr>
          <p:cNvPr id="541" name="s541"/>
          <p:cNvSpPr/>
          <p:nvPr/>
        </p:nvSpPr>
        <p:spPr>
          <a:xfrm>
            <a:off x="2148840" y="4578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2" name="s542"/>
          <p:cNvSpPr/>
          <p:nvPr/>
        </p:nvSpPr>
        <p:spPr>
          <a:xfrm>
            <a:off x="2148840" y="43053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2326640" y="4305300"/>
            <a:ext cx="228600" cy="228600"/>
          </a:xfrm>
          <a:prstGeom prst="ellipse">
            <a:avLst/>
          </a:prstGeom>
          <a:solidFill>
            <a:srgbClr val="65C1BA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4" name="s544"/>
          <p:cNvSpPr/>
          <p:nvPr/>
        </p:nvSpPr>
        <p:spPr>
          <a:xfrm>
            <a:off x="2326640" y="43053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65C1BA"/>
                </a:solidFill>
                <a:latin typeface="Calibri"/>
              </a:rPr>
              <a:t>GS</a:t>
            </a:r>
          </a:p>
        </p:txBody>
      </p:sp>
      <p:sp>
        <p:nvSpPr>
          <p:cNvPr id="545" name="s545"/>
          <p:cNvSpPr/>
          <p:nvPr/>
        </p:nvSpPr>
        <p:spPr>
          <a:xfrm>
            <a:off x="2631440" y="4279900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Gbarnga Stationers</a:t>
            </a:r>
          </a:p>
        </p:txBody>
      </p:sp>
      <p:sp>
        <p:nvSpPr>
          <p:cNvPr id="546" name="s546"/>
          <p:cNvSpPr/>
          <p:nvPr/>
        </p:nvSpPr>
        <p:spPr>
          <a:xfrm>
            <a:off x="2631440" y="4419600"/>
            <a:ext cx="1828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Arial"/>
              </a:rPr>
              <a:t>SUP-011</a:t>
            </a:r>
          </a:p>
        </p:txBody>
      </p:sp>
      <p:sp>
        <p:nvSpPr>
          <p:cNvPr id="547" name="s547"/>
          <p:cNvSpPr/>
          <p:nvPr/>
        </p:nvSpPr>
        <p:spPr>
          <a:xfrm>
            <a:off x="4511040" y="42545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Gbarnga, Bong</a:t>
            </a:r>
          </a:p>
        </p:txBody>
      </p:sp>
      <p:sp>
        <p:nvSpPr>
          <p:cNvPr id="548" name="s548"/>
          <p:cNvSpPr/>
          <p:nvPr/>
        </p:nvSpPr>
        <p:spPr>
          <a:xfrm>
            <a:off x="5831840" y="4254500"/>
            <a:ext cx="1219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Rebecca Flomo</a:t>
            </a:r>
          </a:p>
        </p:txBody>
      </p:sp>
      <p:sp>
        <p:nvSpPr>
          <p:cNvPr id="549" name="s549"/>
          <p:cNvSpPr/>
          <p:nvPr/>
        </p:nvSpPr>
        <p:spPr>
          <a:xfrm>
            <a:off x="7101840" y="42545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Net 30</a:t>
            </a:r>
          </a:p>
        </p:txBody>
      </p:sp>
      <p:sp>
        <p:nvSpPr>
          <p:cNvPr id="550" name="s550"/>
          <p:cNvSpPr/>
          <p:nvPr/>
        </p:nvSpPr>
        <p:spPr>
          <a:xfrm>
            <a:off x="7787640" y="4254500"/>
            <a:ext cx="584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7</a:t>
            </a:r>
          </a:p>
        </p:txBody>
      </p:sp>
      <p:sp>
        <p:nvSpPr>
          <p:cNvPr id="551" name="s551"/>
          <p:cNvSpPr/>
          <p:nvPr/>
        </p:nvSpPr>
        <p:spPr>
          <a:xfrm>
            <a:off x="8422640" y="42545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$9,240</a:t>
            </a:r>
          </a:p>
        </p:txBody>
      </p:sp>
      <p:sp>
        <p:nvSpPr>
          <p:cNvPr id="552" name="s552"/>
          <p:cNvSpPr/>
          <p:nvPr/>
        </p:nvSpPr>
        <p:spPr>
          <a:xfrm>
            <a:off x="9286240" y="42545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$1,180</a:t>
            </a:r>
          </a:p>
        </p:txBody>
      </p:sp>
      <p:sp>
        <p:nvSpPr>
          <p:cNvPr id="553" name="s553"/>
          <p:cNvSpPr/>
          <p:nvPr/>
        </p:nvSpPr>
        <p:spPr>
          <a:xfrm>
            <a:off x="10226040" y="42545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4.1</a:t>
            </a:r>
          </a:p>
        </p:txBody>
      </p:sp>
      <p:sp>
        <p:nvSpPr>
          <p:cNvPr id="554" name="s554"/>
          <p:cNvSpPr/>
          <p:nvPr/>
        </p:nvSpPr>
        <p:spPr>
          <a:xfrm>
            <a:off x="10581640" y="4394200"/>
            <a:ext cx="203200" cy="5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5" name="s555"/>
          <p:cNvSpPr/>
          <p:nvPr/>
        </p:nvSpPr>
        <p:spPr>
          <a:xfrm>
            <a:off x="10581640" y="4394200"/>
            <a:ext cx="166624" cy="508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6" name="s556"/>
          <p:cNvSpPr/>
          <p:nvPr/>
        </p:nvSpPr>
        <p:spPr>
          <a:xfrm>
            <a:off x="10861040" y="4330700"/>
            <a:ext cx="889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7" name="s557"/>
          <p:cNvSpPr/>
          <p:nvPr/>
        </p:nvSpPr>
        <p:spPr>
          <a:xfrm>
            <a:off x="10861040" y="43307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Active</a:t>
            </a:r>
          </a:p>
        </p:txBody>
      </p:sp>
      <p:sp>
        <p:nvSpPr>
          <p:cNvPr id="558" name="s558"/>
          <p:cNvSpPr/>
          <p:nvPr/>
        </p:nvSpPr>
        <p:spPr>
          <a:xfrm>
            <a:off x="2148840" y="4908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9" name="s559"/>
          <p:cNvSpPr/>
          <p:nvPr/>
        </p:nvSpPr>
        <p:spPr>
          <a:xfrm>
            <a:off x="2148840" y="46355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0" name="s560"/>
          <p:cNvSpPr/>
          <p:nvPr/>
        </p:nvSpPr>
        <p:spPr>
          <a:xfrm>
            <a:off x="2326640" y="4635500"/>
            <a:ext cx="228600" cy="228600"/>
          </a:xfrm>
          <a:prstGeom prst="ellipse">
            <a:avLst/>
          </a:prstGeom>
          <a:solidFill>
            <a:srgbClr val="D08700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1" name="s561"/>
          <p:cNvSpPr/>
          <p:nvPr/>
        </p:nvSpPr>
        <p:spPr>
          <a:xfrm>
            <a:off x="2326640" y="46355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D08700"/>
                </a:solidFill>
                <a:latin typeface="Calibri"/>
              </a:rPr>
              <a:t>AE</a:t>
            </a:r>
          </a:p>
        </p:txBody>
      </p:sp>
      <p:sp>
        <p:nvSpPr>
          <p:cNvPr id="562" name="s562"/>
          <p:cNvSpPr/>
          <p:nvPr/>
        </p:nvSpPr>
        <p:spPr>
          <a:xfrm>
            <a:off x="2631440" y="4610100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Atlantic Educational Supply</a:t>
            </a:r>
          </a:p>
        </p:txBody>
      </p:sp>
      <p:sp>
        <p:nvSpPr>
          <p:cNvPr id="563" name="s563"/>
          <p:cNvSpPr/>
          <p:nvPr/>
        </p:nvSpPr>
        <p:spPr>
          <a:xfrm>
            <a:off x="2631440" y="4749800"/>
            <a:ext cx="1828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Arial"/>
              </a:rPr>
              <a:t>SUP-015</a:t>
            </a:r>
          </a:p>
        </p:txBody>
      </p:sp>
      <p:sp>
        <p:nvSpPr>
          <p:cNvPr id="564" name="s564"/>
          <p:cNvSpPr/>
          <p:nvPr/>
        </p:nvSpPr>
        <p:spPr>
          <a:xfrm>
            <a:off x="4511040" y="45847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Monrovia, Montserrado</a:t>
            </a:r>
          </a:p>
        </p:txBody>
      </p:sp>
      <p:sp>
        <p:nvSpPr>
          <p:cNvPr id="565" name="s565"/>
          <p:cNvSpPr/>
          <p:nvPr/>
        </p:nvSpPr>
        <p:spPr>
          <a:xfrm>
            <a:off x="5831840" y="4584700"/>
            <a:ext cx="1219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Samuel Cooper</a:t>
            </a:r>
          </a:p>
        </p:txBody>
      </p:sp>
      <p:sp>
        <p:nvSpPr>
          <p:cNvPr id="566" name="s566"/>
          <p:cNvSpPr/>
          <p:nvPr/>
        </p:nvSpPr>
        <p:spPr>
          <a:xfrm>
            <a:off x="7101840" y="45847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Net 45</a:t>
            </a:r>
          </a:p>
        </p:txBody>
      </p:sp>
      <p:sp>
        <p:nvSpPr>
          <p:cNvPr id="567" name="s567"/>
          <p:cNvSpPr/>
          <p:nvPr/>
        </p:nvSpPr>
        <p:spPr>
          <a:xfrm>
            <a:off x="7787640" y="4584700"/>
            <a:ext cx="584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5</a:t>
            </a:r>
          </a:p>
        </p:txBody>
      </p:sp>
      <p:sp>
        <p:nvSpPr>
          <p:cNvPr id="568" name="s568"/>
          <p:cNvSpPr/>
          <p:nvPr/>
        </p:nvSpPr>
        <p:spPr>
          <a:xfrm>
            <a:off x="8422640" y="45847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$7,650</a:t>
            </a:r>
          </a:p>
        </p:txBody>
      </p:sp>
      <p:sp>
        <p:nvSpPr>
          <p:cNvPr id="569" name="s569"/>
          <p:cNvSpPr/>
          <p:nvPr/>
        </p:nvSpPr>
        <p:spPr>
          <a:xfrm>
            <a:off x="9286240" y="45847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$3,420</a:t>
            </a:r>
          </a:p>
        </p:txBody>
      </p:sp>
      <p:sp>
        <p:nvSpPr>
          <p:cNvPr id="570" name="s570"/>
          <p:cNvSpPr/>
          <p:nvPr/>
        </p:nvSpPr>
        <p:spPr>
          <a:xfrm>
            <a:off x="10226040" y="45847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3.6</a:t>
            </a:r>
          </a:p>
        </p:txBody>
      </p:sp>
      <p:sp>
        <p:nvSpPr>
          <p:cNvPr id="571" name="s571"/>
          <p:cNvSpPr/>
          <p:nvPr/>
        </p:nvSpPr>
        <p:spPr>
          <a:xfrm>
            <a:off x="10581640" y="4724400"/>
            <a:ext cx="203200" cy="5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2" name="s572"/>
          <p:cNvSpPr/>
          <p:nvPr/>
        </p:nvSpPr>
        <p:spPr>
          <a:xfrm>
            <a:off x="10581640" y="4724400"/>
            <a:ext cx="146304" cy="508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3" name="s573"/>
          <p:cNvSpPr/>
          <p:nvPr/>
        </p:nvSpPr>
        <p:spPr>
          <a:xfrm>
            <a:off x="10861040" y="4660900"/>
            <a:ext cx="8890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4" name="s574"/>
          <p:cNvSpPr/>
          <p:nvPr/>
        </p:nvSpPr>
        <p:spPr>
          <a:xfrm>
            <a:off x="10861040" y="46609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Under review</a:t>
            </a:r>
          </a:p>
        </p:txBody>
      </p:sp>
      <p:sp>
        <p:nvSpPr>
          <p:cNvPr id="575" name="s575"/>
          <p:cNvSpPr/>
          <p:nvPr/>
        </p:nvSpPr>
        <p:spPr>
          <a:xfrm>
            <a:off x="2148840" y="5238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6" name="s576"/>
          <p:cNvSpPr/>
          <p:nvPr/>
        </p:nvSpPr>
        <p:spPr>
          <a:xfrm>
            <a:off x="2148840" y="49657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7" name="s577"/>
          <p:cNvSpPr/>
          <p:nvPr/>
        </p:nvSpPr>
        <p:spPr>
          <a:xfrm>
            <a:off x="2326640" y="4965700"/>
            <a:ext cx="228600" cy="228600"/>
          </a:xfrm>
          <a:prstGeom prst="ellipse">
            <a:avLst/>
          </a:prstGeom>
          <a:solidFill>
            <a:srgbClr val="2C6ECB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8" name="s578"/>
          <p:cNvSpPr/>
          <p:nvPr/>
        </p:nvSpPr>
        <p:spPr>
          <a:xfrm>
            <a:off x="2326640" y="49657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2C6ECB"/>
                </a:solidFill>
                <a:latin typeface="Calibri"/>
              </a:rPr>
              <a:t>BC</a:t>
            </a:r>
          </a:p>
        </p:txBody>
      </p:sp>
      <p:sp>
        <p:nvSpPr>
          <p:cNvPr id="579" name="s579"/>
          <p:cNvSpPr/>
          <p:nvPr/>
        </p:nvSpPr>
        <p:spPr>
          <a:xfrm>
            <a:off x="2631440" y="4940300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Buchanan Craft Supplies</a:t>
            </a:r>
          </a:p>
        </p:txBody>
      </p:sp>
      <p:sp>
        <p:nvSpPr>
          <p:cNvPr id="580" name="s580"/>
          <p:cNvSpPr/>
          <p:nvPr/>
        </p:nvSpPr>
        <p:spPr>
          <a:xfrm>
            <a:off x="2631440" y="5080000"/>
            <a:ext cx="1828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Arial"/>
              </a:rPr>
              <a:t>SUP-019</a:t>
            </a:r>
          </a:p>
        </p:txBody>
      </p:sp>
      <p:sp>
        <p:nvSpPr>
          <p:cNvPr id="581" name="s581"/>
          <p:cNvSpPr/>
          <p:nvPr/>
        </p:nvSpPr>
        <p:spPr>
          <a:xfrm>
            <a:off x="4511040" y="49149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Buchanan, Grand Bassa</a:t>
            </a:r>
          </a:p>
        </p:txBody>
      </p:sp>
      <p:sp>
        <p:nvSpPr>
          <p:cNvPr id="582" name="s582"/>
          <p:cNvSpPr/>
          <p:nvPr/>
        </p:nvSpPr>
        <p:spPr>
          <a:xfrm>
            <a:off x="5831840" y="4914900"/>
            <a:ext cx="1219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Martha Toe</a:t>
            </a:r>
          </a:p>
        </p:txBody>
      </p:sp>
      <p:sp>
        <p:nvSpPr>
          <p:cNvPr id="583" name="s583"/>
          <p:cNvSpPr/>
          <p:nvPr/>
        </p:nvSpPr>
        <p:spPr>
          <a:xfrm>
            <a:off x="7101840" y="49149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Prepaid</a:t>
            </a:r>
          </a:p>
        </p:txBody>
      </p:sp>
      <p:sp>
        <p:nvSpPr>
          <p:cNvPr id="584" name="s584"/>
          <p:cNvSpPr/>
          <p:nvPr/>
        </p:nvSpPr>
        <p:spPr>
          <a:xfrm>
            <a:off x="7787640" y="4914900"/>
            <a:ext cx="584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4</a:t>
            </a:r>
          </a:p>
        </p:txBody>
      </p:sp>
      <p:sp>
        <p:nvSpPr>
          <p:cNvPr id="585" name="s585"/>
          <p:cNvSpPr/>
          <p:nvPr/>
        </p:nvSpPr>
        <p:spPr>
          <a:xfrm>
            <a:off x="8422640" y="49149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$3,980</a:t>
            </a:r>
          </a:p>
        </p:txBody>
      </p:sp>
      <p:sp>
        <p:nvSpPr>
          <p:cNvPr id="586" name="s586"/>
          <p:cNvSpPr/>
          <p:nvPr/>
        </p:nvSpPr>
        <p:spPr>
          <a:xfrm>
            <a:off x="9286240" y="49149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8A93A0"/>
                </a:solidFill>
                <a:latin typeface="Arial"/>
              </a:rPr>
              <a:t>—</a:t>
            </a:r>
          </a:p>
        </p:txBody>
      </p:sp>
      <p:sp>
        <p:nvSpPr>
          <p:cNvPr id="587" name="s587"/>
          <p:cNvSpPr/>
          <p:nvPr/>
        </p:nvSpPr>
        <p:spPr>
          <a:xfrm>
            <a:off x="10226040" y="49149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4.4</a:t>
            </a:r>
          </a:p>
        </p:txBody>
      </p:sp>
      <p:sp>
        <p:nvSpPr>
          <p:cNvPr id="588" name="s588"/>
          <p:cNvSpPr/>
          <p:nvPr/>
        </p:nvSpPr>
        <p:spPr>
          <a:xfrm>
            <a:off x="10581640" y="5054600"/>
            <a:ext cx="203200" cy="5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9" name="s589"/>
          <p:cNvSpPr/>
          <p:nvPr/>
        </p:nvSpPr>
        <p:spPr>
          <a:xfrm>
            <a:off x="10581640" y="5054600"/>
            <a:ext cx="178816" cy="508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0" name="s590"/>
          <p:cNvSpPr/>
          <p:nvPr/>
        </p:nvSpPr>
        <p:spPr>
          <a:xfrm>
            <a:off x="10861040" y="4991100"/>
            <a:ext cx="889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1" name="s591"/>
          <p:cNvSpPr/>
          <p:nvPr/>
        </p:nvSpPr>
        <p:spPr>
          <a:xfrm>
            <a:off x="10861040" y="49911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Active</a:t>
            </a:r>
          </a:p>
        </p:txBody>
      </p:sp>
      <p:sp>
        <p:nvSpPr>
          <p:cNvPr id="592" name="s592"/>
          <p:cNvSpPr/>
          <p:nvPr/>
        </p:nvSpPr>
        <p:spPr>
          <a:xfrm>
            <a:off x="2148840" y="5568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3" name="s593"/>
          <p:cNvSpPr/>
          <p:nvPr/>
        </p:nvSpPr>
        <p:spPr>
          <a:xfrm>
            <a:off x="2148840" y="5295900"/>
            <a:ext cx="25400" cy="228600"/>
          </a:xfrm>
          <a:prstGeom prst="rect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4" name="s594"/>
          <p:cNvSpPr/>
          <p:nvPr/>
        </p:nvSpPr>
        <p:spPr>
          <a:xfrm>
            <a:off x="2326640" y="5295900"/>
            <a:ext cx="228600" cy="228600"/>
          </a:xfrm>
          <a:prstGeom prst="ellipse">
            <a:avLst/>
          </a:prstGeom>
          <a:solidFill>
            <a:srgbClr val="5B6572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5" name="s595"/>
          <p:cNvSpPr/>
          <p:nvPr/>
        </p:nvSpPr>
        <p:spPr>
          <a:xfrm>
            <a:off x="2326640" y="52959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00" b="1" spc="0" dirty="0">
                <a:solidFill>
                  <a:srgbClr val="5B6572"/>
                </a:solidFill>
                <a:latin typeface="Calibri"/>
              </a:rPr>
              <a:t>VT</a:t>
            </a:r>
          </a:p>
        </p:txBody>
      </p:sp>
      <p:sp>
        <p:nvSpPr>
          <p:cNvPr id="596" name="s596"/>
          <p:cNvSpPr/>
          <p:nvPr/>
        </p:nvSpPr>
        <p:spPr>
          <a:xfrm>
            <a:off x="2631440" y="5270500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Voinjama Trading Co.</a:t>
            </a:r>
          </a:p>
        </p:txBody>
      </p:sp>
      <p:sp>
        <p:nvSpPr>
          <p:cNvPr id="597" name="s597"/>
          <p:cNvSpPr/>
          <p:nvPr/>
        </p:nvSpPr>
        <p:spPr>
          <a:xfrm>
            <a:off x="2631440" y="5410200"/>
            <a:ext cx="18288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Arial"/>
              </a:rPr>
              <a:t>SUP-022</a:t>
            </a:r>
          </a:p>
        </p:txBody>
      </p:sp>
      <p:sp>
        <p:nvSpPr>
          <p:cNvPr id="598" name="s598"/>
          <p:cNvSpPr/>
          <p:nvPr/>
        </p:nvSpPr>
        <p:spPr>
          <a:xfrm>
            <a:off x="4511040" y="52451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Voinjama, Lofa</a:t>
            </a:r>
          </a:p>
        </p:txBody>
      </p:sp>
      <p:sp>
        <p:nvSpPr>
          <p:cNvPr id="599" name="s599"/>
          <p:cNvSpPr/>
          <p:nvPr/>
        </p:nvSpPr>
        <p:spPr>
          <a:xfrm>
            <a:off x="5831840" y="5245100"/>
            <a:ext cx="1219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Joseph Kamara</a:t>
            </a:r>
          </a:p>
        </p:txBody>
      </p:sp>
      <p:sp>
        <p:nvSpPr>
          <p:cNvPr id="600" name="s600"/>
          <p:cNvSpPr/>
          <p:nvPr/>
        </p:nvSpPr>
        <p:spPr>
          <a:xfrm>
            <a:off x="7101840" y="52451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Net 30</a:t>
            </a:r>
          </a:p>
        </p:txBody>
      </p:sp>
      <p:sp>
        <p:nvSpPr>
          <p:cNvPr id="601" name="s601"/>
          <p:cNvSpPr/>
          <p:nvPr/>
        </p:nvSpPr>
        <p:spPr>
          <a:xfrm>
            <a:off x="7787640" y="5245100"/>
            <a:ext cx="584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3</a:t>
            </a:r>
          </a:p>
        </p:txBody>
      </p:sp>
      <p:sp>
        <p:nvSpPr>
          <p:cNvPr id="602" name="s602"/>
          <p:cNvSpPr/>
          <p:nvPr/>
        </p:nvSpPr>
        <p:spPr>
          <a:xfrm>
            <a:off x="8422640" y="52451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$2,410</a:t>
            </a:r>
          </a:p>
        </p:txBody>
      </p:sp>
      <p:sp>
        <p:nvSpPr>
          <p:cNvPr id="603" name="s603"/>
          <p:cNvSpPr/>
          <p:nvPr/>
        </p:nvSpPr>
        <p:spPr>
          <a:xfrm>
            <a:off x="9286240" y="5245100"/>
            <a:ext cx="787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$640</a:t>
            </a:r>
          </a:p>
        </p:txBody>
      </p:sp>
      <p:sp>
        <p:nvSpPr>
          <p:cNvPr id="604" name="s604"/>
          <p:cNvSpPr/>
          <p:nvPr/>
        </p:nvSpPr>
        <p:spPr>
          <a:xfrm>
            <a:off x="10226040" y="52451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3.9</a:t>
            </a:r>
          </a:p>
        </p:txBody>
      </p:sp>
      <p:sp>
        <p:nvSpPr>
          <p:cNvPr id="605" name="s605"/>
          <p:cNvSpPr/>
          <p:nvPr/>
        </p:nvSpPr>
        <p:spPr>
          <a:xfrm>
            <a:off x="10581640" y="5384800"/>
            <a:ext cx="203200" cy="5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6" name="s606"/>
          <p:cNvSpPr/>
          <p:nvPr/>
        </p:nvSpPr>
        <p:spPr>
          <a:xfrm>
            <a:off x="10581640" y="5384800"/>
            <a:ext cx="158496" cy="508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7" name="s607"/>
          <p:cNvSpPr/>
          <p:nvPr/>
        </p:nvSpPr>
        <p:spPr>
          <a:xfrm>
            <a:off x="10861040" y="5321300"/>
            <a:ext cx="889000" cy="190500"/>
          </a:xfrm>
          <a:prstGeom prst="roundRect">
            <a:avLst>
              <a:gd name="adj" fmla="val 26000"/>
            </a:avLst>
          </a:prstGeom>
          <a:solidFill>
            <a:srgbClr val="5B6572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8" name="s608"/>
          <p:cNvSpPr/>
          <p:nvPr/>
        </p:nvSpPr>
        <p:spPr>
          <a:xfrm>
            <a:off x="10861040" y="53213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5B6572"/>
                </a:solidFill>
                <a:latin typeface="Calibri"/>
              </a:rPr>
              <a:t>Inactive</a:t>
            </a:r>
          </a:p>
        </p:txBody>
      </p:sp>
      <p:sp>
        <p:nvSpPr>
          <p:cNvPr id="609" name="s609"/>
          <p:cNvSpPr/>
          <p:nvPr/>
        </p:nvSpPr>
        <p:spPr>
          <a:xfrm>
            <a:off x="2326640" y="57404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Showing 6 of 22 suppliers  ·  sorted by purchase volume</a:t>
            </a:r>
          </a:p>
        </p:txBody>
      </p:sp>
      <p:sp>
        <p:nvSpPr>
          <p:cNvPr id="610" name="s610"/>
          <p:cNvSpPr/>
          <p:nvPr/>
        </p:nvSpPr>
        <p:spPr>
          <a:xfrm>
            <a:off x="7620000" y="5740400"/>
            <a:ext cx="4127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Ratings combine delivery reliability, lead time and quality claims</a:t>
            </a:r>
          </a:p>
        </p:txBody>
      </p:sp>
      <p:sp>
        <p:nvSpPr>
          <p:cNvPr id="611" name="s611"/>
          <p:cNvSpPr/>
          <p:nvPr/>
        </p:nvSpPr>
        <p:spPr>
          <a:xfrm>
            <a:off x="2326640" y="6070600"/>
            <a:ext cx="6756400" cy="330200"/>
          </a:xfrm>
          <a:prstGeom prst="roundRect">
            <a:avLst>
              <a:gd name="adj" fmla="val 6000"/>
            </a:avLst>
          </a:prstGeom>
          <a:solidFill>
            <a:srgbClr val="D08700">
              <a:alpha val="7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2" name="s612"/>
          <p:cNvSpPr/>
          <p:nvPr/>
        </p:nvSpPr>
        <p:spPr>
          <a:xfrm>
            <a:off x="2326640" y="6070600"/>
            <a:ext cx="25400" cy="3302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3" name="s613"/>
          <p:cNvSpPr/>
          <p:nvPr/>
        </p:nvSpPr>
        <p:spPr>
          <a:xfrm>
            <a:off x="2501900" y="6070600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5A00"/>
                </a:solidFill>
                <a:latin typeface="Calibri"/>
              </a:rPr>
              <a:t>Atlantic Educational Supply is under review — 3 late deliveries and $3,420 outstanding.</a:t>
            </a:r>
          </a:p>
        </p:txBody>
      </p:sp>
      <p:sp>
        <p:nvSpPr>
          <p:cNvPr id="614" name="s614"/>
          <p:cNvSpPr/>
          <p:nvPr/>
        </p:nvSpPr>
        <p:spPr>
          <a:xfrm>
            <a:off x="9232900" y="6070600"/>
            <a:ext cx="25146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Open supplier review</a:t>
            </a:r>
          </a:p>
        </p:txBody>
      </p:sp>
    </p:spTree>
    <p:extLst>
      <p:ext uri="{BB962C8B-B14F-4D97-AF65-F5344CB8AC3E}">
        <p14:creationId xmlns:p14="http://schemas.microsoft.com/office/powerpoint/2010/main" val="267330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EduStock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101600" y="2908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2" name="s412"/>
          <p:cNvSpPr/>
          <p:nvPr/>
        </p:nvSpPr>
        <p:spPr>
          <a:xfrm>
            <a:off x="101600" y="2908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Suppliers  ›  Add supplier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Add Supplier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New suppliers start Inactive until the onboarding checklist is complete.</a:t>
            </a:r>
          </a:p>
        </p:txBody>
      </p:sp>
      <p:sp>
        <p:nvSpPr>
          <p:cNvPr id="444" name="s444"/>
          <p:cNvSpPr/>
          <p:nvPr/>
        </p:nvSpPr>
        <p:spPr>
          <a:xfrm>
            <a:off x="10736580" y="812800"/>
            <a:ext cx="119634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736580" y="812800"/>
            <a:ext cx="11963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Save Supplier</a:t>
            </a:r>
          </a:p>
        </p:txBody>
      </p:sp>
      <p:sp>
        <p:nvSpPr>
          <p:cNvPr id="446" name="s446"/>
          <p:cNvSpPr/>
          <p:nvPr/>
        </p:nvSpPr>
        <p:spPr>
          <a:xfrm>
            <a:off x="989330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89330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Cancel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22400"/>
            <a:ext cx="6604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326640" y="1562100"/>
            <a:ext cx="6248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Supplier Details</a:t>
            </a:r>
          </a:p>
        </p:txBody>
      </p:sp>
      <p:sp>
        <p:nvSpPr>
          <p:cNvPr id="450" name="s450"/>
          <p:cNvSpPr/>
          <p:nvPr/>
        </p:nvSpPr>
        <p:spPr>
          <a:xfrm>
            <a:off x="2326640" y="18542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IDENTITY</a:t>
            </a:r>
          </a:p>
        </p:txBody>
      </p:sp>
      <p:sp>
        <p:nvSpPr>
          <p:cNvPr id="451" name="s451"/>
          <p:cNvSpPr/>
          <p:nvPr/>
        </p:nvSpPr>
        <p:spPr>
          <a:xfrm>
            <a:off x="2326640" y="20447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2326640" y="20828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Supplier code</a:t>
            </a:r>
          </a:p>
        </p:txBody>
      </p:sp>
      <p:sp>
        <p:nvSpPr>
          <p:cNvPr id="453" name="s453"/>
          <p:cNvSpPr/>
          <p:nvPr/>
        </p:nvSpPr>
        <p:spPr>
          <a:xfrm>
            <a:off x="4638040" y="20828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54" name="s454"/>
          <p:cNvSpPr/>
          <p:nvPr/>
        </p:nvSpPr>
        <p:spPr>
          <a:xfrm>
            <a:off x="2326640" y="22479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2440940" y="22479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SUP-023</a:t>
            </a:r>
          </a:p>
        </p:txBody>
      </p:sp>
      <p:sp>
        <p:nvSpPr>
          <p:cNvPr id="456" name="s456"/>
          <p:cNvSpPr/>
          <p:nvPr/>
        </p:nvSpPr>
        <p:spPr>
          <a:xfrm>
            <a:off x="5552440" y="20828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Trading name</a:t>
            </a:r>
          </a:p>
        </p:txBody>
      </p:sp>
      <p:sp>
        <p:nvSpPr>
          <p:cNvPr id="457" name="s457"/>
          <p:cNvSpPr/>
          <p:nvPr/>
        </p:nvSpPr>
        <p:spPr>
          <a:xfrm>
            <a:off x="7863840" y="20828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58" name="s458"/>
          <p:cNvSpPr/>
          <p:nvPr/>
        </p:nvSpPr>
        <p:spPr>
          <a:xfrm>
            <a:off x="5552440" y="22479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5666740" y="22479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Zwedru School Supplies</a:t>
            </a:r>
          </a:p>
        </p:txBody>
      </p:sp>
      <p:sp>
        <p:nvSpPr>
          <p:cNvPr id="460" name="s460"/>
          <p:cNvSpPr/>
          <p:nvPr/>
        </p:nvSpPr>
        <p:spPr>
          <a:xfrm>
            <a:off x="2326640" y="25527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Registered company</a:t>
            </a:r>
          </a:p>
        </p:txBody>
      </p:sp>
      <p:sp>
        <p:nvSpPr>
          <p:cNvPr id="461" name="s461"/>
          <p:cNvSpPr/>
          <p:nvPr/>
        </p:nvSpPr>
        <p:spPr>
          <a:xfrm>
            <a:off x="2326640" y="2717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2440940" y="2717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Zwedru School Supplies Ltd</a:t>
            </a:r>
          </a:p>
        </p:txBody>
      </p:sp>
      <p:sp>
        <p:nvSpPr>
          <p:cNvPr id="463" name="s463"/>
          <p:cNvSpPr/>
          <p:nvPr/>
        </p:nvSpPr>
        <p:spPr>
          <a:xfrm>
            <a:off x="5552440" y="25527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County</a:t>
            </a:r>
          </a:p>
        </p:txBody>
      </p:sp>
      <p:sp>
        <p:nvSpPr>
          <p:cNvPr id="464" name="s464"/>
          <p:cNvSpPr/>
          <p:nvPr/>
        </p:nvSpPr>
        <p:spPr>
          <a:xfrm>
            <a:off x="7863840" y="25527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65" name="s465"/>
          <p:cNvSpPr/>
          <p:nvPr/>
        </p:nvSpPr>
        <p:spPr>
          <a:xfrm>
            <a:off x="5552440" y="27178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5666740" y="27178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Grand Gedeh</a:t>
            </a:r>
          </a:p>
        </p:txBody>
      </p:sp>
      <p:sp>
        <p:nvSpPr>
          <p:cNvPr id="467" name="s467"/>
          <p:cNvSpPr/>
          <p:nvPr/>
        </p:nvSpPr>
        <p:spPr>
          <a:xfrm rot="10800000">
            <a:off x="8384540" y="28130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8" name="s468"/>
          <p:cNvSpPr/>
          <p:nvPr/>
        </p:nvSpPr>
        <p:spPr>
          <a:xfrm>
            <a:off x="2326640" y="3022600"/>
            <a:ext cx="5537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Street address</a:t>
            </a:r>
          </a:p>
        </p:txBody>
      </p:sp>
      <p:sp>
        <p:nvSpPr>
          <p:cNvPr id="469" name="s469"/>
          <p:cNvSpPr/>
          <p:nvPr/>
        </p:nvSpPr>
        <p:spPr>
          <a:xfrm>
            <a:off x="2326640" y="3187700"/>
            <a:ext cx="62738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2440940" y="3187700"/>
            <a:ext cx="589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Tubman Boulevard, Zwedru, Grand Gedeh County, Liberia</a:t>
            </a:r>
          </a:p>
        </p:txBody>
      </p:sp>
      <p:sp>
        <p:nvSpPr>
          <p:cNvPr id="471" name="s471"/>
          <p:cNvSpPr/>
          <p:nvPr/>
        </p:nvSpPr>
        <p:spPr>
          <a:xfrm>
            <a:off x="2326640" y="36195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CONTACT</a:t>
            </a:r>
          </a:p>
        </p:txBody>
      </p:sp>
      <p:sp>
        <p:nvSpPr>
          <p:cNvPr id="472" name="s472"/>
          <p:cNvSpPr/>
          <p:nvPr/>
        </p:nvSpPr>
        <p:spPr>
          <a:xfrm>
            <a:off x="2326640" y="38100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3" name="s473"/>
          <p:cNvSpPr/>
          <p:nvPr/>
        </p:nvSpPr>
        <p:spPr>
          <a:xfrm>
            <a:off x="2326640" y="38481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Contact person</a:t>
            </a:r>
          </a:p>
        </p:txBody>
      </p:sp>
      <p:sp>
        <p:nvSpPr>
          <p:cNvPr id="474" name="s474"/>
          <p:cNvSpPr/>
          <p:nvPr/>
        </p:nvSpPr>
        <p:spPr>
          <a:xfrm>
            <a:off x="4638040" y="38481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75" name="s475"/>
          <p:cNvSpPr/>
          <p:nvPr/>
        </p:nvSpPr>
        <p:spPr>
          <a:xfrm>
            <a:off x="2326640" y="4013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6" name="s476"/>
          <p:cNvSpPr/>
          <p:nvPr/>
        </p:nvSpPr>
        <p:spPr>
          <a:xfrm>
            <a:off x="2440940" y="40132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Patience Nyanquoi</a:t>
            </a:r>
          </a:p>
        </p:txBody>
      </p:sp>
      <p:sp>
        <p:nvSpPr>
          <p:cNvPr id="477" name="s477"/>
          <p:cNvSpPr/>
          <p:nvPr/>
        </p:nvSpPr>
        <p:spPr>
          <a:xfrm>
            <a:off x="5552440" y="38481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Position</a:t>
            </a:r>
          </a:p>
        </p:txBody>
      </p:sp>
      <p:sp>
        <p:nvSpPr>
          <p:cNvPr id="478" name="s478"/>
          <p:cNvSpPr/>
          <p:nvPr/>
        </p:nvSpPr>
        <p:spPr>
          <a:xfrm>
            <a:off x="5552440" y="40132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5666740" y="40132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Sales Manager</a:t>
            </a:r>
          </a:p>
        </p:txBody>
      </p:sp>
      <p:sp>
        <p:nvSpPr>
          <p:cNvPr id="480" name="s480"/>
          <p:cNvSpPr/>
          <p:nvPr/>
        </p:nvSpPr>
        <p:spPr>
          <a:xfrm>
            <a:off x="2326640" y="43180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Phone</a:t>
            </a:r>
          </a:p>
        </p:txBody>
      </p:sp>
      <p:sp>
        <p:nvSpPr>
          <p:cNvPr id="481" name="s481"/>
          <p:cNvSpPr/>
          <p:nvPr/>
        </p:nvSpPr>
        <p:spPr>
          <a:xfrm>
            <a:off x="4638040" y="43180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82" name="s482"/>
          <p:cNvSpPr/>
          <p:nvPr/>
        </p:nvSpPr>
        <p:spPr>
          <a:xfrm>
            <a:off x="2326640" y="4483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2440940" y="44831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+231 88 640 217</a:t>
            </a:r>
          </a:p>
        </p:txBody>
      </p:sp>
      <p:sp>
        <p:nvSpPr>
          <p:cNvPr id="484" name="s484"/>
          <p:cNvSpPr/>
          <p:nvPr/>
        </p:nvSpPr>
        <p:spPr>
          <a:xfrm>
            <a:off x="5552440" y="43180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Email</a:t>
            </a:r>
          </a:p>
        </p:txBody>
      </p:sp>
      <p:sp>
        <p:nvSpPr>
          <p:cNvPr id="485" name="s485"/>
          <p:cNvSpPr/>
          <p:nvPr/>
        </p:nvSpPr>
        <p:spPr>
          <a:xfrm>
            <a:off x="7863840" y="43180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86" name="s486"/>
          <p:cNvSpPr/>
          <p:nvPr/>
        </p:nvSpPr>
        <p:spPr>
          <a:xfrm>
            <a:off x="5552440" y="44831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7" name="s487"/>
          <p:cNvSpPr/>
          <p:nvPr/>
        </p:nvSpPr>
        <p:spPr>
          <a:xfrm>
            <a:off x="5666740" y="44831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sales@zwedrusupplies.lr</a:t>
            </a:r>
          </a:p>
        </p:txBody>
      </p:sp>
      <p:sp>
        <p:nvSpPr>
          <p:cNvPr id="488" name="s488"/>
          <p:cNvSpPr/>
          <p:nvPr/>
        </p:nvSpPr>
        <p:spPr>
          <a:xfrm>
            <a:off x="2326640" y="4787900"/>
            <a:ext cx="62738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100" dirty="0">
                <a:solidFill>
                  <a:srgbClr val="2559A8"/>
                </a:solidFill>
                <a:latin typeface="Calibri"/>
              </a:rPr>
              <a:t>COMMERCIAL TERMS</a:t>
            </a:r>
          </a:p>
        </p:txBody>
      </p:sp>
      <p:sp>
        <p:nvSpPr>
          <p:cNvPr id="489" name="s489"/>
          <p:cNvSpPr/>
          <p:nvPr/>
        </p:nvSpPr>
        <p:spPr>
          <a:xfrm>
            <a:off x="2326640" y="4978400"/>
            <a:ext cx="62738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0" name="s490"/>
          <p:cNvSpPr/>
          <p:nvPr/>
        </p:nvSpPr>
        <p:spPr>
          <a:xfrm>
            <a:off x="2326640" y="50165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Payment terms</a:t>
            </a:r>
          </a:p>
        </p:txBody>
      </p:sp>
      <p:sp>
        <p:nvSpPr>
          <p:cNvPr id="491" name="s491"/>
          <p:cNvSpPr/>
          <p:nvPr/>
        </p:nvSpPr>
        <p:spPr>
          <a:xfrm>
            <a:off x="4638040" y="50165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0" spc="0" dirty="0">
                <a:solidFill>
                  <a:srgbClr val="B3261E"/>
                </a:solidFill>
                <a:latin typeface="Calibri"/>
              </a:rPr>
              <a:t>required</a:t>
            </a:r>
          </a:p>
        </p:txBody>
      </p:sp>
      <p:sp>
        <p:nvSpPr>
          <p:cNvPr id="492" name="s492"/>
          <p:cNvSpPr/>
          <p:nvPr/>
        </p:nvSpPr>
        <p:spPr>
          <a:xfrm>
            <a:off x="2326640" y="51816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3" name="s493"/>
          <p:cNvSpPr/>
          <p:nvPr/>
        </p:nvSpPr>
        <p:spPr>
          <a:xfrm>
            <a:off x="2440940" y="5181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Net 30</a:t>
            </a:r>
          </a:p>
        </p:txBody>
      </p:sp>
      <p:sp>
        <p:nvSpPr>
          <p:cNvPr id="494" name="s494"/>
          <p:cNvSpPr/>
          <p:nvPr/>
        </p:nvSpPr>
        <p:spPr>
          <a:xfrm rot="10800000">
            <a:off x="5158740" y="52768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5552440" y="50165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Currency</a:t>
            </a:r>
          </a:p>
        </p:txBody>
      </p:sp>
      <p:sp>
        <p:nvSpPr>
          <p:cNvPr id="496" name="s496"/>
          <p:cNvSpPr/>
          <p:nvPr/>
        </p:nvSpPr>
        <p:spPr>
          <a:xfrm>
            <a:off x="5552440" y="51816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5666740" y="51816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USD</a:t>
            </a:r>
          </a:p>
        </p:txBody>
      </p:sp>
      <p:sp>
        <p:nvSpPr>
          <p:cNvPr id="498" name="s498"/>
          <p:cNvSpPr/>
          <p:nvPr/>
        </p:nvSpPr>
        <p:spPr>
          <a:xfrm rot="10800000">
            <a:off x="8384540" y="52768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9" name="s499"/>
          <p:cNvSpPr/>
          <p:nvPr/>
        </p:nvSpPr>
        <p:spPr>
          <a:xfrm>
            <a:off x="2326640" y="54864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Average lead time</a:t>
            </a:r>
          </a:p>
        </p:txBody>
      </p:sp>
      <p:sp>
        <p:nvSpPr>
          <p:cNvPr id="500" name="s500"/>
          <p:cNvSpPr/>
          <p:nvPr/>
        </p:nvSpPr>
        <p:spPr>
          <a:xfrm>
            <a:off x="2326640" y="56515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1" name="s501"/>
          <p:cNvSpPr/>
          <p:nvPr/>
        </p:nvSpPr>
        <p:spPr>
          <a:xfrm>
            <a:off x="2440940" y="5651500"/>
            <a:ext cx="2463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14</a:t>
            </a:r>
          </a:p>
        </p:txBody>
      </p:sp>
      <p:sp>
        <p:nvSpPr>
          <p:cNvPr id="502" name="s502"/>
          <p:cNvSpPr/>
          <p:nvPr/>
        </p:nvSpPr>
        <p:spPr>
          <a:xfrm>
            <a:off x="4866640" y="5651500"/>
            <a:ext cx="40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days</a:t>
            </a:r>
          </a:p>
        </p:txBody>
      </p:sp>
      <p:sp>
        <p:nvSpPr>
          <p:cNvPr id="503" name="s503"/>
          <p:cNvSpPr/>
          <p:nvPr/>
        </p:nvSpPr>
        <p:spPr>
          <a:xfrm>
            <a:off x="5552440" y="54864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Minimum order value</a:t>
            </a:r>
          </a:p>
        </p:txBody>
      </p:sp>
      <p:sp>
        <p:nvSpPr>
          <p:cNvPr id="504" name="s504"/>
          <p:cNvSpPr/>
          <p:nvPr/>
        </p:nvSpPr>
        <p:spPr>
          <a:xfrm>
            <a:off x="5552440" y="56515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5666740" y="5651500"/>
            <a:ext cx="2463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Arial"/>
              </a:rPr>
              <a:t>500.00</a:t>
            </a:r>
          </a:p>
        </p:txBody>
      </p:sp>
      <p:sp>
        <p:nvSpPr>
          <p:cNvPr id="506" name="s506"/>
          <p:cNvSpPr/>
          <p:nvPr/>
        </p:nvSpPr>
        <p:spPr>
          <a:xfrm>
            <a:off x="8092440" y="5651500"/>
            <a:ext cx="406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USD</a:t>
            </a:r>
          </a:p>
        </p:txBody>
      </p:sp>
      <p:sp>
        <p:nvSpPr>
          <p:cNvPr id="507" name="s507"/>
          <p:cNvSpPr/>
          <p:nvPr/>
        </p:nvSpPr>
        <p:spPr>
          <a:xfrm>
            <a:off x="2326640" y="59563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Categories supplied</a:t>
            </a:r>
          </a:p>
        </p:txBody>
      </p:sp>
      <p:sp>
        <p:nvSpPr>
          <p:cNvPr id="508" name="s508"/>
          <p:cNvSpPr/>
          <p:nvPr/>
        </p:nvSpPr>
        <p:spPr>
          <a:xfrm>
            <a:off x="2326640" y="61214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9" name="s509"/>
          <p:cNvSpPr/>
          <p:nvPr/>
        </p:nvSpPr>
        <p:spPr>
          <a:xfrm>
            <a:off x="2440940" y="61214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10141A"/>
                </a:solidFill>
                <a:latin typeface="Calibri"/>
              </a:rPr>
              <a:t>Copybooks, Game Cards</a:t>
            </a:r>
          </a:p>
        </p:txBody>
      </p:sp>
      <p:sp>
        <p:nvSpPr>
          <p:cNvPr id="510" name="s510"/>
          <p:cNvSpPr/>
          <p:nvPr/>
        </p:nvSpPr>
        <p:spPr>
          <a:xfrm rot="10800000">
            <a:off x="5158740" y="62166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1" name="s511"/>
          <p:cNvSpPr/>
          <p:nvPr/>
        </p:nvSpPr>
        <p:spPr>
          <a:xfrm>
            <a:off x="5552440" y="5956300"/>
            <a:ext cx="2311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512" name="s512"/>
          <p:cNvSpPr/>
          <p:nvPr/>
        </p:nvSpPr>
        <p:spPr>
          <a:xfrm>
            <a:off x="5552440" y="6121400"/>
            <a:ext cx="3048000" cy="2540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5666740" y="61214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spc="0" dirty="0">
                <a:solidFill>
                  <a:srgbClr val="5B6572"/>
                </a:solidFill>
                <a:latin typeface="Calibri"/>
              </a:rPr>
              <a:t>Inactive</a:t>
            </a:r>
          </a:p>
        </p:txBody>
      </p:sp>
      <p:sp>
        <p:nvSpPr>
          <p:cNvPr id="514" name="s514"/>
          <p:cNvSpPr/>
          <p:nvPr/>
        </p:nvSpPr>
        <p:spPr>
          <a:xfrm rot="10800000">
            <a:off x="8384540" y="6216650"/>
            <a:ext cx="101600" cy="63500"/>
          </a:xfrm>
          <a:prstGeom prst="triangl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5" name="s515"/>
          <p:cNvSpPr/>
          <p:nvPr/>
        </p:nvSpPr>
        <p:spPr>
          <a:xfrm>
            <a:off x="8930640" y="1422400"/>
            <a:ext cx="3002280" cy="248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6" name="s516"/>
          <p:cNvSpPr/>
          <p:nvPr/>
        </p:nvSpPr>
        <p:spPr>
          <a:xfrm>
            <a:off x="9108440" y="1562100"/>
            <a:ext cx="26466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Directory Preview</a:t>
            </a:r>
          </a:p>
        </p:txBody>
      </p:sp>
      <p:sp>
        <p:nvSpPr>
          <p:cNvPr id="517" name="s517"/>
          <p:cNvSpPr/>
          <p:nvPr/>
        </p:nvSpPr>
        <p:spPr>
          <a:xfrm>
            <a:off x="9108440" y="1778000"/>
            <a:ext cx="2641600" cy="12954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8" name="s518"/>
          <p:cNvSpPr/>
          <p:nvPr/>
        </p:nvSpPr>
        <p:spPr>
          <a:xfrm>
            <a:off x="9108440" y="1778000"/>
            <a:ext cx="25400" cy="12954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9" name="s519"/>
          <p:cNvSpPr/>
          <p:nvPr/>
        </p:nvSpPr>
        <p:spPr>
          <a:xfrm>
            <a:off x="9283700" y="1930400"/>
            <a:ext cx="381000" cy="381000"/>
          </a:xfrm>
          <a:prstGeom prst="ellipse">
            <a:avLst/>
          </a:prstGeom>
          <a:solidFill>
            <a:srgbClr val="2559A8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0" name="s520"/>
          <p:cNvSpPr/>
          <p:nvPr/>
        </p:nvSpPr>
        <p:spPr>
          <a:xfrm>
            <a:off x="9283700" y="1930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ZS</a:t>
            </a:r>
          </a:p>
        </p:txBody>
      </p:sp>
      <p:sp>
        <p:nvSpPr>
          <p:cNvPr id="521" name="s521"/>
          <p:cNvSpPr/>
          <p:nvPr/>
        </p:nvSpPr>
        <p:spPr>
          <a:xfrm>
            <a:off x="9766300" y="1930400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spc="0" dirty="0">
                <a:solidFill>
                  <a:srgbClr val="10141A"/>
                </a:solidFill>
                <a:latin typeface="Calibri"/>
              </a:rPr>
              <a:t>Zwedru School Supplies</a:t>
            </a:r>
          </a:p>
        </p:txBody>
      </p:sp>
      <p:sp>
        <p:nvSpPr>
          <p:cNvPr id="522" name="s522"/>
          <p:cNvSpPr/>
          <p:nvPr/>
        </p:nvSpPr>
        <p:spPr>
          <a:xfrm>
            <a:off x="9766300" y="2095500"/>
            <a:ext cx="1905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Arial"/>
              </a:rPr>
              <a:t>SUP-023  ·  Grand Gedeh</a:t>
            </a:r>
          </a:p>
        </p:txBody>
      </p:sp>
      <p:sp>
        <p:nvSpPr>
          <p:cNvPr id="523" name="s523"/>
          <p:cNvSpPr/>
          <p:nvPr/>
        </p:nvSpPr>
        <p:spPr>
          <a:xfrm>
            <a:off x="9766300" y="2286000"/>
            <a:ext cx="711200" cy="190500"/>
          </a:xfrm>
          <a:prstGeom prst="roundRect">
            <a:avLst>
              <a:gd name="adj" fmla="val 26000"/>
            </a:avLst>
          </a:prstGeom>
          <a:solidFill>
            <a:srgbClr val="5B6572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s524"/>
          <p:cNvSpPr/>
          <p:nvPr/>
        </p:nvSpPr>
        <p:spPr>
          <a:xfrm>
            <a:off x="9766300" y="22860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5B6572"/>
                </a:solidFill>
                <a:latin typeface="Calibri"/>
              </a:rPr>
              <a:t>Inactive</a:t>
            </a:r>
          </a:p>
        </p:txBody>
      </p:sp>
      <p:sp>
        <p:nvSpPr>
          <p:cNvPr id="525" name="s525"/>
          <p:cNvSpPr/>
          <p:nvPr/>
        </p:nvSpPr>
        <p:spPr>
          <a:xfrm>
            <a:off x="9283700" y="2616200"/>
            <a:ext cx="22860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6" name="s526"/>
          <p:cNvSpPr/>
          <p:nvPr/>
        </p:nvSpPr>
        <p:spPr>
          <a:xfrm>
            <a:off x="9283700" y="26924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Payment terms</a:t>
            </a:r>
          </a:p>
        </p:txBody>
      </p:sp>
      <p:sp>
        <p:nvSpPr>
          <p:cNvPr id="527" name="s527"/>
          <p:cNvSpPr/>
          <p:nvPr/>
        </p:nvSpPr>
        <p:spPr>
          <a:xfrm>
            <a:off x="10426700" y="26924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10141A"/>
                </a:solidFill>
                <a:latin typeface="Calibri"/>
              </a:rPr>
              <a:t>Net 30</a:t>
            </a:r>
          </a:p>
        </p:txBody>
      </p:sp>
      <p:sp>
        <p:nvSpPr>
          <p:cNvPr id="528" name="s528"/>
          <p:cNvSpPr/>
          <p:nvPr/>
        </p:nvSpPr>
        <p:spPr>
          <a:xfrm>
            <a:off x="9283700" y="28702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Lead time</a:t>
            </a:r>
          </a:p>
        </p:txBody>
      </p:sp>
      <p:sp>
        <p:nvSpPr>
          <p:cNvPr id="529" name="s529"/>
          <p:cNvSpPr/>
          <p:nvPr/>
        </p:nvSpPr>
        <p:spPr>
          <a:xfrm>
            <a:off x="10426700" y="28702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10141A"/>
                </a:solidFill>
                <a:latin typeface="Arial"/>
              </a:rPr>
              <a:t>14 days</a:t>
            </a:r>
          </a:p>
        </p:txBody>
      </p:sp>
      <p:sp>
        <p:nvSpPr>
          <p:cNvPr id="530" name="s530"/>
          <p:cNvSpPr/>
          <p:nvPr/>
        </p:nvSpPr>
        <p:spPr>
          <a:xfrm>
            <a:off x="9108440" y="3175000"/>
            <a:ext cx="264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No rating yet</a:t>
            </a:r>
          </a:p>
        </p:txBody>
      </p:sp>
      <p:sp>
        <p:nvSpPr>
          <p:cNvPr id="531" name="s531"/>
          <p:cNvSpPr/>
          <p:nvPr/>
        </p:nvSpPr>
        <p:spPr>
          <a:xfrm>
            <a:off x="9108440" y="3352800"/>
            <a:ext cx="264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 reliability score appears after three completed deliveries.</a:t>
            </a:r>
          </a:p>
        </p:txBody>
      </p:sp>
      <p:sp>
        <p:nvSpPr>
          <p:cNvPr id="532" name="s532"/>
          <p:cNvSpPr/>
          <p:nvPr/>
        </p:nvSpPr>
        <p:spPr>
          <a:xfrm>
            <a:off x="8930640" y="4089400"/>
            <a:ext cx="3002280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3" name="s533"/>
          <p:cNvSpPr/>
          <p:nvPr/>
        </p:nvSpPr>
        <p:spPr>
          <a:xfrm>
            <a:off x="9108440" y="4229100"/>
            <a:ext cx="26466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Onboarding Checklist</a:t>
            </a:r>
          </a:p>
        </p:txBody>
      </p:sp>
      <p:sp>
        <p:nvSpPr>
          <p:cNvPr id="534" name="s534"/>
          <p:cNvSpPr/>
          <p:nvPr/>
        </p:nvSpPr>
        <p:spPr>
          <a:xfrm>
            <a:off x="9108440" y="4470400"/>
            <a:ext cx="2641600" cy="762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5" name="s535"/>
          <p:cNvSpPr/>
          <p:nvPr/>
        </p:nvSpPr>
        <p:spPr>
          <a:xfrm>
            <a:off x="9108440" y="4470400"/>
            <a:ext cx="1056640" cy="762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6" name="s536"/>
          <p:cNvSpPr/>
          <p:nvPr/>
        </p:nvSpPr>
        <p:spPr>
          <a:xfrm>
            <a:off x="9108440" y="45974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2 of 5 complete  ·  40%</a:t>
            </a:r>
          </a:p>
        </p:txBody>
      </p:sp>
      <p:sp>
        <p:nvSpPr>
          <p:cNvPr id="537" name="s537"/>
          <p:cNvSpPr/>
          <p:nvPr/>
        </p:nvSpPr>
        <p:spPr>
          <a:xfrm>
            <a:off x="9108440" y="4851400"/>
            <a:ext cx="165100" cy="1651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9108440" y="4851400"/>
            <a:ext cx="1651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39" name="s539"/>
          <p:cNvSpPr/>
          <p:nvPr/>
        </p:nvSpPr>
        <p:spPr>
          <a:xfrm>
            <a:off x="9372600" y="4838700"/>
            <a:ext cx="2374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Business registration certificate</a:t>
            </a:r>
          </a:p>
        </p:txBody>
      </p:sp>
      <p:sp>
        <p:nvSpPr>
          <p:cNvPr id="540" name="s540"/>
          <p:cNvSpPr/>
          <p:nvPr/>
        </p:nvSpPr>
        <p:spPr>
          <a:xfrm>
            <a:off x="9108440" y="5156200"/>
            <a:ext cx="165100" cy="1651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1" name="s541"/>
          <p:cNvSpPr/>
          <p:nvPr/>
        </p:nvSpPr>
        <p:spPr>
          <a:xfrm>
            <a:off x="9108440" y="5156200"/>
            <a:ext cx="1651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42" name="s542"/>
          <p:cNvSpPr/>
          <p:nvPr/>
        </p:nvSpPr>
        <p:spPr>
          <a:xfrm>
            <a:off x="9372600" y="5143500"/>
            <a:ext cx="2374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10141A"/>
                </a:solidFill>
                <a:latin typeface="Calibri"/>
              </a:rPr>
              <a:t>Tax identification number</a:t>
            </a:r>
          </a:p>
        </p:txBody>
      </p:sp>
      <p:sp>
        <p:nvSpPr>
          <p:cNvPr id="543" name="s543"/>
          <p:cNvSpPr/>
          <p:nvPr/>
        </p:nvSpPr>
        <p:spPr>
          <a:xfrm>
            <a:off x="9108440" y="5461000"/>
            <a:ext cx="165100" cy="1651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4" name="s544"/>
          <p:cNvSpPr/>
          <p:nvPr/>
        </p:nvSpPr>
        <p:spPr>
          <a:xfrm>
            <a:off x="9372600" y="5448300"/>
            <a:ext cx="2374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Bank account details</a:t>
            </a:r>
          </a:p>
        </p:txBody>
      </p:sp>
      <p:sp>
        <p:nvSpPr>
          <p:cNvPr id="545" name="s545"/>
          <p:cNvSpPr/>
          <p:nvPr/>
        </p:nvSpPr>
        <p:spPr>
          <a:xfrm>
            <a:off x="9108440" y="5765800"/>
            <a:ext cx="165100" cy="1651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6" name="s546"/>
          <p:cNvSpPr/>
          <p:nvPr/>
        </p:nvSpPr>
        <p:spPr>
          <a:xfrm>
            <a:off x="9372600" y="5753100"/>
            <a:ext cx="2374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Signed supply agreement</a:t>
            </a:r>
          </a:p>
        </p:txBody>
      </p:sp>
      <p:sp>
        <p:nvSpPr>
          <p:cNvPr id="547" name="s547"/>
          <p:cNvSpPr/>
          <p:nvPr/>
        </p:nvSpPr>
        <p:spPr>
          <a:xfrm>
            <a:off x="9108440" y="6070600"/>
            <a:ext cx="165100" cy="1651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9372600" y="6057900"/>
            <a:ext cx="2374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Current price list</a:t>
            </a:r>
          </a:p>
        </p:txBody>
      </p:sp>
      <p:sp>
        <p:nvSpPr>
          <p:cNvPr id="549" name="s549"/>
          <p:cNvSpPr/>
          <p:nvPr/>
        </p:nvSpPr>
        <p:spPr>
          <a:xfrm>
            <a:off x="9108440" y="6172200"/>
            <a:ext cx="2641600" cy="254000"/>
          </a:xfrm>
          <a:prstGeom prst="roundRect">
            <a:avLst>
              <a:gd name="adj" fmla="val 12000"/>
            </a:avLst>
          </a:prstGeom>
          <a:solidFill>
            <a:srgbClr val="2559A8">
              <a:alpha val="12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Upload documents</a:t>
            </a:r>
          </a:p>
        </p:txBody>
      </p:sp>
    </p:spTree>
    <p:extLst>
      <p:ext uri="{BB962C8B-B14F-4D97-AF65-F5344CB8AC3E}">
        <p14:creationId xmlns:p14="http://schemas.microsoft.com/office/powerpoint/2010/main" val="2061570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EduStock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101600" y="2908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2" name="s412"/>
          <p:cNvSpPr/>
          <p:nvPr/>
        </p:nvSpPr>
        <p:spPr>
          <a:xfrm>
            <a:off x="101600" y="2908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Suppliers  ›  SUP-007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443" name="s443"/>
          <p:cNvSpPr/>
          <p:nvPr/>
        </p:nvSpPr>
        <p:spPr>
          <a:xfrm>
            <a:off x="4978400" y="838200"/>
            <a:ext cx="635000" cy="215900"/>
          </a:xfrm>
          <a:prstGeom prst="roundRect">
            <a:avLst>
              <a:gd name="adj" fmla="val 20000"/>
            </a:avLst>
          </a:prstGeom>
          <a:solidFill>
            <a:srgbClr val="2559A8">
              <a:alpha val="14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SUP-007</a:t>
            </a:r>
          </a:p>
        </p:txBody>
      </p:sp>
      <p:sp>
        <p:nvSpPr>
          <p:cNvPr id="444" name="s444"/>
          <p:cNvSpPr/>
          <p:nvPr/>
        </p:nvSpPr>
        <p:spPr>
          <a:xfrm>
            <a:off x="5689600" y="838200"/>
            <a:ext cx="711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5689600" y="8382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Active</a:t>
            </a:r>
          </a:p>
        </p:txBody>
      </p:sp>
      <p:sp>
        <p:nvSpPr>
          <p:cNvPr id="446" name="s446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Kakata, Margibi County  ·  supplier since March 2021  ·  12 products  ·  Net 30</a:t>
            </a:r>
          </a:p>
        </p:txBody>
      </p:sp>
      <p:sp>
        <p:nvSpPr>
          <p:cNvPr id="447" name="s447"/>
          <p:cNvSpPr/>
          <p:nvPr/>
        </p:nvSpPr>
        <p:spPr>
          <a:xfrm>
            <a:off x="10256520" y="812800"/>
            <a:ext cx="167640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8" name="s448"/>
          <p:cNvSpPr/>
          <p:nvPr/>
        </p:nvSpPr>
        <p:spPr>
          <a:xfrm>
            <a:off x="10256520" y="812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New Purchase Order</a:t>
            </a:r>
          </a:p>
        </p:txBody>
      </p:sp>
      <p:sp>
        <p:nvSpPr>
          <p:cNvPr id="449" name="s449"/>
          <p:cNvSpPr/>
          <p:nvPr/>
        </p:nvSpPr>
        <p:spPr>
          <a:xfrm>
            <a:off x="9207500" y="812800"/>
            <a:ext cx="92202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0" name="s450"/>
          <p:cNvSpPr/>
          <p:nvPr/>
        </p:nvSpPr>
        <p:spPr>
          <a:xfrm>
            <a:off x="9207500" y="812800"/>
            <a:ext cx="9220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Statement</a:t>
            </a:r>
          </a:p>
        </p:txBody>
      </p:sp>
      <p:sp>
        <p:nvSpPr>
          <p:cNvPr id="451" name="s451"/>
          <p:cNvSpPr/>
          <p:nvPr/>
        </p:nvSpPr>
        <p:spPr>
          <a:xfrm>
            <a:off x="8501380" y="812800"/>
            <a:ext cx="57912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8501380" y="812800"/>
            <a:ext cx="5791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Edit</a:t>
            </a:r>
          </a:p>
        </p:txBody>
      </p:sp>
      <p:sp>
        <p:nvSpPr>
          <p:cNvPr id="453" name="s453"/>
          <p:cNvSpPr/>
          <p:nvPr/>
        </p:nvSpPr>
        <p:spPr>
          <a:xfrm>
            <a:off x="214884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Overview</a:t>
            </a:r>
          </a:p>
        </p:txBody>
      </p:sp>
      <p:sp>
        <p:nvSpPr>
          <p:cNvPr id="454" name="s454"/>
          <p:cNvSpPr/>
          <p:nvPr/>
        </p:nvSpPr>
        <p:spPr>
          <a:xfrm>
            <a:off x="2148840" y="1574800"/>
            <a:ext cx="858520" cy="254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300736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Products</a:t>
            </a:r>
          </a:p>
        </p:txBody>
      </p:sp>
      <p:sp>
        <p:nvSpPr>
          <p:cNvPr id="456" name="s456"/>
          <p:cNvSpPr/>
          <p:nvPr/>
        </p:nvSpPr>
        <p:spPr>
          <a:xfrm>
            <a:off x="3865880" y="1346200"/>
            <a:ext cx="132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Purchase Orders</a:t>
            </a:r>
          </a:p>
        </p:txBody>
      </p:sp>
      <p:sp>
        <p:nvSpPr>
          <p:cNvPr id="457" name="s457"/>
          <p:cNvSpPr/>
          <p:nvPr/>
        </p:nvSpPr>
        <p:spPr>
          <a:xfrm>
            <a:off x="5186680" y="1346200"/>
            <a:ext cx="105664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Performance</a:t>
            </a:r>
          </a:p>
        </p:txBody>
      </p:sp>
      <p:sp>
        <p:nvSpPr>
          <p:cNvPr id="458" name="s458"/>
          <p:cNvSpPr/>
          <p:nvPr/>
        </p:nvSpPr>
        <p:spPr>
          <a:xfrm>
            <a:off x="6243320" y="1346200"/>
            <a:ext cx="9245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Documents</a:t>
            </a:r>
          </a:p>
        </p:txBody>
      </p:sp>
      <p:sp>
        <p:nvSpPr>
          <p:cNvPr id="459" name="s459"/>
          <p:cNvSpPr/>
          <p:nvPr/>
        </p:nvSpPr>
        <p:spPr>
          <a:xfrm>
            <a:off x="2148840" y="1593850"/>
            <a:ext cx="978408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2148840" y="1752600"/>
            <a:ext cx="6604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2326640" y="1892300"/>
            <a:ext cx="6248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Contact &amp; Terms</a:t>
            </a:r>
          </a:p>
        </p:txBody>
      </p:sp>
      <p:sp>
        <p:nvSpPr>
          <p:cNvPr id="462" name="s462"/>
          <p:cNvSpPr/>
          <p:nvPr/>
        </p:nvSpPr>
        <p:spPr>
          <a:xfrm>
            <a:off x="2326640" y="2108200"/>
            <a:ext cx="508000" cy="508000"/>
          </a:xfrm>
          <a:prstGeom prst="ellipse">
            <a:avLst/>
          </a:prstGeom>
          <a:solidFill>
            <a:srgbClr val="2559A8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2326640" y="21082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spc="0" dirty="0">
                <a:solidFill>
                  <a:srgbClr val="2559A8"/>
                </a:solidFill>
                <a:latin typeface="Calibri"/>
              </a:rPr>
              <a:t>KP</a:t>
            </a:r>
          </a:p>
        </p:txBody>
      </p:sp>
      <p:sp>
        <p:nvSpPr>
          <p:cNvPr id="464" name="s464"/>
          <p:cNvSpPr/>
          <p:nvPr/>
        </p:nvSpPr>
        <p:spPr>
          <a:xfrm>
            <a:off x="2959100" y="2133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50" b="1" spc="0" dirty="0">
                <a:solidFill>
                  <a:srgbClr val="10141A"/>
                </a:solidFill>
                <a:latin typeface="Calibri"/>
              </a:rPr>
              <a:t>James Doe</a:t>
            </a:r>
          </a:p>
        </p:txBody>
      </p:sp>
      <p:sp>
        <p:nvSpPr>
          <p:cNvPr id="465" name="s465"/>
          <p:cNvSpPr/>
          <p:nvPr/>
        </p:nvSpPr>
        <p:spPr>
          <a:xfrm>
            <a:off x="2959100" y="23241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Sales Director  ·  primary contact</a:t>
            </a:r>
          </a:p>
        </p:txBody>
      </p:sp>
      <p:sp>
        <p:nvSpPr>
          <p:cNvPr id="466" name="s466"/>
          <p:cNvSpPr/>
          <p:nvPr/>
        </p:nvSpPr>
        <p:spPr>
          <a:xfrm>
            <a:off x="2959100" y="24892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+231 77 204 866  ·  james@kakatapaper.lr</a:t>
            </a:r>
          </a:p>
        </p:txBody>
      </p:sp>
      <p:sp>
        <p:nvSpPr>
          <p:cNvPr id="467" name="s467"/>
          <p:cNvSpPr/>
          <p:nvPr/>
        </p:nvSpPr>
        <p:spPr>
          <a:xfrm>
            <a:off x="2326640" y="2794000"/>
            <a:ext cx="30480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8" name="s468"/>
          <p:cNvSpPr/>
          <p:nvPr/>
        </p:nvSpPr>
        <p:spPr>
          <a:xfrm>
            <a:off x="2326640" y="28956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Registered name</a:t>
            </a:r>
          </a:p>
        </p:txBody>
      </p:sp>
      <p:sp>
        <p:nvSpPr>
          <p:cNvPr id="469" name="s469"/>
          <p:cNvSpPr/>
          <p:nvPr/>
        </p:nvSpPr>
        <p:spPr>
          <a:xfrm>
            <a:off x="3850640" y="28956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Kakata Paper Mills Ltd</a:t>
            </a:r>
          </a:p>
        </p:txBody>
      </p:sp>
      <p:sp>
        <p:nvSpPr>
          <p:cNvPr id="470" name="s470"/>
          <p:cNvSpPr/>
          <p:nvPr/>
        </p:nvSpPr>
        <p:spPr>
          <a:xfrm>
            <a:off x="2326640" y="31242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Address</a:t>
            </a:r>
          </a:p>
        </p:txBody>
      </p:sp>
      <p:sp>
        <p:nvSpPr>
          <p:cNvPr id="471" name="s471"/>
          <p:cNvSpPr/>
          <p:nvPr/>
        </p:nvSpPr>
        <p:spPr>
          <a:xfrm>
            <a:off x="3850640" y="31242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Highway 3, Kakata</a:t>
            </a:r>
          </a:p>
        </p:txBody>
      </p:sp>
      <p:sp>
        <p:nvSpPr>
          <p:cNvPr id="472" name="s472"/>
          <p:cNvSpPr/>
          <p:nvPr/>
        </p:nvSpPr>
        <p:spPr>
          <a:xfrm>
            <a:off x="2326640" y="3352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County</a:t>
            </a:r>
          </a:p>
        </p:txBody>
      </p:sp>
      <p:sp>
        <p:nvSpPr>
          <p:cNvPr id="473" name="s473"/>
          <p:cNvSpPr/>
          <p:nvPr/>
        </p:nvSpPr>
        <p:spPr>
          <a:xfrm>
            <a:off x="3850640" y="3352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Margibi</a:t>
            </a:r>
          </a:p>
        </p:txBody>
      </p:sp>
      <p:sp>
        <p:nvSpPr>
          <p:cNvPr id="474" name="s474"/>
          <p:cNvSpPr/>
          <p:nvPr/>
        </p:nvSpPr>
        <p:spPr>
          <a:xfrm>
            <a:off x="5676900" y="2108200"/>
            <a:ext cx="6350" cy="13970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5981700" y="21336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Payment terms</a:t>
            </a:r>
          </a:p>
        </p:txBody>
      </p:sp>
      <p:sp>
        <p:nvSpPr>
          <p:cNvPr id="476" name="s476"/>
          <p:cNvSpPr/>
          <p:nvPr/>
        </p:nvSpPr>
        <p:spPr>
          <a:xfrm>
            <a:off x="7277100" y="21336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Net 30</a:t>
            </a:r>
          </a:p>
        </p:txBody>
      </p:sp>
      <p:sp>
        <p:nvSpPr>
          <p:cNvPr id="477" name="s477"/>
          <p:cNvSpPr/>
          <p:nvPr/>
        </p:nvSpPr>
        <p:spPr>
          <a:xfrm>
            <a:off x="5981700" y="23622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Currency</a:t>
            </a:r>
          </a:p>
        </p:txBody>
      </p:sp>
      <p:sp>
        <p:nvSpPr>
          <p:cNvPr id="478" name="s478"/>
          <p:cNvSpPr/>
          <p:nvPr/>
        </p:nvSpPr>
        <p:spPr>
          <a:xfrm>
            <a:off x="7277100" y="23622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USD</a:t>
            </a:r>
          </a:p>
        </p:txBody>
      </p:sp>
      <p:sp>
        <p:nvSpPr>
          <p:cNvPr id="479" name="s479"/>
          <p:cNvSpPr/>
          <p:nvPr/>
        </p:nvSpPr>
        <p:spPr>
          <a:xfrm>
            <a:off x="5981700" y="25908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Average lead time</a:t>
            </a:r>
          </a:p>
        </p:txBody>
      </p:sp>
      <p:sp>
        <p:nvSpPr>
          <p:cNvPr id="480" name="s480"/>
          <p:cNvSpPr/>
          <p:nvPr/>
        </p:nvSpPr>
        <p:spPr>
          <a:xfrm>
            <a:off x="7277100" y="25908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12 days</a:t>
            </a:r>
          </a:p>
        </p:txBody>
      </p:sp>
      <p:sp>
        <p:nvSpPr>
          <p:cNvPr id="481" name="s481"/>
          <p:cNvSpPr/>
          <p:nvPr/>
        </p:nvSpPr>
        <p:spPr>
          <a:xfrm>
            <a:off x="5981700" y="28194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Minimum order</a:t>
            </a:r>
          </a:p>
        </p:txBody>
      </p:sp>
      <p:sp>
        <p:nvSpPr>
          <p:cNvPr id="482" name="s482"/>
          <p:cNvSpPr/>
          <p:nvPr/>
        </p:nvSpPr>
        <p:spPr>
          <a:xfrm>
            <a:off x="7277100" y="28194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$400.00</a:t>
            </a:r>
          </a:p>
        </p:txBody>
      </p:sp>
      <p:sp>
        <p:nvSpPr>
          <p:cNvPr id="483" name="s483"/>
          <p:cNvSpPr/>
          <p:nvPr/>
        </p:nvSpPr>
        <p:spPr>
          <a:xfrm>
            <a:off x="5981700" y="30480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Categories</a:t>
            </a:r>
          </a:p>
        </p:txBody>
      </p:sp>
      <p:sp>
        <p:nvSpPr>
          <p:cNvPr id="484" name="s484"/>
          <p:cNvSpPr/>
          <p:nvPr/>
        </p:nvSpPr>
        <p:spPr>
          <a:xfrm>
            <a:off x="7277100" y="30480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Books, Puzzles</a:t>
            </a:r>
          </a:p>
        </p:txBody>
      </p:sp>
      <p:sp>
        <p:nvSpPr>
          <p:cNvPr id="485" name="s485"/>
          <p:cNvSpPr/>
          <p:nvPr/>
        </p:nvSpPr>
        <p:spPr>
          <a:xfrm>
            <a:off x="5981700" y="32766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Preferred supplier</a:t>
            </a:r>
          </a:p>
        </p:txBody>
      </p:sp>
      <p:sp>
        <p:nvSpPr>
          <p:cNvPr id="486" name="s486"/>
          <p:cNvSpPr/>
          <p:nvPr/>
        </p:nvSpPr>
        <p:spPr>
          <a:xfrm>
            <a:off x="7277100" y="32766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E8E5A"/>
                </a:solidFill>
                <a:latin typeface="Calibri"/>
              </a:rPr>
              <a:t>Yes</a:t>
            </a:r>
          </a:p>
        </p:txBody>
      </p:sp>
      <p:sp>
        <p:nvSpPr>
          <p:cNvPr id="487" name="s487"/>
          <p:cNvSpPr/>
          <p:nvPr/>
        </p:nvSpPr>
        <p:spPr>
          <a:xfrm>
            <a:off x="2148840" y="3962400"/>
            <a:ext cx="6604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2326640" y="4102100"/>
            <a:ext cx="5029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Recent Purchase Orders</a:t>
            </a:r>
          </a:p>
        </p:txBody>
      </p:sp>
      <p:sp>
        <p:nvSpPr>
          <p:cNvPr id="489" name="s489"/>
          <p:cNvSpPr/>
          <p:nvPr/>
        </p:nvSpPr>
        <p:spPr>
          <a:xfrm>
            <a:off x="7178040" y="41021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View all 14</a:t>
            </a:r>
          </a:p>
        </p:txBody>
      </p:sp>
      <p:sp>
        <p:nvSpPr>
          <p:cNvPr id="490" name="s490"/>
          <p:cNvSpPr/>
          <p:nvPr/>
        </p:nvSpPr>
        <p:spPr>
          <a:xfrm>
            <a:off x="2148840" y="4368800"/>
            <a:ext cx="660400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2326640" y="4368800"/>
            <a:ext cx="1320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PO NUMBER</a:t>
            </a:r>
          </a:p>
        </p:txBody>
      </p:sp>
      <p:sp>
        <p:nvSpPr>
          <p:cNvPr id="492" name="s492"/>
          <p:cNvSpPr/>
          <p:nvPr/>
        </p:nvSpPr>
        <p:spPr>
          <a:xfrm>
            <a:off x="3723640" y="436880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DATE</a:t>
            </a:r>
          </a:p>
        </p:txBody>
      </p:sp>
      <p:sp>
        <p:nvSpPr>
          <p:cNvPr id="493" name="s493"/>
          <p:cNvSpPr/>
          <p:nvPr/>
        </p:nvSpPr>
        <p:spPr>
          <a:xfrm>
            <a:off x="4612640" y="4368800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494" name="s494"/>
          <p:cNvSpPr/>
          <p:nvPr/>
        </p:nvSpPr>
        <p:spPr>
          <a:xfrm>
            <a:off x="5374640" y="4368800"/>
            <a:ext cx="812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495" name="s495"/>
          <p:cNvSpPr/>
          <p:nvPr/>
        </p:nvSpPr>
        <p:spPr>
          <a:xfrm>
            <a:off x="6263640" y="43688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96" name="s496"/>
          <p:cNvSpPr/>
          <p:nvPr/>
        </p:nvSpPr>
        <p:spPr>
          <a:xfrm>
            <a:off x="2148840" y="49339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2148840" y="46736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2326640" y="46355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PO-2026-0117</a:t>
            </a:r>
          </a:p>
        </p:txBody>
      </p:sp>
      <p:sp>
        <p:nvSpPr>
          <p:cNvPr id="499" name="s499"/>
          <p:cNvSpPr/>
          <p:nvPr/>
        </p:nvSpPr>
        <p:spPr>
          <a:xfrm>
            <a:off x="3723640" y="46355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5 Jan 2026</a:t>
            </a:r>
          </a:p>
        </p:txBody>
      </p:sp>
      <p:sp>
        <p:nvSpPr>
          <p:cNvPr id="500" name="s500"/>
          <p:cNvSpPr/>
          <p:nvPr/>
        </p:nvSpPr>
        <p:spPr>
          <a:xfrm>
            <a:off x="4612640" y="4635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1,200</a:t>
            </a:r>
          </a:p>
        </p:txBody>
      </p:sp>
      <p:sp>
        <p:nvSpPr>
          <p:cNvPr id="501" name="s501"/>
          <p:cNvSpPr/>
          <p:nvPr/>
        </p:nvSpPr>
        <p:spPr>
          <a:xfrm>
            <a:off x="5374640" y="46355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$3,180</a:t>
            </a:r>
          </a:p>
        </p:txBody>
      </p:sp>
      <p:sp>
        <p:nvSpPr>
          <p:cNvPr id="502" name="s502"/>
          <p:cNvSpPr/>
          <p:nvPr/>
        </p:nvSpPr>
        <p:spPr>
          <a:xfrm>
            <a:off x="6263640" y="4699000"/>
            <a:ext cx="12192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3" name="s503"/>
          <p:cNvSpPr/>
          <p:nvPr/>
        </p:nvSpPr>
        <p:spPr>
          <a:xfrm>
            <a:off x="6263640" y="4699000"/>
            <a:ext cx="1219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Partially Received</a:t>
            </a:r>
          </a:p>
        </p:txBody>
      </p:sp>
      <p:sp>
        <p:nvSpPr>
          <p:cNvPr id="504" name="s504"/>
          <p:cNvSpPr/>
          <p:nvPr/>
        </p:nvSpPr>
        <p:spPr>
          <a:xfrm>
            <a:off x="2148840" y="52387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5" name="s505"/>
          <p:cNvSpPr/>
          <p:nvPr/>
        </p:nvSpPr>
        <p:spPr>
          <a:xfrm>
            <a:off x="2148840" y="49784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6" name="s506"/>
          <p:cNvSpPr/>
          <p:nvPr/>
        </p:nvSpPr>
        <p:spPr>
          <a:xfrm>
            <a:off x="2326640" y="49403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PO-2025-0109</a:t>
            </a:r>
          </a:p>
        </p:txBody>
      </p:sp>
      <p:sp>
        <p:nvSpPr>
          <p:cNvPr id="507" name="s507"/>
          <p:cNvSpPr/>
          <p:nvPr/>
        </p:nvSpPr>
        <p:spPr>
          <a:xfrm>
            <a:off x="3723640" y="49403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27 Dec 2025</a:t>
            </a:r>
          </a:p>
        </p:txBody>
      </p:sp>
      <p:sp>
        <p:nvSpPr>
          <p:cNvPr id="508" name="s508"/>
          <p:cNvSpPr/>
          <p:nvPr/>
        </p:nvSpPr>
        <p:spPr>
          <a:xfrm>
            <a:off x="4612640" y="4940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800</a:t>
            </a:r>
          </a:p>
        </p:txBody>
      </p:sp>
      <p:sp>
        <p:nvSpPr>
          <p:cNvPr id="509" name="s509"/>
          <p:cNvSpPr/>
          <p:nvPr/>
        </p:nvSpPr>
        <p:spPr>
          <a:xfrm>
            <a:off x="5374640" y="49403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$1,680</a:t>
            </a:r>
          </a:p>
        </p:txBody>
      </p:sp>
      <p:sp>
        <p:nvSpPr>
          <p:cNvPr id="510" name="s510"/>
          <p:cNvSpPr/>
          <p:nvPr/>
        </p:nvSpPr>
        <p:spPr>
          <a:xfrm>
            <a:off x="6263640" y="5003800"/>
            <a:ext cx="1219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1" name="s511"/>
          <p:cNvSpPr/>
          <p:nvPr/>
        </p:nvSpPr>
        <p:spPr>
          <a:xfrm>
            <a:off x="6263640" y="5003800"/>
            <a:ext cx="1219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Received</a:t>
            </a:r>
          </a:p>
        </p:txBody>
      </p:sp>
      <p:sp>
        <p:nvSpPr>
          <p:cNvPr id="512" name="s512"/>
          <p:cNvSpPr/>
          <p:nvPr/>
        </p:nvSpPr>
        <p:spPr>
          <a:xfrm>
            <a:off x="2148840" y="55435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2148840" y="52832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4" name="s514"/>
          <p:cNvSpPr/>
          <p:nvPr/>
        </p:nvSpPr>
        <p:spPr>
          <a:xfrm>
            <a:off x="2326640" y="52451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PO-2025-0101</a:t>
            </a:r>
          </a:p>
        </p:txBody>
      </p:sp>
      <p:sp>
        <p:nvSpPr>
          <p:cNvPr id="515" name="s515"/>
          <p:cNvSpPr/>
          <p:nvPr/>
        </p:nvSpPr>
        <p:spPr>
          <a:xfrm>
            <a:off x="3723640" y="52451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8 Dec 2025</a:t>
            </a:r>
          </a:p>
        </p:txBody>
      </p:sp>
      <p:sp>
        <p:nvSpPr>
          <p:cNvPr id="516" name="s516"/>
          <p:cNvSpPr/>
          <p:nvPr/>
        </p:nvSpPr>
        <p:spPr>
          <a:xfrm>
            <a:off x="4612640" y="5245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640</a:t>
            </a:r>
          </a:p>
        </p:txBody>
      </p:sp>
      <p:sp>
        <p:nvSpPr>
          <p:cNvPr id="517" name="s517"/>
          <p:cNvSpPr/>
          <p:nvPr/>
        </p:nvSpPr>
        <p:spPr>
          <a:xfrm>
            <a:off x="5374640" y="52451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$1,344</a:t>
            </a:r>
          </a:p>
        </p:txBody>
      </p:sp>
      <p:sp>
        <p:nvSpPr>
          <p:cNvPr id="518" name="s518"/>
          <p:cNvSpPr/>
          <p:nvPr/>
        </p:nvSpPr>
        <p:spPr>
          <a:xfrm>
            <a:off x="6263640" y="5308600"/>
            <a:ext cx="1219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9" name="s519"/>
          <p:cNvSpPr/>
          <p:nvPr/>
        </p:nvSpPr>
        <p:spPr>
          <a:xfrm>
            <a:off x="6263640" y="5308600"/>
            <a:ext cx="1219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Received</a:t>
            </a:r>
          </a:p>
        </p:txBody>
      </p:sp>
      <p:sp>
        <p:nvSpPr>
          <p:cNvPr id="520" name="s520"/>
          <p:cNvSpPr/>
          <p:nvPr/>
        </p:nvSpPr>
        <p:spPr>
          <a:xfrm>
            <a:off x="2148840" y="58483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1" name="s521"/>
          <p:cNvSpPr/>
          <p:nvPr/>
        </p:nvSpPr>
        <p:spPr>
          <a:xfrm>
            <a:off x="2148840" y="55880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2326640" y="55499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PO-2025-0094</a:t>
            </a:r>
          </a:p>
        </p:txBody>
      </p:sp>
      <p:sp>
        <p:nvSpPr>
          <p:cNvPr id="523" name="s523"/>
          <p:cNvSpPr/>
          <p:nvPr/>
        </p:nvSpPr>
        <p:spPr>
          <a:xfrm>
            <a:off x="3723640" y="55499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21 Nov 2025</a:t>
            </a:r>
          </a:p>
        </p:txBody>
      </p:sp>
      <p:sp>
        <p:nvSpPr>
          <p:cNvPr id="524" name="s524"/>
          <p:cNvSpPr/>
          <p:nvPr/>
        </p:nvSpPr>
        <p:spPr>
          <a:xfrm>
            <a:off x="4612640" y="5549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900</a:t>
            </a:r>
          </a:p>
        </p:txBody>
      </p:sp>
      <p:sp>
        <p:nvSpPr>
          <p:cNvPr id="525" name="s525"/>
          <p:cNvSpPr/>
          <p:nvPr/>
        </p:nvSpPr>
        <p:spPr>
          <a:xfrm>
            <a:off x="5374640" y="55499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$2,070</a:t>
            </a:r>
          </a:p>
        </p:txBody>
      </p:sp>
      <p:sp>
        <p:nvSpPr>
          <p:cNvPr id="526" name="s526"/>
          <p:cNvSpPr/>
          <p:nvPr/>
        </p:nvSpPr>
        <p:spPr>
          <a:xfrm>
            <a:off x="6263640" y="5613400"/>
            <a:ext cx="1219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7" name="s527"/>
          <p:cNvSpPr/>
          <p:nvPr/>
        </p:nvSpPr>
        <p:spPr>
          <a:xfrm>
            <a:off x="6263640" y="5613400"/>
            <a:ext cx="1219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Received</a:t>
            </a:r>
          </a:p>
        </p:txBody>
      </p:sp>
      <p:sp>
        <p:nvSpPr>
          <p:cNvPr id="528" name="s528"/>
          <p:cNvSpPr/>
          <p:nvPr/>
        </p:nvSpPr>
        <p:spPr>
          <a:xfrm>
            <a:off x="2148840" y="6153150"/>
            <a:ext cx="660400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9" name="s529"/>
          <p:cNvSpPr/>
          <p:nvPr/>
        </p:nvSpPr>
        <p:spPr>
          <a:xfrm>
            <a:off x="2148840" y="58928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0" name="s530"/>
          <p:cNvSpPr/>
          <p:nvPr/>
        </p:nvSpPr>
        <p:spPr>
          <a:xfrm>
            <a:off x="2326640" y="58547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PO-2025-0088</a:t>
            </a:r>
          </a:p>
        </p:txBody>
      </p:sp>
      <p:sp>
        <p:nvSpPr>
          <p:cNvPr id="531" name="s531"/>
          <p:cNvSpPr/>
          <p:nvPr/>
        </p:nvSpPr>
        <p:spPr>
          <a:xfrm>
            <a:off x="3723640" y="58547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 Nov 2025</a:t>
            </a:r>
          </a:p>
        </p:txBody>
      </p:sp>
      <p:sp>
        <p:nvSpPr>
          <p:cNvPr id="532" name="s532"/>
          <p:cNvSpPr/>
          <p:nvPr/>
        </p:nvSpPr>
        <p:spPr>
          <a:xfrm>
            <a:off x="4612640" y="5854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520</a:t>
            </a:r>
          </a:p>
        </p:txBody>
      </p:sp>
      <p:sp>
        <p:nvSpPr>
          <p:cNvPr id="533" name="s533"/>
          <p:cNvSpPr/>
          <p:nvPr/>
        </p:nvSpPr>
        <p:spPr>
          <a:xfrm>
            <a:off x="5374640" y="58547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$1,196</a:t>
            </a:r>
          </a:p>
        </p:txBody>
      </p:sp>
      <p:sp>
        <p:nvSpPr>
          <p:cNvPr id="534" name="s534"/>
          <p:cNvSpPr/>
          <p:nvPr/>
        </p:nvSpPr>
        <p:spPr>
          <a:xfrm>
            <a:off x="6263640" y="5918200"/>
            <a:ext cx="1219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5" name="s535"/>
          <p:cNvSpPr/>
          <p:nvPr/>
        </p:nvSpPr>
        <p:spPr>
          <a:xfrm>
            <a:off x="6263640" y="5918200"/>
            <a:ext cx="1219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Received</a:t>
            </a:r>
          </a:p>
        </p:txBody>
      </p:sp>
      <p:sp>
        <p:nvSpPr>
          <p:cNvPr id="536" name="s536"/>
          <p:cNvSpPr/>
          <p:nvPr/>
        </p:nvSpPr>
        <p:spPr>
          <a:xfrm>
            <a:off x="2326640" y="6070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14 purchase orders in the last 12 months  ·  $18,420 total</a:t>
            </a:r>
          </a:p>
        </p:txBody>
      </p:sp>
      <p:sp>
        <p:nvSpPr>
          <p:cNvPr id="537" name="s537"/>
          <p:cNvSpPr/>
          <p:nvPr/>
        </p:nvSpPr>
        <p:spPr>
          <a:xfrm>
            <a:off x="8930640" y="1752600"/>
            <a:ext cx="300228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8" name="s538"/>
          <p:cNvSpPr/>
          <p:nvPr/>
        </p:nvSpPr>
        <p:spPr>
          <a:xfrm>
            <a:off x="9108440" y="1892300"/>
            <a:ext cx="26466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Financials</a:t>
            </a:r>
          </a:p>
        </p:txBody>
      </p:sp>
      <p:sp>
        <p:nvSpPr>
          <p:cNvPr id="539" name="s539"/>
          <p:cNvSpPr/>
          <p:nvPr/>
        </p:nvSpPr>
        <p:spPr>
          <a:xfrm>
            <a:off x="9108440" y="21082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Total purchases (12 months)</a:t>
            </a:r>
          </a:p>
        </p:txBody>
      </p:sp>
      <p:sp>
        <p:nvSpPr>
          <p:cNvPr id="540" name="s540"/>
          <p:cNvSpPr/>
          <p:nvPr/>
        </p:nvSpPr>
        <p:spPr>
          <a:xfrm>
            <a:off x="9108440" y="2260600"/>
            <a:ext cx="2641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Arial"/>
              </a:rPr>
              <a:t>$18,420</a:t>
            </a:r>
          </a:p>
        </p:txBody>
      </p:sp>
      <p:sp>
        <p:nvSpPr>
          <p:cNvPr id="541" name="s541"/>
          <p:cNvSpPr/>
          <p:nvPr/>
        </p:nvSpPr>
        <p:spPr>
          <a:xfrm>
            <a:off x="9108440" y="2641600"/>
            <a:ext cx="264160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2" name="s542"/>
          <p:cNvSpPr/>
          <p:nvPr/>
        </p:nvSpPr>
        <p:spPr>
          <a:xfrm>
            <a:off x="9108440" y="2717800"/>
            <a:ext cx="1320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Outstanding</a:t>
            </a:r>
          </a:p>
        </p:txBody>
      </p:sp>
      <p:sp>
        <p:nvSpPr>
          <p:cNvPr id="543" name="s543"/>
          <p:cNvSpPr/>
          <p:nvPr/>
        </p:nvSpPr>
        <p:spPr>
          <a:xfrm>
            <a:off x="10429240" y="2717800"/>
            <a:ext cx="1320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B3261E"/>
                </a:solidFill>
                <a:latin typeface="Arial"/>
              </a:rPr>
              <a:t>$2,140</a:t>
            </a:r>
          </a:p>
        </p:txBody>
      </p:sp>
      <p:sp>
        <p:nvSpPr>
          <p:cNvPr id="544" name="s544"/>
          <p:cNvSpPr/>
          <p:nvPr/>
        </p:nvSpPr>
        <p:spPr>
          <a:xfrm>
            <a:off x="9108440" y="2946400"/>
            <a:ext cx="1320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Average order</a:t>
            </a:r>
          </a:p>
        </p:txBody>
      </p:sp>
      <p:sp>
        <p:nvSpPr>
          <p:cNvPr id="545" name="s545"/>
          <p:cNvSpPr/>
          <p:nvPr/>
        </p:nvSpPr>
        <p:spPr>
          <a:xfrm>
            <a:off x="10429240" y="2946400"/>
            <a:ext cx="1320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Arial"/>
              </a:rPr>
              <a:t>$1,316</a:t>
            </a:r>
          </a:p>
        </p:txBody>
      </p:sp>
      <p:sp>
        <p:nvSpPr>
          <p:cNvPr id="546" name="s546"/>
          <p:cNvSpPr/>
          <p:nvPr/>
        </p:nvSpPr>
        <p:spPr>
          <a:xfrm>
            <a:off x="9108440" y="3175000"/>
            <a:ext cx="1320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Last payment</a:t>
            </a:r>
          </a:p>
        </p:txBody>
      </p:sp>
      <p:sp>
        <p:nvSpPr>
          <p:cNvPr id="547" name="s547"/>
          <p:cNvSpPr/>
          <p:nvPr/>
        </p:nvSpPr>
        <p:spPr>
          <a:xfrm>
            <a:off x="10429240" y="3175000"/>
            <a:ext cx="1320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50" b="1" spc="0" dirty="0">
                <a:solidFill>
                  <a:srgbClr val="10141A"/>
                </a:solidFill>
                <a:latin typeface="Calibri"/>
              </a:rPr>
              <a:t>22 Dec 2025</a:t>
            </a:r>
          </a:p>
        </p:txBody>
      </p:sp>
      <p:sp>
        <p:nvSpPr>
          <p:cNvPr id="548" name="s548"/>
          <p:cNvSpPr/>
          <p:nvPr/>
        </p:nvSpPr>
        <p:spPr>
          <a:xfrm>
            <a:off x="9108440" y="34036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D08700"/>
                </a:solidFill>
                <a:latin typeface="Calibri"/>
              </a:rPr>
              <a:t>Next payment due 4 Feb 2026</a:t>
            </a:r>
          </a:p>
        </p:txBody>
      </p:sp>
      <p:sp>
        <p:nvSpPr>
          <p:cNvPr id="549" name="s549"/>
          <p:cNvSpPr/>
          <p:nvPr/>
        </p:nvSpPr>
        <p:spPr>
          <a:xfrm>
            <a:off x="8930640" y="3835400"/>
            <a:ext cx="300228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0" name="s550"/>
          <p:cNvSpPr/>
          <p:nvPr/>
        </p:nvSpPr>
        <p:spPr>
          <a:xfrm>
            <a:off x="9108440" y="3975100"/>
            <a:ext cx="26466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Supplier Rating</a:t>
            </a:r>
          </a:p>
        </p:txBody>
      </p:sp>
      <p:sp>
        <p:nvSpPr>
          <p:cNvPr id="551" name="s551"/>
          <p:cNvSpPr/>
          <p:nvPr/>
        </p:nvSpPr>
        <p:spPr>
          <a:xfrm>
            <a:off x="9108440" y="41910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200" b="1" spc="0" dirty="0">
                <a:solidFill>
                  <a:srgbClr val="10141A"/>
                </a:solidFill>
                <a:latin typeface="Arial"/>
              </a:rPr>
              <a:t>4.6</a:t>
            </a:r>
          </a:p>
        </p:txBody>
      </p:sp>
      <p:sp>
        <p:nvSpPr>
          <p:cNvPr id="552" name="s552"/>
          <p:cNvSpPr/>
          <p:nvPr/>
        </p:nvSpPr>
        <p:spPr>
          <a:xfrm>
            <a:off x="9588500" y="4267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/ 5.0</a:t>
            </a:r>
          </a:p>
        </p:txBody>
      </p:sp>
      <p:sp>
        <p:nvSpPr>
          <p:cNvPr id="553" name="s553"/>
          <p:cNvSpPr/>
          <p:nvPr/>
        </p:nvSpPr>
        <p:spPr>
          <a:xfrm>
            <a:off x="10731500" y="4241800"/>
            <a:ext cx="10160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4" name="s554"/>
          <p:cNvSpPr/>
          <p:nvPr/>
        </p:nvSpPr>
        <p:spPr>
          <a:xfrm>
            <a:off x="10731500" y="4241800"/>
            <a:ext cx="101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00" b="1" spc="0" dirty="0">
                <a:solidFill>
                  <a:srgbClr val="1E8E5A"/>
                </a:solidFill>
                <a:latin typeface="Calibri"/>
              </a:rPr>
              <a:t>Preferred</a:t>
            </a:r>
          </a:p>
        </p:txBody>
      </p:sp>
      <p:sp>
        <p:nvSpPr>
          <p:cNvPr id="555" name="s555"/>
          <p:cNvSpPr/>
          <p:nvPr/>
        </p:nvSpPr>
        <p:spPr>
          <a:xfrm>
            <a:off x="9108440" y="45720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Delivery reliability</a:t>
            </a:r>
          </a:p>
        </p:txBody>
      </p:sp>
      <p:sp>
        <p:nvSpPr>
          <p:cNvPr id="556" name="s556"/>
          <p:cNvSpPr/>
          <p:nvPr/>
        </p:nvSpPr>
        <p:spPr>
          <a:xfrm>
            <a:off x="10350500" y="4622800"/>
            <a:ext cx="939800" cy="5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7" name="s557"/>
          <p:cNvSpPr/>
          <p:nvPr/>
        </p:nvSpPr>
        <p:spPr>
          <a:xfrm>
            <a:off x="10350500" y="4622800"/>
            <a:ext cx="883412" cy="508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8" name="s558"/>
          <p:cNvSpPr/>
          <p:nvPr/>
        </p:nvSpPr>
        <p:spPr>
          <a:xfrm>
            <a:off x="11341100" y="4572000"/>
            <a:ext cx="406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0" dirty="0">
                <a:solidFill>
                  <a:srgbClr val="10141A"/>
                </a:solidFill>
                <a:latin typeface="Arial"/>
              </a:rPr>
              <a:t>94%</a:t>
            </a:r>
          </a:p>
        </p:txBody>
      </p:sp>
      <p:sp>
        <p:nvSpPr>
          <p:cNvPr id="559" name="s559"/>
          <p:cNvSpPr/>
          <p:nvPr/>
        </p:nvSpPr>
        <p:spPr>
          <a:xfrm>
            <a:off x="9108440" y="47371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On-time rate</a:t>
            </a:r>
          </a:p>
        </p:txBody>
      </p:sp>
      <p:sp>
        <p:nvSpPr>
          <p:cNvPr id="560" name="s560"/>
          <p:cNvSpPr/>
          <p:nvPr/>
        </p:nvSpPr>
        <p:spPr>
          <a:xfrm>
            <a:off x="10350500" y="4787900"/>
            <a:ext cx="939800" cy="5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1" name="s561"/>
          <p:cNvSpPr/>
          <p:nvPr/>
        </p:nvSpPr>
        <p:spPr>
          <a:xfrm>
            <a:off x="10350500" y="4787900"/>
            <a:ext cx="855218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2" name="s562"/>
          <p:cNvSpPr/>
          <p:nvPr/>
        </p:nvSpPr>
        <p:spPr>
          <a:xfrm>
            <a:off x="11341100" y="4737100"/>
            <a:ext cx="406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0" dirty="0">
                <a:solidFill>
                  <a:srgbClr val="10141A"/>
                </a:solidFill>
                <a:latin typeface="Arial"/>
              </a:rPr>
              <a:t>91%</a:t>
            </a:r>
          </a:p>
        </p:txBody>
      </p:sp>
      <p:sp>
        <p:nvSpPr>
          <p:cNvPr id="563" name="s563"/>
          <p:cNvSpPr/>
          <p:nvPr/>
        </p:nvSpPr>
        <p:spPr>
          <a:xfrm>
            <a:off x="9108440" y="49022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Quality claims-free</a:t>
            </a:r>
          </a:p>
        </p:txBody>
      </p:sp>
      <p:sp>
        <p:nvSpPr>
          <p:cNvPr id="564" name="s564"/>
          <p:cNvSpPr/>
          <p:nvPr/>
        </p:nvSpPr>
        <p:spPr>
          <a:xfrm>
            <a:off x="10350500" y="4953000"/>
            <a:ext cx="939800" cy="5080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5" name="s565"/>
          <p:cNvSpPr/>
          <p:nvPr/>
        </p:nvSpPr>
        <p:spPr>
          <a:xfrm>
            <a:off x="10350500" y="4953000"/>
            <a:ext cx="911606" cy="508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6" name="s566"/>
          <p:cNvSpPr/>
          <p:nvPr/>
        </p:nvSpPr>
        <p:spPr>
          <a:xfrm>
            <a:off x="11341100" y="4902200"/>
            <a:ext cx="406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0" dirty="0">
                <a:solidFill>
                  <a:srgbClr val="10141A"/>
                </a:solidFill>
                <a:latin typeface="Arial"/>
              </a:rPr>
              <a:t>97%</a:t>
            </a:r>
          </a:p>
        </p:txBody>
      </p:sp>
      <p:sp>
        <p:nvSpPr>
          <p:cNvPr id="567" name="s567"/>
          <p:cNvSpPr/>
          <p:nvPr/>
        </p:nvSpPr>
        <p:spPr>
          <a:xfrm>
            <a:off x="8930640" y="5283200"/>
            <a:ext cx="3002280" cy="121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8" name="s568"/>
          <p:cNvSpPr/>
          <p:nvPr/>
        </p:nvSpPr>
        <p:spPr>
          <a:xfrm>
            <a:off x="9108440" y="5422900"/>
            <a:ext cx="26466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Notes</a:t>
            </a:r>
          </a:p>
        </p:txBody>
      </p:sp>
      <p:sp>
        <p:nvSpPr>
          <p:cNvPr id="569" name="s569"/>
          <p:cNvSpPr/>
          <p:nvPr/>
        </p:nvSpPr>
        <p:spPr>
          <a:xfrm>
            <a:off x="9108440" y="5638800"/>
            <a:ext cx="2641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Reliable on books and puzzle stock. Raise POs 3 weeks before term start — lead time stretches to 18 days in September.</a:t>
            </a:r>
          </a:p>
        </p:txBody>
      </p:sp>
      <p:sp>
        <p:nvSpPr>
          <p:cNvPr id="570" name="s570"/>
          <p:cNvSpPr/>
          <p:nvPr/>
        </p:nvSpPr>
        <p:spPr>
          <a:xfrm>
            <a:off x="9108440" y="6273800"/>
            <a:ext cx="26416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8A93A0"/>
                </a:solidFill>
                <a:latin typeface="Calibri"/>
              </a:rPr>
              <a:t>Updated by Moses Kollie, 2 Jan 2026</a:t>
            </a:r>
          </a:p>
        </p:txBody>
      </p:sp>
    </p:spTree>
    <p:extLst>
      <p:ext uri="{BB962C8B-B14F-4D97-AF65-F5344CB8AC3E}">
        <p14:creationId xmlns:p14="http://schemas.microsoft.com/office/powerpoint/2010/main" val="1202240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EduStock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101600" y="2908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2" name="s412"/>
          <p:cNvSpPr/>
          <p:nvPr/>
        </p:nvSpPr>
        <p:spPr>
          <a:xfrm>
            <a:off x="101600" y="2908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Suppliers  ›  SUP-007  ›  Products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Supplier Products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Kakata Paper Mills  ·  12 products supplied  ·  $2.94 average cost  ·  Net 30  ·  12-day lead time</a:t>
            </a:r>
          </a:p>
        </p:txBody>
      </p:sp>
      <p:sp>
        <p:nvSpPr>
          <p:cNvPr id="444" name="s444"/>
          <p:cNvSpPr/>
          <p:nvPr/>
        </p:nvSpPr>
        <p:spPr>
          <a:xfrm>
            <a:off x="10668000" y="812800"/>
            <a:ext cx="126492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668000" y="812800"/>
            <a:ext cx="126492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Link Product</a:t>
            </a:r>
          </a:p>
        </p:txBody>
      </p:sp>
      <p:sp>
        <p:nvSpPr>
          <p:cNvPr id="446" name="s446"/>
          <p:cNvSpPr/>
          <p:nvPr/>
        </p:nvSpPr>
        <p:spPr>
          <a:xfrm>
            <a:off x="9001760" y="812800"/>
            <a:ext cx="153924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001760" y="812800"/>
            <a:ext cx="15392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Request price list</a:t>
            </a:r>
          </a:p>
        </p:txBody>
      </p:sp>
      <p:sp>
        <p:nvSpPr>
          <p:cNvPr id="448" name="s448"/>
          <p:cNvSpPr/>
          <p:nvPr/>
        </p:nvSpPr>
        <p:spPr>
          <a:xfrm>
            <a:off x="815848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815848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450" name="s450"/>
          <p:cNvSpPr/>
          <p:nvPr/>
        </p:nvSpPr>
        <p:spPr>
          <a:xfrm>
            <a:off x="214884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Overview</a:t>
            </a:r>
          </a:p>
        </p:txBody>
      </p:sp>
      <p:sp>
        <p:nvSpPr>
          <p:cNvPr id="451" name="s451"/>
          <p:cNvSpPr/>
          <p:nvPr/>
        </p:nvSpPr>
        <p:spPr>
          <a:xfrm>
            <a:off x="300736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Products</a:t>
            </a:r>
          </a:p>
        </p:txBody>
      </p:sp>
      <p:sp>
        <p:nvSpPr>
          <p:cNvPr id="452" name="s452"/>
          <p:cNvSpPr/>
          <p:nvPr/>
        </p:nvSpPr>
        <p:spPr>
          <a:xfrm>
            <a:off x="3007360" y="1574800"/>
            <a:ext cx="858520" cy="254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s453"/>
          <p:cNvSpPr/>
          <p:nvPr/>
        </p:nvSpPr>
        <p:spPr>
          <a:xfrm>
            <a:off x="3865880" y="1346200"/>
            <a:ext cx="132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Purchase Orders</a:t>
            </a:r>
          </a:p>
        </p:txBody>
      </p:sp>
      <p:sp>
        <p:nvSpPr>
          <p:cNvPr id="454" name="s454"/>
          <p:cNvSpPr/>
          <p:nvPr/>
        </p:nvSpPr>
        <p:spPr>
          <a:xfrm>
            <a:off x="5186680" y="1346200"/>
            <a:ext cx="105664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Performance</a:t>
            </a:r>
          </a:p>
        </p:txBody>
      </p:sp>
      <p:sp>
        <p:nvSpPr>
          <p:cNvPr id="455" name="s455"/>
          <p:cNvSpPr/>
          <p:nvPr/>
        </p:nvSpPr>
        <p:spPr>
          <a:xfrm>
            <a:off x="6243320" y="1346200"/>
            <a:ext cx="9245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Documents</a:t>
            </a:r>
          </a:p>
        </p:txBody>
      </p:sp>
      <p:sp>
        <p:nvSpPr>
          <p:cNvPr id="456" name="s456"/>
          <p:cNvSpPr/>
          <p:nvPr/>
        </p:nvSpPr>
        <p:spPr>
          <a:xfrm>
            <a:off x="2148840" y="1593850"/>
            <a:ext cx="978408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2148840" y="1752600"/>
            <a:ext cx="2312670" cy="71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2148840" y="1752600"/>
            <a:ext cx="31750" cy="7112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9" name="s459"/>
          <p:cNvSpPr/>
          <p:nvPr/>
        </p:nvSpPr>
        <p:spPr>
          <a:xfrm>
            <a:off x="230124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Products supplied</a:t>
            </a:r>
          </a:p>
        </p:txBody>
      </p:sp>
      <p:sp>
        <p:nvSpPr>
          <p:cNvPr id="460" name="s460"/>
          <p:cNvSpPr/>
          <p:nvPr/>
        </p:nvSpPr>
        <p:spPr>
          <a:xfrm>
            <a:off x="2301240" y="2019300"/>
            <a:ext cx="205867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12</a:t>
            </a:r>
          </a:p>
        </p:txBody>
      </p:sp>
      <p:sp>
        <p:nvSpPr>
          <p:cNvPr id="461" name="s461"/>
          <p:cNvSpPr/>
          <p:nvPr/>
        </p:nvSpPr>
        <p:spPr>
          <a:xfrm>
            <a:off x="4639310" y="1752600"/>
            <a:ext cx="2312670" cy="71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4639310" y="1752600"/>
            <a:ext cx="31750" cy="7112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479171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Units purchased YTD</a:t>
            </a:r>
          </a:p>
        </p:txBody>
      </p:sp>
      <p:sp>
        <p:nvSpPr>
          <p:cNvPr id="464" name="s464"/>
          <p:cNvSpPr/>
          <p:nvPr/>
        </p:nvSpPr>
        <p:spPr>
          <a:xfrm>
            <a:off x="4791710" y="2019300"/>
            <a:ext cx="205867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4,060</a:t>
            </a:r>
          </a:p>
        </p:txBody>
      </p:sp>
      <p:sp>
        <p:nvSpPr>
          <p:cNvPr id="465" name="s465"/>
          <p:cNvSpPr/>
          <p:nvPr/>
        </p:nvSpPr>
        <p:spPr>
          <a:xfrm>
            <a:off x="7129780" y="1752600"/>
            <a:ext cx="2312670" cy="71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7129780" y="1752600"/>
            <a:ext cx="31750" cy="7112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7" name="s467"/>
          <p:cNvSpPr/>
          <p:nvPr/>
        </p:nvSpPr>
        <p:spPr>
          <a:xfrm>
            <a:off x="728218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Average margin</a:t>
            </a:r>
          </a:p>
        </p:txBody>
      </p:sp>
      <p:sp>
        <p:nvSpPr>
          <p:cNvPr id="468" name="s468"/>
          <p:cNvSpPr/>
          <p:nvPr/>
        </p:nvSpPr>
        <p:spPr>
          <a:xfrm>
            <a:off x="7282180" y="2019300"/>
            <a:ext cx="205867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39.5%</a:t>
            </a:r>
          </a:p>
        </p:txBody>
      </p:sp>
      <p:sp>
        <p:nvSpPr>
          <p:cNvPr id="469" name="s469"/>
          <p:cNvSpPr/>
          <p:nvPr/>
        </p:nvSpPr>
        <p:spPr>
          <a:xfrm>
            <a:off x="9620250" y="1752600"/>
            <a:ext cx="2312670" cy="71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0" name="s470"/>
          <p:cNvSpPr/>
          <p:nvPr/>
        </p:nvSpPr>
        <p:spPr>
          <a:xfrm>
            <a:off x="9620250" y="1752600"/>
            <a:ext cx="31750" cy="7112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977265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Out of stock</a:t>
            </a:r>
          </a:p>
        </p:txBody>
      </p:sp>
      <p:sp>
        <p:nvSpPr>
          <p:cNvPr id="472" name="s472"/>
          <p:cNvSpPr/>
          <p:nvPr/>
        </p:nvSpPr>
        <p:spPr>
          <a:xfrm>
            <a:off x="9772650" y="2019300"/>
            <a:ext cx="205867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700" b="1" spc="0" dirty="0">
                <a:solidFill>
                  <a:srgbClr val="10141A"/>
                </a:solidFill>
                <a:latin typeface="Arial"/>
              </a:rPr>
              <a:t>2</a:t>
            </a:r>
          </a:p>
        </p:txBody>
      </p:sp>
      <p:sp>
        <p:nvSpPr>
          <p:cNvPr id="473" name="s473"/>
          <p:cNvSpPr/>
          <p:nvPr/>
        </p:nvSpPr>
        <p:spPr>
          <a:xfrm>
            <a:off x="9772650" y="22733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reorder now</a:t>
            </a:r>
          </a:p>
        </p:txBody>
      </p:sp>
      <p:sp>
        <p:nvSpPr>
          <p:cNvPr id="474" name="s474"/>
          <p:cNvSpPr/>
          <p:nvPr/>
        </p:nvSpPr>
        <p:spPr>
          <a:xfrm>
            <a:off x="2148840" y="2616200"/>
            <a:ext cx="978408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5" name="s475"/>
          <p:cNvSpPr/>
          <p:nvPr/>
        </p:nvSpPr>
        <p:spPr>
          <a:xfrm>
            <a:off x="2326640" y="2755900"/>
            <a:ext cx="8209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Products from this Supplier</a:t>
            </a:r>
          </a:p>
        </p:txBody>
      </p:sp>
      <p:sp>
        <p:nvSpPr>
          <p:cNvPr id="476" name="s476"/>
          <p:cNvSpPr/>
          <p:nvPr/>
        </p:nvSpPr>
        <p:spPr>
          <a:xfrm>
            <a:off x="10358120" y="27559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Sorted by category</a:t>
            </a:r>
          </a:p>
        </p:txBody>
      </p:sp>
      <p:sp>
        <p:nvSpPr>
          <p:cNvPr id="477" name="s477"/>
          <p:cNvSpPr/>
          <p:nvPr/>
        </p:nvSpPr>
        <p:spPr>
          <a:xfrm>
            <a:off x="2148840" y="3124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8" name="s478"/>
          <p:cNvSpPr/>
          <p:nvPr/>
        </p:nvSpPr>
        <p:spPr>
          <a:xfrm>
            <a:off x="2326640" y="3124200"/>
            <a:ext cx="2082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PRODUCT</a:t>
            </a:r>
          </a:p>
        </p:txBody>
      </p:sp>
      <p:sp>
        <p:nvSpPr>
          <p:cNvPr id="479" name="s479"/>
          <p:cNvSpPr/>
          <p:nvPr/>
        </p:nvSpPr>
        <p:spPr>
          <a:xfrm>
            <a:off x="4485640" y="3124200"/>
            <a:ext cx="71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SKU</a:t>
            </a:r>
          </a:p>
        </p:txBody>
      </p:sp>
      <p:sp>
        <p:nvSpPr>
          <p:cNvPr id="480" name="s480"/>
          <p:cNvSpPr/>
          <p:nvPr/>
        </p:nvSpPr>
        <p:spPr>
          <a:xfrm>
            <a:off x="5247640" y="312420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CATEGORY</a:t>
            </a:r>
          </a:p>
        </p:txBody>
      </p:sp>
      <p:sp>
        <p:nvSpPr>
          <p:cNvPr id="481" name="s481"/>
          <p:cNvSpPr/>
          <p:nvPr/>
        </p:nvSpPr>
        <p:spPr>
          <a:xfrm>
            <a:off x="6390640" y="3124200"/>
            <a:ext cx="863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SUPPLIER COST</a:t>
            </a:r>
          </a:p>
        </p:txBody>
      </p:sp>
      <p:sp>
        <p:nvSpPr>
          <p:cNvPr id="482" name="s482"/>
          <p:cNvSpPr/>
          <p:nvPr/>
        </p:nvSpPr>
        <p:spPr>
          <a:xfrm>
            <a:off x="7330440" y="3124200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OUR PRICE</a:t>
            </a:r>
          </a:p>
        </p:txBody>
      </p:sp>
      <p:sp>
        <p:nvSpPr>
          <p:cNvPr id="483" name="s483"/>
          <p:cNvSpPr/>
          <p:nvPr/>
        </p:nvSpPr>
        <p:spPr>
          <a:xfrm>
            <a:off x="8092440" y="3124200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MARGIN</a:t>
            </a:r>
          </a:p>
        </p:txBody>
      </p:sp>
      <p:sp>
        <p:nvSpPr>
          <p:cNvPr id="484" name="s484"/>
          <p:cNvSpPr/>
          <p:nvPr/>
        </p:nvSpPr>
        <p:spPr>
          <a:xfrm>
            <a:off x="8854440" y="3124200"/>
            <a:ext cx="635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STOCK</a:t>
            </a:r>
          </a:p>
        </p:txBody>
      </p:sp>
      <p:sp>
        <p:nvSpPr>
          <p:cNvPr id="485" name="s485"/>
          <p:cNvSpPr/>
          <p:nvPr/>
        </p:nvSpPr>
        <p:spPr>
          <a:xfrm>
            <a:off x="9565640" y="3124200"/>
            <a:ext cx="1016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LAST PURCHASED</a:t>
            </a:r>
          </a:p>
        </p:txBody>
      </p:sp>
      <p:sp>
        <p:nvSpPr>
          <p:cNvPr id="486" name="s486"/>
          <p:cNvSpPr/>
          <p:nvPr/>
        </p:nvSpPr>
        <p:spPr>
          <a:xfrm>
            <a:off x="10657840" y="3124200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1" spc="4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87" name="s487"/>
          <p:cNvSpPr/>
          <p:nvPr/>
        </p:nvSpPr>
        <p:spPr>
          <a:xfrm>
            <a:off x="2148840" y="3689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2148840" y="34290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2326640" y="33909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ABC Beginner Book</a:t>
            </a:r>
          </a:p>
        </p:txBody>
      </p:sp>
      <p:sp>
        <p:nvSpPr>
          <p:cNvPr id="490" name="s490"/>
          <p:cNvSpPr/>
          <p:nvPr/>
        </p:nvSpPr>
        <p:spPr>
          <a:xfrm>
            <a:off x="4485640" y="33909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BK-0142</a:t>
            </a:r>
          </a:p>
        </p:txBody>
      </p:sp>
      <p:sp>
        <p:nvSpPr>
          <p:cNvPr id="491" name="s491"/>
          <p:cNvSpPr/>
          <p:nvPr/>
        </p:nvSpPr>
        <p:spPr>
          <a:xfrm>
            <a:off x="5247640" y="33909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492" name="s492"/>
          <p:cNvSpPr/>
          <p:nvPr/>
        </p:nvSpPr>
        <p:spPr>
          <a:xfrm>
            <a:off x="6390640" y="3390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$2.10</a:t>
            </a:r>
          </a:p>
        </p:txBody>
      </p:sp>
      <p:sp>
        <p:nvSpPr>
          <p:cNvPr id="493" name="s493"/>
          <p:cNvSpPr/>
          <p:nvPr/>
        </p:nvSpPr>
        <p:spPr>
          <a:xfrm>
            <a:off x="7330440" y="3390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$3.50</a:t>
            </a:r>
          </a:p>
        </p:txBody>
      </p:sp>
      <p:sp>
        <p:nvSpPr>
          <p:cNvPr id="494" name="s494"/>
          <p:cNvSpPr/>
          <p:nvPr/>
        </p:nvSpPr>
        <p:spPr>
          <a:xfrm>
            <a:off x="8092440" y="3390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40%</a:t>
            </a:r>
          </a:p>
        </p:txBody>
      </p:sp>
      <p:sp>
        <p:nvSpPr>
          <p:cNvPr id="495" name="s495"/>
          <p:cNvSpPr/>
          <p:nvPr/>
        </p:nvSpPr>
        <p:spPr>
          <a:xfrm>
            <a:off x="8854440" y="33909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1,240</a:t>
            </a:r>
          </a:p>
        </p:txBody>
      </p:sp>
      <p:sp>
        <p:nvSpPr>
          <p:cNvPr id="496" name="s496"/>
          <p:cNvSpPr/>
          <p:nvPr/>
        </p:nvSpPr>
        <p:spPr>
          <a:xfrm>
            <a:off x="9565640" y="33909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5 Jan 2026</a:t>
            </a:r>
          </a:p>
        </p:txBody>
      </p:sp>
      <p:sp>
        <p:nvSpPr>
          <p:cNvPr id="497" name="s497"/>
          <p:cNvSpPr/>
          <p:nvPr/>
        </p:nvSpPr>
        <p:spPr>
          <a:xfrm>
            <a:off x="10657840" y="34544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8" name="s498"/>
          <p:cNvSpPr/>
          <p:nvPr/>
        </p:nvSpPr>
        <p:spPr>
          <a:xfrm>
            <a:off x="10657840" y="34544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499" name="s499"/>
          <p:cNvSpPr/>
          <p:nvPr/>
        </p:nvSpPr>
        <p:spPr>
          <a:xfrm>
            <a:off x="2148840" y="3994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0" name="s500"/>
          <p:cNvSpPr/>
          <p:nvPr/>
        </p:nvSpPr>
        <p:spPr>
          <a:xfrm>
            <a:off x="2148840" y="37338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1" name="s501"/>
          <p:cNvSpPr/>
          <p:nvPr/>
        </p:nvSpPr>
        <p:spPr>
          <a:xfrm>
            <a:off x="2326640" y="36957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My First Mathematics Book</a:t>
            </a:r>
          </a:p>
        </p:txBody>
      </p:sp>
      <p:sp>
        <p:nvSpPr>
          <p:cNvPr id="502" name="s502"/>
          <p:cNvSpPr/>
          <p:nvPr/>
        </p:nvSpPr>
        <p:spPr>
          <a:xfrm>
            <a:off x="4485640" y="3695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BK-0148</a:t>
            </a:r>
          </a:p>
        </p:txBody>
      </p:sp>
      <p:sp>
        <p:nvSpPr>
          <p:cNvPr id="503" name="s503"/>
          <p:cNvSpPr/>
          <p:nvPr/>
        </p:nvSpPr>
        <p:spPr>
          <a:xfrm>
            <a:off x="5247640" y="36957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04" name="s504"/>
          <p:cNvSpPr/>
          <p:nvPr/>
        </p:nvSpPr>
        <p:spPr>
          <a:xfrm>
            <a:off x="6390640" y="36957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$2.40</a:t>
            </a:r>
          </a:p>
        </p:txBody>
      </p:sp>
      <p:sp>
        <p:nvSpPr>
          <p:cNvPr id="505" name="s505"/>
          <p:cNvSpPr/>
          <p:nvPr/>
        </p:nvSpPr>
        <p:spPr>
          <a:xfrm>
            <a:off x="7330440" y="3695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$4.00</a:t>
            </a:r>
          </a:p>
        </p:txBody>
      </p:sp>
      <p:sp>
        <p:nvSpPr>
          <p:cNvPr id="506" name="s506"/>
          <p:cNvSpPr/>
          <p:nvPr/>
        </p:nvSpPr>
        <p:spPr>
          <a:xfrm>
            <a:off x="8092440" y="3695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40%</a:t>
            </a:r>
          </a:p>
        </p:txBody>
      </p:sp>
      <p:sp>
        <p:nvSpPr>
          <p:cNvPr id="507" name="s507"/>
          <p:cNvSpPr/>
          <p:nvPr/>
        </p:nvSpPr>
        <p:spPr>
          <a:xfrm>
            <a:off x="8854440" y="3695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860</a:t>
            </a:r>
          </a:p>
        </p:txBody>
      </p:sp>
      <p:sp>
        <p:nvSpPr>
          <p:cNvPr id="508" name="s508"/>
          <p:cNvSpPr/>
          <p:nvPr/>
        </p:nvSpPr>
        <p:spPr>
          <a:xfrm>
            <a:off x="9565640" y="36957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27 Dec 2025</a:t>
            </a:r>
          </a:p>
        </p:txBody>
      </p:sp>
      <p:sp>
        <p:nvSpPr>
          <p:cNvPr id="509" name="s509"/>
          <p:cNvSpPr/>
          <p:nvPr/>
        </p:nvSpPr>
        <p:spPr>
          <a:xfrm>
            <a:off x="10657840" y="37592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0" name="s510"/>
          <p:cNvSpPr/>
          <p:nvPr/>
        </p:nvSpPr>
        <p:spPr>
          <a:xfrm>
            <a:off x="10657840" y="37592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11" name="s511"/>
          <p:cNvSpPr/>
          <p:nvPr/>
        </p:nvSpPr>
        <p:spPr>
          <a:xfrm>
            <a:off x="2148840" y="4298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2" name="s512"/>
          <p:cNvSpPr/>
          <p:nvPr/>
        </p:nvSpPr>
        <p:spPr>
          <a:xfrm>
            <a:off x="2148840" y="40386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3" name="s513"/>
          <p:cNvSpPr/>
          <p:nvPr/>
        </p:nvSpPr>
        <p:spPr>
          <a:xfrm>
            <a:off x="2326640" y="40005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Early Reading Level 1</a:t>
            </a:r>
          </a:p>
        </p:txBody>
      </p:sp>
      <p:sp>
        <p:nvSpPr>
          <p:cNvPr id="514" name="s514"/>
          <p:cNvSpPr/>
          <p:nvPr/>
        </p:nvSpPr>
        <p:spPr>
          <a:xfrm>
            <a:off x="4485640" y="4000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BK-0151</a:t>
            </a:r>
          </a:p>
        </p:txBody>
      </p:sp>
      <p:sp>
        <p:nvSpPr>
          <p:cNvPr id="515" name="s515"/>
          <p:cNvSpPr/>
          <p:nvPr/>
        </p:nvSpPr>
        <p:spPr>
          <a:xfrm>
            <a:off x="5247640" y="40005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16" name="s516"/>
          <p:cNvSpPr/>
          <p:nvPr/>
        </p:nvSpPr>
        <p:spPr>
          <a:xfrm>
            <a:off x="6390640" y="40005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$2.20</a:t>
            </a:r>
          </a:p>
        </p:txBody>
      </p:sp>
      <p:sp>
        <p:nvSpPr>
          <p:cNvPr id="517" name="s517"/>
          <p:cNvSpPr/>
          <p:nvPr/>
        </p:nvSpPr>
        <p:spPr>
          <a:xfrm>
            <a:off x="7330440" y="4000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$3.75</a:t>
            </a:r>
          </a:p>
        </p:txBody>
      </p:sp>
      <p:sp>
        <p:nvSpPr>
          <p:cNvPr id="518" name="s518"/>
          <p:cNvSpPr/>
          <p:nvPr/>
        </p:nvSpPr>
        <p:spPr>
          <a:xfrm>
            <a:off x="8092440" y="4000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41%</a:t>
            </a:r>
          </a:p>
        </p:txBody>
      </p:sp>
      <p:sp>
        <p:nvSpPr>
          <p:cNvPr id="519" name="s519"/>
          <p:cNvSpPr/>
          <p:nvPr/>
        </p:nvSpPr>
        <p:spPr>
          <a:xfrm>
            <a:off x="8854440" y="4000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640</a:t>
            </a:r>
          </a:p>
        </p:txBody>
      </p:sp>
      <p:sp>
        <p:nvSpPr>
          <p:cNvPr id="520" name="s520"/>
          <p:cNvSpPr/>
          <p:nvPr/>
        </p:nvSpPr>
        <p:spPr>
          <a:xfrm>
            <a:off x="9565640" y="40005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8 Dec 2025</a:t>
            </a:r>
          </a:p>
        </p:txBody>
      </p:sp>
      <p:sp>
        <p:nvSpPr>
          <p:cNvPr id="521" name="s521"/>
          <p:cNvSpPr/>
          <p:nvPr/>
        </p:nvSpPr>
        <p:spPr>
          <a:xfrm>
            <a:off x="10657840" y="40640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2" name="s522"/>
          <p:cNvSpPr/>
          <p:nvPr/>
        </p:nvSpPr>
        <p:spPr>
          <a:xfrm>
            <a:off x="10657840" y="40640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23" name="s523"/>
          <p:cNvSpPr/>
          <p:nvPr/>
        </p:nvSpPr>
        <p:spPr>
          <a:xfrm>
            <a:off x="2148840" y="4603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4" name="s524"/>
          <p:cNvSpPr/>
          <p:nvPr/>
        </p:nvSpPr>
        <p:spPr>
          <a:xfrm>
            <a:off x="2148840" y="43434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5" name="s525"/>
          <p:cNvSpPr/>
          <p:nvPr/>
        </p:nvSpPr>
        <p:spPr>
          <a:xfrm>
            <a:off x="2326640" y="43053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Alphabet Story Book</a:t>
            </a:r>
          </a:p>
        </p:txBody>
      </p:sp>
      <p:sp>
        <p:nvSpPr>
          <p:cNvPr id="526" name="s526"/>
          <p:cNvSpPr/>
          <p:nvPr/>
        </p:nvSpPr>
        <p:spPr>
          <a:xfrm>
            <a:off x="4485640" y="4305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BK-0160</a:t>
            </a:r>
          </a:p>
        </p:txBody>
      </p:sp>
      <p:sp>
        <p:nvSpPr>
          <p:cNvPr id="527" name="s527"/>
          <p:cNvSpPr/>
          <p:nvPr/>
        </p:nvSpPr>
        <p:spPr>
          <a:xfrm>
            <a:off x="5247640" y="43053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28" name="s528"/>
          <p:cNvSpPr/>
          <p:nvPr/>
        </p:nvSpPr>
        <p:spPr>
          <a:xfrm>
            <a:off x="6390640" y="43053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$2.10</a:t>
            </a:r>
          </a:p>
        </p:txBody>
      </p:sp>
      <p:sp>
        <p:nvSpPr>
          <p:cNvPr id="529" name="s529"/>
          <p:cNvSpPr/>
          <p:nvPr/>
        </p:nvSpPr>
        <p:spPr>
          <a:xfrm>
            <a:off x="7330440" y="4305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$3.20</a:t>
            </a:r>
          </a:p>
        </p:txBody>
      </p:sp>
      <p:sp>
        <p:nvSpPr>
          <p:cNvPr id="530" name="s530"/>
          <p:cNvSpPr/>
          <p:nvPr/>
        </p:nvSpPr>
        <p:spPr>
          <a:xfrm>
            <a:off x="8092440" y="4305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D08700"/>
                </a:solidFill>
                <a:latin typeface="Arial"/>
              </a:rPr>
              <a:t>34%</a:t>
            </a:r>
          </a:p>
        </p:txBody>
      </p:sp>
      <p:sp>
        <p:nvSpPr>
          <p:cNvPr id="531" name="s531"/>
          <p:cNvSpPr/>
          <p:nvPr/>
        </p:nvSpPr>
        <p:spPr>
          <a:xfrm>
            <a:off x="8854440" y="43053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520</a:t>
            </a:r>
          </a:p>
        </p:txBody>
      </p:sp>
      <p:sp>
        <p:nvSpPr>
          <p:cNvPr id="532" name="s532"/>
          <p:cNvSpPr/>
          <p:nvPr/>
        </p:nvSpPr>
        <p:spPr>
          <a:xfrm>
            <a:off x="9565640" y="43053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8 Dec 2025</a:t>
            </a:r>
          </a:p>
        </p:txBody>
      </p:sp>
      <p:sp>
        <p:nvSpPr>
          <p:cNvPr id="533" name="s533"/>
          <p:cNvSpPr/>
          <p:nvPr/>
        </p:nvSpPr>
        <p:spPr>
          <a:xfrm>
            <a:off x="10657840" y="43688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4" name="s534"/>
          <p:cNvSpPr/>
          <p:nvPr/>
        </p:nvSpPr>
        <p:spPr>
          <a:xfrm>
            <a:off x="10657840" y="43688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35" name="s535"/>
          <p:cNvSpPr/>
          <p:nvPr/>
        </p:nvSpPr>
        <p:spPr>
          <a:xfrm>
            <a:off x="2148840" y="4908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6" name="s536"/>
          <p:cNvSpPr/>
          <p:nvPr/>
        </p:nvSpPr>
        <p:spPr>
          <a:xfrm>
            <a:off x="2148840" y="46482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7" name="s537"/>
          <p:cNvSpPr/>
          <p:nvPr/>
        </p:nvSpPr>
        <p:spPr>
          <a:xfrm>
            <a:off x="2326640" y="46101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Counting Fun Book</a:t>
            </a:r>
          </a:p>
        </p:txBody>
      </p:sp>
      <p:sp>
        <p:nvSpPr>
          <p:cNvPr id="538" name="s538"/>
          <p:cNvSpPr/>
          <p:nvPr/>
        </p:nvSpPr>
        <p:spPr>
          <a:xfrm>
            <a:off x="4485640" y="46101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BK-0163</a:t>
            </a:r>
          </a:p>
        </p:txBody>
      </p:sp>
      <p:sp>
        <p:nvSpPr>
          <p:cNvPr id="539" name="s539"/>
          <p:cNvSpPr/>
          <p:nvPr/>
        </p:nvSpPr>
        <p:spPr>
          <a:xfrm>
            <a:off x="5247640" y="46101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40" name="s540"/>
          <p:cNvSpPr/>
          <p:nvPr/>
        </p:nvSpPr>
        <p:spPr>
          <a:xfrm>
            <a:off x="6390640" y="46101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$2.00</a:t>
            </a:r>
          </a:p>
        </p:txBody>
      </p:sp>
      <p:sp>
        <p:nvSpPr>
          <p:cNvPr id="541" name="s541"/>
          <p:cNvSpPr/>
          <p:nvPr/>
        </p:nvSpPr>
        <p:spPr>
          <a:xfrm>
            <a:off x="7330440" y="4610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$3.10</a:t>
            </a:r>
          </a:p>
        </p:txBody>
      </p:sp>
      <p:sp>
        <p:nvSpPr>
          <p:cNvPr id="542" name="s542"/>
          <p:cNvSpPr/>
          <p:nvPr/>
        </p:nvSpPr>
        <p:spPr>
          <a:xfrm>
            <a:off x="8092440" y="4610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D08700"/>
                </a:solidFill>
                <a:latin typeface="Arial"/>
              </a:rPr>
              <a:t>35%</a:t>
            </a:r>
          </a:p>
        </p:txBody>
      </p:sp>
      <p:sp>
        <p:nvSpPr>
          <p:cNvPr id="543" name="s543"/>
          <p:cNvSpPr/>
          <p:nvPr/>
        </p:nvSpPr>
        <p:spPr>
          <a:xfrm>
            <a:off x="8854440" y="46101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480</a:t>
            </a:r>
          </a:p>
        </p:txBody>
      </p:sp>
      <p:sp>
        <p:nvSpPr>
          <p:cNvPr id="544" name="s544"/>
          <p:cNvSpPr/>
          <p:nvPr/>
        </p:nvSpPr>
        <p:spPr>
          <a:xfrm>
            <a:off x="9565640" y="46101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 Nov 2025</a:t>
            </a:r>
          </a:p>
        </p:txBody>
      </p:sp>
      <p:sp>
        <p:nvSpPr>
          <p:cNvPr id="545" name="s545"/>
          <p:cNvSpPr/>
          <p:nvPr/>
        </p:nvSpPr>
        <p:spPr>
          <a:xfrm>
            <a:off x="10657840" y="46736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6" name="s546"/>
          <p:cNvSpPr/>
          <p:nvPr/>
        </p:nvSpPr>
        <p:spPr>
          <a:xfrm>
            <a:off x="10657840" y="4673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In Stock</a:t>
            </a:r>
          </a:p>
        </p:txBody>
      </p:sp>
      <p:sp>
        <p:nvSpPr>
          <p:cNvPr id="547" name="s547"/>
          <p:cNvSpPr/>
          <p:nvPr/>
        </p:nvSpPr>
        <p:spPr>
          <a:xfrm>
            <a:off x="2148840" y="5213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8" name="s548"/>
          <p:cNvSpPr/>
          <p:nvPr/>
        </p:nvSpPr>
        <p:spPr>
          <a:xfrm>
            <a:off x="2148840" y="49530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9" name="s549"/>
          <p:cNvSpPr/>
          <p:nvPr/>
        </p:nvSpPr>
        <p:spPr>
          <a:xfrm>
            <a:off x="2326640" y="49149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Science Discovery Book</a:t>
            </a:r>
          </a:p>
        </p:txBody>
      </p:sp>
      <p:sp>
        <p:nvSpPr>
          <p:cNvPr id="550" name="s550"/>
          <p:cNvSpPr/>
          <p:nvPr/>
        </p:nvSpPr>
        <p:spPr>
          <a:xfrm>
            <a:off x="4485640" y="49149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BK-0156</a:t>
            </a:r>
          </a:p>
        </p:txBody>
      </p:sp>
      <p:sp>
        <p:nvSpPr>
          <p:cNvPr id="551" name="s551"/>
          <p:cNvSpPr/>
          <p:nvPr/>
        </p:nvSpPr>
        <p:spPr>
          <a:xfrm>
            <a:off x="5247640" y="49149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Books</a:t>
            </a:r>
          </a:p>
        </p:txBody>
      </p:sp>
      <p:sp>
        <p:nvSpPr>
          <p:cNvPr id="552" name="s552"/>
          <p:cNvSpPr/>
          <p:nvPr/>
        </p:nvSpPr>
        <p:spPr>
          <a:xfrm>
            <a:off x="6390640" y="4914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$2.80</a:t>
            </a:r>
          </a:p>
        </p:txBody>
      </p:sp>
      <p:sp>
        <p:nvSpPr>
          <p:cNvPr id="553" name="s553"/>
          <p:cNvSpPr/>
          <p:nvPr/>
        </p:nvSpPr>
        <p:spPr>
          <a:xfrm>
            <a:off x="7330440" y="4914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$4.60</a:t>
            </a:r>
          </a:p>
        </p:txBody>
      </p:sp>
      <p:sp>
        <p:nvSpPr>
          <p:cNvPr id="554" name="s554"/>
          <p:cNvSpPr/>
          <p:nvPr/>
        </p:nvSpPr>
        <p:spPr>
          <a:xfrm>
            <a:off x="8092440" y="49149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39%</a:t>
            </a:r>
          </a:p>
        </p:txBody>
      </p:sp>
      <p:sp>
        <p:nvSpPr>
          <p:cNvPr id="555" name="s555"/>
          <p:cNvSpPr/>
          <p:nvPr/>
        </p:nvSpPr>
        <p:spPr>
          <a:xfrm>
            <a:off x="8854440" y="49149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112</a:t>
            </a:r>
          </a:p>
        </p:txBody>
      </p:sp>
      <p:sp>
        <p:nvSpPr>
          <p:cNvPr id="556" name="s556"/>
          <p:cNvSpPr/>
          <p:nvPr/>
        </p:nvSpPr>
        <p:spPr>
          <a:xfrm>
            <a:off x="9565640" y="49149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21 Nov 2025</a:t>
            </a:r>
          </a:p>
        </p:txBody>
      </p:sp>
      <p:sp>
        <p:nvSpPr>
          <p:cNvPr id="557" name="s557"/>
          <p:cNvSpPr/>
          <p:nvPr/>
        </p:nvSpPr>
        <p:spPr>
          <a:xfrm>
            <a:off x="10657840" y="49784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8" name="s558"/>
          <p:cNvSpPr/>
          <p:nvPr/>
        </p:nvSpPr>
        <p:spPr>
          <a:xfrm>
            <a:off x="10657840" y="49784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59" name="s559"/>
          <p:cNvSpPr/>
          <p:nvPr/>
        </p:nvSpPr>
        <p:spPr>
          <a:xfrm>
            <a:off x="2148840" y="5518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0" name="s560"/>
          <p:cNvSpPr/>
          <p:nvPr/>
        </p:nvSpPr>
        <p:spPr>
          <a:xfrm>
            <a:off x="2148840" y="52578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1" name="s561"/>
          <p:cNvSpPr/>
          <p:nvPr/>
        </p:nvSpPr>
        <p:spPr>
          <a:xfrm>
            <a:off x="2326640" y="52197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Animal Puzzle</a:t>
            </a:r>
          </a:p>
        </p:txBody>
      </p:sp>
      <p:sp>
        <p:nvSpPr>
          <p:cNvPr id="562" name="s562"/>
          <p:cNvSpPr/>
          <p:nvPr/>
        </p:nvSpPr>
        <p:spPr>
          <a:xfrm>
            <a:off x="4485640" y="52197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PZ-0088</a:t>
            </a:r>
          </a:p>
        </p:txBody>
      </p:sp>
      <p:sp>
        <p:nvSpPr>
          <p:cNvPr id="563" name="s563"/>
          <p:cNvSpPr/>
          <p:nvPr/>
        </p:nvSpPr>
        <p:spPr>
          <a:xfrm>
            <a:off x="5247640" y="52197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564" name="s564"/>
          <p:cNvSpPr/>
          <p:nvPr/>
        </p:nvSpPr>
        <p:spPr>
          <a:xfrm>
            <a:off x="6390640" y="52197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$3.40</a:t>
            </a:r>
          </a:p>
        </p:txBody>
      </p:sp>
      <p:sp>
        <p:nvSpPr>
          <p:cNvPr id="565" name="s565"/>
          <p:cNvSpPr/>
          <p:nvPr/>
        </p:nvSpPr>
        <p:spPr>
          <a:xfrm>
            <a:off x="7330440" y="5219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$5.75</a:t>
            </a:r>
          </a:p>
        </p:txBody>
      </p:sp>
      <p:sp>
        <p:nvSpPr>
          <p:cNvPr id="566" name="s566"/>
          <p:cNvSpPr/>
          <p:nvPr/>
        </p:nvSpPr>
        <p:spPr>
          <a:xfrm>
            <a:off x="8092440" y="5219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41%</a:t>
            </a:r>
          </a:p>
        </p:txBody>
      </p:sp>
      <p:sp>
        <p:nvSpPr>
          <p:cNvPr id="567" name="s567"/>
          <p:cNvSpPr/>
          <p:nvPr/>
        </p:nvSpPr>
        <p:spPr>
          <a:xfrm>
            <a:off x="8854440" y="5219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86</a:t>
            </a:r>
          </a:p>
        </p:txBody>
      </p:sp>
      <p:sp>
        <p:nvSpPr>
          <p:cNvPr id="568" name="s568"/>
          <p:cNvSpPr/>
          <p:nvPr/>
        </p:nvSpPr>
        <p:spPr>
          <a:xfrm>
            <a:off x="9565640" y="52197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27 Dec 2025</a:t>
            </a:r>
          </a:p>
        </p:txBody>
      </p:sp>
      <p:sp>
        <p:nvSpPr>
          <p:cNvPr id="569" name="s569"/>
          <p:cNvSpPr/>
          <p:nvPr/>
        </p:nvSpPr>
        <p:spPr>
          <a:xfrm>
            <a:off x="10657840" y="52832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0" name="s570"/>
          <p:cNvSpPr/>
          <p:nvPr/>
        </p:nvSpPr>
        <p:spPr>
          <a:xfrm>
            <a:off x="10657840" y="52832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71" name="s571"/>
          <p:cNvSpPr/>
          <p:nvPr/>
        </p:nvSpPr>
        <p:spPr>
          <a:xfrm>
            <a:off x="2148840" y="5822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2" name="s572"/>
          <p:cNvSpPr/>
          <p:nvPr/>
        </p:nvSpPr>
        <p:spPr>
          <a:xfrm>
            <a:off x="2148840" y="55626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3" name="s573"/>
          <p:cNvSpPr/>
          <p:nvPr/>
        </p:nvSpPr>
        <p:spPr>
          <a:xfrm>
            <a:off x="2326640" y="55245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Numbers Puzzle</a:t>
            </a:r>
          </a:p>
        </p:txBody>
      </p:sp>
      <p:sp>
        <p:nvSpPr>
          <p:cNvPr id="574" name="s574"/>
          <p:cNvSpPr/>
          <p:nvPr/>
        </p:nvSpPr>
        <p:spPr>
          <a:xfrm>
            <a:off x="4485640" y="55245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PZ-0091</a:t>
            </a:r>
          </a:p>
        </p:txBody>
      </p:sp>
      <p:sp>
        <p:nvSpPr>
          <p:cNvPr id="575" name="s575"/>
          <p:cNvSpPr/>
          <p:nvPr/>
        </p:nvSpPr>
        <p:spPr>
          <a:xfrm>
            <a:off x="5247640" y="55245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576" name="s576"/>
          <p:cNvSpPr/>
          <p:nvPr/>
        </p:nvSpPr>
        <p:spPr>
          <a:xfrm>
            <a:off x="6390640" y="55245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$3.20</a:t>
            </a:r>
          </a:p>
        </p:txBody>
      </p:sp>
      <p:sp>
        <p:nvSpPr>
          <p:cNvPr id="577" name="s577"/>
          <p:cNvSpPr/>
          <p:nvPr/>
        </p:nvSpPr>
        <p:spPr>
          <a:xfrm>
            <a:off x="7330440" y="5524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$5.40</a:t>
            </a:r>
          </a:p>
        </p:txBody>
      </p:sp>
      <p:sp>
        <p:nvSpPr>
          <p:cNvPr id="578" name="s578"/>
          <p:cNvSpPr/>
          <p:nvPr/>
        </p:nvSpPr>
        <p:spPr>
          <a:xfrm>
            <a:off x="8092440" y="55245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41%</a:t>
            </a:r>
          </a:p>
        </p:txBody>
      </p:sp>
      <p:sp>
        <p:nvSpPr>
          <p:cNvPr id="579" name="s579"/>
          <p:cNvSpPr/>
          <p:nvPr/>
        </p:nvSpPr>
        <p:spPr>
          <a:xfrm>
            <a:off x="8854440" y="5524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42</a:t>
            </a:r>
          </a:p>
        </p:txBody>
      </p:sp>
      <p:sp>
        <p:nvSpPr>
          <p:cNvPr id="580" name="s580"/>
          <p:cNvSpPr/>
          <p:nvPr/>
        </p:nvSpPr>
        <p:spPr>
          <a:xfrm>
            <a:off x="9565640" y="55245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5 Jan 2026</a:t>
            </a:r>
          </a:p>
        </p:txBody>
      </p:sp>
      <p:sp>
        <p:nvSpPr>
          <p:cNvPr id="581" name="s581"/>
          <p:cNvSpPr/>
          <p:nvPr/>
        </p:nvSpPr>
        <p:spPr>
          <a:xfrm>
            <a:off x="10657840" y="55880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2" name="s582"/>
          <p:cNvSpPr/>
          <p:nvPr/>
        </p:nvSpPr>
        <p:spPr>
          <a:xfrm>
            <a:off x="10657840" y="55880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Low Stock</a:t>
            </a:r>
          </a:p>
        </p:txBody>
      </p:sp>
      <p:sp>
        <p:nvSpPr>
          <p:cNvPr id="583" name="s583"/>
          <p:cNvSpPr/>
          <p:nvPr/>
        </p:nvSpPr>
        <p:spPr>
          <a:xfrm>
            <a:off x="2148840" y="6127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4" name="s584"/>
          <p:cNvSpPr/>
          <p:nvPr/>
        </p:nvSpPr>
        <p:spPr>
          <a:xfrm>
            <a:off x="2148840" y="58674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5" name="s585"/>
          <p:cNvSpPr/>
          <p:nvPr/>
        </p:nvSpPr>
        <p:spPr>
          <a:xfrm>
            <a:off x="2326640" y="58293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Africa Map Puzzle</a:t>
            </a:r>
          </a:p>
        </p:txBody>
      </p:sp>
      <p:sp>
        <p:nvSpPr>
          <p:cNvPr id="586" name="s586"/>
          <p:cNvSpPr/>
          <p:nvPr/>
        </p:nvSpPr>
        <p:spPr>
          <a:xfrm>
            <a:off x="4485640" y="58293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PZ-0096</a:t>
            </a:r>
          </a:p>
        </p:txBody>
      </p:sp>
      <p:sp>
        <p:nvSpPr>
          <p:cNvPr id="587" name="s587"/>
          <p:cNvSpPr/>
          <p:nvPr/>
        </p:nvSpPr>
        <p:spPr>
          <a:xfrm>
            <a:off x="5247640" y="58293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588" name="s588"/>
          <p:cNvSpPr/>
          <p:nvPr/>
        </p:nvSpPr>
        <p:spPr>
          <a:xfrm>
            <a:off x="6390640" y="58293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$3.60</a:t>
            </a:r>
          </a:p>
        </p:txBody>
      </p:sp>
      <p:sp>
        <p:nvSpPr>
          <p:cNvPr id="589" name="s589"/>
          <p:cNvSpPr/>
          <p:nvPr/>
        </p:nvSpPr>
        <p:spPr>
          <a:xfrm>
            <a:off x="7330440" y="5829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$6.10</a:t>
            </a:r>
          </a:p>
        </p:txBody>
      </p:sp>
      <p:sp>
        <p:nvSpPr>
          <p:cNvPr id="590" name="s590"/>
          <p:cNvSpPr/>
          <p:nvPr/>
        </p:nvSpPr>
        <p:spPr>
          <a:xfrm>
            <a:off x="8092440" y="58293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41%</a:t>
            </a:r>
          </a:p>
        </p:txBody>
      </p:sp>
      <p:sp>
        <p:nvSpPr>
          <p:cNvPr id="591" name="s591"/>
          <p:cNvSpPr/>
          <p:nvPr/>
        </p:nvSpPr>
        <p:spPr>
          <a:xfrm>
            <a:off x="8854440" y="58293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592" name="s592"/>
          <p:cNvSpPr/>
          <p:nvPr/>
        </p:nvSpPr>
        <p:spPr>
          <a:xfrm>
            <a:off x="9565640" y="58293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 Nov 2025</a:t>
            </a:r>
          </a:p>
        </p:txBody>
      </p:sp>
      <p:sp>
        <p:nvSpPr>
          <p:cNvPr id="593" name="s593"/>
          <p:cNvSpPr/>
          <p:nvPr/>
        </p:nvSpPr>
        <p:spPr>
          <a:xfrm>
            <a:off x="10657840" y="58928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4" name="s594"/>
          <p:cNvSpPr/>
          <p:nvPr/>
        </p:nvSpPr>
        <p:spPr>
          <a:xfrm>
            <a:off x="10657840" y="58928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B3261E"/>
                </a:solidFill>
                <a:latin typeface="Calibri"/>
              </a:rPr>
              <a:t>Out of Stock</a:t>
            </a:r>
          </a:p>
        </p:txBody>
      </p:sp>
      <p:sp>
        <p:nvSpPr>
          <p:cNvPr id="595" name="s595"/>
          <p:cNvSpPr/>
          <p:nvPr/>
        </p:nvSpPr>
        <p:spPr>
          <a:xfrm>
            <a:off x="2148840" y="6432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6" name="s596"/>
          <p:cNvSpPr/>
          <p:nvPr/>
        </p:nvSpPr>
        <p:spPr>
          <a:xfrm>
            <a:off x="2148840" y="61722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7" name="s597"/>
          <p:cNvSpPr/>
          <p:nvPr/>
        </p:nvSpPr>
        <p:spPr>
          <a:xfrm>
            <a:off x="2326640" y="6134100"/>
            <a:ext cx="208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Shape Learning Puzzle</a:t>
            </a:r>
          </a:p>
        </p:txBody>
      </p:sp>
      <p:sp>
        <p:nvSpPr>
          <p:cNvPr id="598" name="s598"/>
          <p:cNvSpPr/>
          <p:nvPr/>
        </p:nvSpPr>
        <p:spPr>
          <a:xfrm>
            <a:off x="4485640" y="61341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PZ-0094</a:t>
            </a:r>
          </a:p>
        </p:txBody>
      </p:sp>
      <p:sp>
        <p:nvSpPr>
          <p:cNvPr id="599" name="s599"/>
          <p:cNvSpPr/>
          <p:nvPr/>
        </p:nvSpPr>
        <p:spPr>
          <a:xfrm>
            <a:off x="5247640" y="61341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Puzzles</a:t>
            </a:r>
          </a:p>
        </p:txBody>
      </p:sp>
      <p:sp>
        <p:nvSpPr>
          <p:cNvPr id="600" name="s600"/>
          <p:cNvSpPr/>
          <p:nvPr/>
        </p:nvSpPr>
        <p:spPr>
          <a:xfrm>
            <a:off x="6390640" y="61341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$3.20</a:t>
            </a:r>
          </a:p>
        </p:txBody>
      </p:sp>
      <p:sp>
        <p:nvSpPr>
          <p:cNvPr id="601" name="s601"/>
          <p:cNvSpPr/>
          <p:nvPr/>
        </p:nvSpPr>
        <p:spPr>
          <a:xfrm>
            <a:off x="7330440" y="6134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$5.60</a:t>
            </a:r>
          </a:p>
        </p:txBody>
      </p:sp>
      <p:sp>
        <p:nvSpPr>
          <p:cNvPr id="602" name="s602"/>
          <p:cNvSpPr/>
          <p:nvPr/>
        </p:nvSpPr>
        <p:spPr>
          <a:xfrm>
            <a:off x="8092440" y="6134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43%</a:t>
            </a:r>
          </a:p>
        </p:txBody>
      </p:sp>
      <p:sp>
        <p:nvSpPr>
          <p:cNvPr id="603" name="s603"/>
          <p:cNvSpPr/>
          <p:nvPr/>
        </p:nvSpPr>
        <p:spPr>
          <a:xfrm>
            <a:off x="8854440" y="61341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B3261E"/>
                </a:solidFill>
                <a:latin typeface="Arial"/>
              </a:rPr>
              <a:t>0</a:t>
            </a:r>
          </a:p>
        </p:txBody>
      </p:sp>
      <p:sp>
        <p:nvSpPr>
          <p:cNvPr id="604" name="s604"/>
          <p:cNvSpPr/>
          <p:nvPr/>
        </p:nvSpPr>
        <p:spPr>
          <a:xfrm>
            <a:off x="9565640" y="61341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21 Nov 2025</a:t>
            </a:r>
          </a:p>
        </p:txBody>
      </p:sp>
      <p:sp>
        <p:nvSpPr>
          <p:cNvPr id="605" name="s605"/>
          <p:cNvSpPr/>
          <p:nvPr/>
        </p:nvSpPr>
        <p:spPr>
          <a:xfrm>
            <a:off x="10657840" y="6197600"/>
            <a:ext cx="9144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6" name="s606"/>
          <p:cNvSpPr/>
          <p:nvPr/>
        </p:nvSpPr>
        <p:spPr>
          <a:xfrm>
            <a:off x="10657840" y="6197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B3261E"/>
                </a:solidFill>
                <a:latin typeface="Calibri"/>
              </a:rPr>
              <a:t>Out of Stock</a:t>
            </a:r>
          </a:p>
        </p:txBody>
      </p:sp>
      <p:sp>
        <p:nvSpPr>
          <p:cNvPr id="607" name="s607"/>
          <p:cNvSpPr/>
          <p:nvPr/>
        </p:nvSpPr>
        <p:spPr>
          <a:xfrm>
            <a:off x="2326640" y="6197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Showing 10 of 12 linked products  ·  costs last confirmed 5 Jan 2026</a:t>
            </a:r>
          </a:p>
        </p:txBody>
      </p:sp>
      <p:sp>
        <p:nvSpPr>
          <p:cNvPr id="608" name="s608"/>
          <p:cNvSpPr/>
          <p:nvPr/>
        </p:nvSpPr>
        <p:spPr>
          <a:xfrm>
            <a:off x="8128000" y="6197600"/>
            <a:ext cx="3619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Margin = (our price − supplier cost) ÷ our price</a:t>
            </a:r>
          </a:p>
        </p:txBody>
      </p:sp>
    </p:spTree>
    <p:extLst>
      <p:ext uri="{BB962C8B-B14F-4D97-AF65-F5344CB8AC3E}">
        <p14:creationId xmlns:p14="http://schemas.microsoft.com/office/powerpoint/2010/main" val="1981661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EduStock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Purchase Orders</a:t>
            </a:r>
          </a:p>
        </p:txBody>
      </p:sp>
      <p:sp>
        <p:nvSpPr>
          <p:cNvPr id="410" name="s410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1" name="s411"/>
          <p:cNvSpPr/>
          <p:nvPr/>
        </p:nvSpPr>
        <p:spPr>
          <a:xfrm>
            <a:off x="101600" y="29083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2" name="s412"/>
          <p:cNvSpPr/>
          <p:nvPr/>
        </p:nvSpPr>
        <p:spPr>
          <a:xfrm>
            <a:off x="101600" y="29083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Suppliers  ›  SUP-007  ›  Performance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Supplier Performance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Kakata Paper Mills  ·  rolling 6 months to 7 Jan 2026  ·  14 purchase orders  ·  rating 4.6 / 5</a:t>
            </a:r>
          </a:p>
        </p:txBody>
      </p:sp>
      <p:sp>
        <p:nvSpPr>
          <p:cNvPr id="444" name="s444"/>
          <p:cNvSpPr/>
          <p:nvPr/>
        </p:nvSpPr>
        <p:spPr>
          <a:xfrm>
            <a:off x="10736580" y="812800"/>
            <a:ext cx="119634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736580" y="812800"/>
            <a:ext cx="11963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Export review</a:t>
            </a:r>
          </a:p>
        </p:txBody>
      </p:sp>
      <p:sp>
        <p:nvSpPr>
          <p:cNvPr id="446" name="s446"/>
          <p:cNvSpPr/>
          <p:nvPr/>
        </p:nvSpPr>
        <p:spPr>
          <a:xfrm>
            <a:off x="9413240" y="812800"/>
            <a:ext cx="119634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413240" y="812800"/>
            <a:ext cx="119634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Last 6 months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Overview</a:t>
            </a:r>
          </a:p>
        </p:txBody>
      </p:sp>
      <p:sp>
        <p:nvSpPr>
          <p:cNvPr id="449" name="s449"/>
          <p:cNvSpPr/>
          <p:nvPr/>
        </p:nvSpPr>
        <p:spPr>
          <a:xfrm>
            <a:off x="3007360" y="1346200"/>
            <a:ext cx="8585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Products</a:t>
            </a:r>
          </a:p>
        </p:txBody>
      </p:sp>
      <p:sp>
        <p:nvSpPr>
          <p:cNvPr id="450" name="s450"/>
          <p:cNvSpPr/>
          <p:nvPr/>
        </p:nvSpPr>
        <p:spPr>
          <a:xfrm>
            <a:off x="3865880" y="1346200"/>
            <a:ext cx="132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Purchase Orders</a:t>
            </a:r>
          </a:p>
        </p:txBody>
      </p:sp>
      <p:sp>
        <p:nvSpPr>
          <p:cNvPr id="451" name="s451"/>
          <p:cNvSpPr/>
          <p:nvPr/>
        </p:nvSpPr>
        <p:spPr>
          <a:xfrm>
            <a:off x="5186680" y="1346200"/>
            <a:ext cx="105664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2559A8"/>
                </a:solidFill>
                <a:latin typeface="Calibri"/>
              </a:rPr>
              <a:t>Performance</a:t>
            </a:r>
          </a:p>
        </p:txBody>
      </p:sp>
      <p:sp>
        <p:nvSpPr>
          <p:cNvPr id="452" name="s452"/>
          <p:cNvSpPr/>
          <p:nvPr/>
        </p:nvSpPr>
        <p:spPr>
          <a:xfrm>
            <a:off x="5186680" y="1574800"/>
            <a:ext cx="1056640" cy="254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3" name="s453"/>
          <p:cNvSpPr/>
          <p:nvPr/>
        </p:nvSpPr>
        <p:spPr>
          <a:xfrm>
            <a:off x="6243320" y="1346200"/>
            <a:ext cx="9245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0" spc="0" dirty="0">
                <a:solidFill>
                  <a:srgbClr val="5B6572"/>
                </a:solidFill>
                <a:latin typeface="Calibri"/>
              </a:rPr>
              <a:t>Documents</a:t>
            </a:r>
          </a:p>
        </p:txBody>
      </p:sp>
      <p:sp>
        <p:nvSpPr>
          <p:cNvPr id="454" name="s454"/>
          <p:cNvSpPr/>
          <p:nvPr/>
        </p:nvSpPr>
        <p:spPr>
          <a:xfrm>
            <a:off x="2148840" y="1593850"/>
            <a:ext cx="9784080" cy="6350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2148840" y="1752600"/>
            <a:ext cx="2312670" cy="81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6" name="s456"/>
          <p:cNvSpPr/>
          <p:nvPr/>
        </p:nvSpPr>
        <p:spPr>
          <a:xfrm>
            <a:off x="2148840" y="1752600"/>
            <a:ext cx="31750" cy="8128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230124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On-time delivery</a:t>
            </a:r>
          </a:p>
        </p:txBody>
      </p:sp>
      <p:sp>
        <p:nvSpPr>
          <p:cNvPr id="458" name="s458"/>
          <p:cNvSpPr/>
          <p:nvPr/>
        </p:nvSpPr>
        <p:spPr>
          <a:xfrm>
            <a:off x="2301240" y="2019300"/>
            <a:ext cx="205867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10141A"/>
                </a:solidFill>
                <a:latin typeface="Arial"/>
              </a:rPr>
              <a:t>91%</a:t>
            </a:r>
          </a:p>
        </p:txBody>
      </p:sp>
      <p:sp>
        <p:nvSpPr>
          <p:cNvPr id="459" name="s459"/>
          <p:cNvSpPr/>
          <p:nvPr/>
        </p:nvSpPr>
        <p:spPr>
          <a:xfrm>
            <a:off x="2301240" y="23114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target 90%</a:t>
            </a:r>
          </a:p>
        </p:txBody>
      </p:sp>
      <p:sp>
        <p:nvSpPr>
          <p:cNvPr id="460" name="s460"/>
          <p:cNvSpPr/>
          <p:nvPr/>
        </p:nvSpPr>
        <p:spPr>
          <a:xfrm>
            <a:off x="4639310" y="1752600"/>
            <a:ext cx="2312670" cy="81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4639310" y="1752600"/>
            <a:ext cx="31750" cy="812800"/>
          </a:xfrm>
          <a:prstGeom prst="rect">
            <a:avLst/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2" name="s462"/>
          <p:cNvSpPr/>
          <p:nvPr/>
        </p:nvSpPr>
        <p:spPr>
          <a:xfrm>
            <a:off x="479171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Average lead time</a:t>
            </a:r>
          </a:p>
        </p:txBody>
      </p:sp>
      <p:sp>
        <p:nvSpPr>
          <p:cNvPr id="463" name="s463"/>
          <p:cNvSpPr/>
          <p:nvPr/>
        </p:nvSpPr>
        <p:spPr>
          <a:xfrm>
            <a:off x="4791710" y="2019300"/>
            <a:ext cx="205867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10141A"/>
                </a:solidFill>
                <a:latin typeface="Arial"/>
              </a:rPr>
              <a:t>12 days</a:t>
            </a:r>
          </a:p>
        </p:txBody>
      </p:sp>
      <p:sp>
        <p:nvSpPr>
          <p:cNvPr id="464" name="s464"/>
          <p:cNvSpPr/>
          <p:nvPr/>
        </p:nvSpPr>
        <p:spPr>
          <a:xfrm>
            <a:off x="4791710" y="23114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quoted 12 days</a:t>
            </a:r>
          </a:p>
        </p:txBody>
      </p:sp>
      <p:sp>
        <p:nvSpPr>
          <p:cNvPr id="465" name="s465"/>
          <p:cNvSpPr/>
          <p:nvPr/>
        </p:nvSpPr>
        <p:spPr>
          <a:xfrm>
            <a:off x="7129780" y="1752600"/>
            <a:ext cx="2312670" cy="81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7129780" y="1752600"/>
            <a:ext cx="31750" cy="812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7" name="s467"/>
          <p:cNvSpPr/>
          <p:nvPr/>
        </p:nvSpPr>
        <p:spPr>
          <a:xfrm>
            <a:off x="728218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Order accuracy</a:t>
            </a:r>
          </a:p>
        </p:txBody>
      </p:sp>
      <p:sp>
        <p:nvSpPr>
          <p:cNvPr id="468" name="s468"/>
          <p:cNvSpPr/>
          <p:nvPr/>
        </p:nvSpPr>
        <p:spPr>
          <a:xfrm>
            <a:off x="7282180" y="2019300"/>
            <a:ext cx="205867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10141A"/>
                </a:solidFill>
                <a:latin typeface="Arial"/>
              </a:rPr>
              <a:t>97%</a:t>
            </a:r>
          </a:p>
        </p:txBody>
      </p:sp>
      <p:sp>
        <p:nvSpPr>
          <p:cNvPr id="469" name="s469"/>
          <p:cNvSpPr/>
          <p:nvPr/>
        </p:nvSpPr>
        <p:spPr>
          <a:xfrm>
            <a:off x="7282180" y="23114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2 claims in 6 months</a:t>
            </a:r>
          </a:p>
        </p:txBody>
      </p:sp>
      <p:sp>
        <p:nvSpPr>
          <p:cNvPr id="470" name="s470"/>
          <p:cNvSpPr/>
          <p:nvPr/>
        </p:nvSpPr>
        <p:spPr>
          <a:xfrm>
            <a:off x="9620250" y="1752600"/>
            <a:ext cx="2312670" cy="812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1" name="s471"/>
          <p:cNvSpPr/>
          <p:nvPr/>
        </p:nvSpPr>
        <p:spPr>
          <a:xfrm>
            <a:off x="9620250" y="1752600"/>
            <a:ext cx="31750" cy="8128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9772650" y="18669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Spend, 6 months</a:t>
            </a:r>
          </a:p>
        </p:txBody>
      </p:sp>
      <p:sp>
        <p:nvSpPr>
          <p:cNvPr id="473" name="s473"/>
          <p:cNvSpPr/>
          <p:nvPr/>
        </p:nvSpPr>
        <p:spPr>
          <a:xfrm>
            <a:off x="9772650" y="2019300"/>
            <a:ext cx="205867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900" b="1" spc="0" dirty="0">
                <a:solidFill>
                  <a:srgbClr val="10141A"/>
                </a:solidFill>
                <a:latin typeface="Arial"/>
              </a:rPr>
              <a:t>$11,470</a:t>
            </a:r>
          </a:p>
        </p:txBody>
      </p:sp>
      <p:sp>
        <p:nvSpPr>
          <p:cNvPr id="474" name="s474"/>
          <p:cNvSpPr/>
          <p:nvPr/>
        </p:nvSpPr>
        <p:spPr>
          <a:xfrm>
            <a:off x="9772650" y="2311400"/>
            <a:ext cx="205867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of $18,420 annual</a:t>
            </a:r>
          </a:p>
        </p:txBody>
      </p:sp>
      <p:sp>
        <p:nvSpPr>
          <p:cNvPr id="475" name="s475"/>
          <p:cNvSpPr/>
          <p:nvPr/>
        </p:nvSpPr>
        <p:spPr>
          <a:xfrm>
            <a:off x="2148840" y="2743200"/>
            <a:ext cx="5969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6" name="s476"/>
          <p:cNvSpPr/>
          <p:nvPr/>
        </p:nvSpPr>
        <p:spPr>
          <a:xfrm>
            <a:off x="2326640" y="2882900"/>
            <a:ext cx="5613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Units Received by Month</a:t>
            </a:r>
          </a:p>
        </p:txBody>
      </p:sp>
      <p:sp>
        <p:nvSpPr>
          <p:cNvPr id="477" name="s477"/>
          <p:cNvSpPr/>
          <p:nvPr/>
        </p:nvSpPr>
        <p:spPr>
          <a:xfrm>
            <a:off x="2326640" y="3073400"/>
            <a:ext cx="381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Aug 2025 – Jan 2026  ·  4,940 units  ·  term-start peaks in Nov and Dec</a:t>
            </a:r>
          </a:p>
        </p:txBody>
      </p:sp>
      <p:sp>
        <p:nvSpPr>
          <p:cNvPr id="478" name="s478"/>
          <p:cNvSpPr/>
          <p:nvPr/>
        </p:nvSpPr>
        <p:spPr>
          <a:xfrm>
            <a:off x="8295640" y="2743200"/>
            <a:ext cx="363728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9" name="s479"/>
          <p:cNvSpPr/>
          <p:nvPr/>
        </p:nvSpPr>
        <p:spPr>
          <a:xfrm>
            <a:off x="8473440" y="2882900"/>
            <a:ext cx="32816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Lead Time (days)</a:t>
            </a:r>
          </a:p>
        </p:txBody>
      </p:sp>
      <p:sp>
        <p:nvSpPr>
          <p:cNvPr id="480" name="s480"/>
          <p:cNvSpPr/>
          <p:nvPr/>
        </p:nvSpPr>
        <p:spPr>
          <a:xfrm>
            <a:off x="8473440" y="3073400"/>
            <a:ext cx="3048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Quoted 12 days  ·  peaked at 16 in September</a:t>
            </a:r>
          </a:p>
        </p:txBody>
      </p:sp>
      <p:sp>
        <p:nvSpPr>
          <p:cNvPr id="481" name="s481"/>
          <p:cNvSpPr/>
          <p:nvPr/>
        </p:nvSpPr>
        <p:spPr>
          <a:xfrm>
            <a:off x="2148840" y="4826000"/>
            <a:ext cx="5969000" cy="167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2326640" y="4965700"/>
            <a:ext cx="5613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On-time Delivery vs Other Suppliers</a:t>
            </a:r>
          </a:p>
        </p:txBody>
      </p:sp>
      <p:sp>
        <p:nvSpPr>
          <p:cNvPr id="483" name="s483"/>
          <p:cNvSpPr/>
          <p:nvPr/>
        </p:nvSpPr>
        <p:spPr>
          <a:xfrm>
            <a:off x="2326640" y="5156200"/>
            <a:ext cx="3810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Percentage of orders delivered by the promised date</a:t>
            </a:r>
          </a:p>
        </p:txBody>
      </p:sp>
      <p:sp>
        <p:nvSpPr>
          <p:cNvPr id="484" name="s484"/>
          <p:cNvSpPr/>
          <p:nvPr/>
        </p:nvSpPr>
        <p:spPr>
          <a:xfrm>
            <a:off x="8295640" y="4826000"/>
            <a:ext cx="3637280" cy="167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5" name="s485"/>
          <p:cNvSpPr/>
          <p:nvPr/>
        </p:nvSpPr>
        <p:spPr>
          <a:xfrm>
            <a:off x="8473440" y="4965700"/>
            <a:ext cx="20624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Open Issues</a:t>
            </a:r>
          </a:p>
        </p:txBody>
      </p:sp>
      <p:sp>
        <p:nvSpPr>
          <p:cNvPr id="486" name="s486"/>
          <p:cNvSpPr/>
          <p:nvPr/>
        </p:nvSpPr>
        <p:spPr>
          <a:xfrm>
            <a:off x="10358120" y="49657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2 claims</a:t>
            </a:r>
          </a:p>
        </p:txBody>
      </p:sp>
      <p:sp>
        <p:nvSpPr>
          <p:cNvPr id="487" name="s487"/>
          <p:cNvSpPr/>
          <p:nvPr/>
        </p:nvSpPr>
        <p:spPr>
          <a:xfrm>
            <a:off x="8473440" y="5156200"/>
            <a:ext cx="3276600" cy="558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8" name="s488"/>
          <p:cNvSpPr/>
          <p:nvPr/>
        </p:nvSpPr>
        <p:spPr>
          <a:xfrm>
            <a:off x="8473440" y="5156200"/>
            <a:ext cx="25400" cy="5588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9" name="s489"/>
          <p:cNvSpPr/>
          <p:nvPr/>
        </p:nvSpPr>
        <p:spPr>
          <a:xfrm>
            <a:off x="8623300" y="52324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CLM-2026-002</a:t>
            </a:r>
          </a:p>
        </p:txBody>
      </p:sp>
      <p:sp>
        <p:nvSpPr>
          <p:cNvPr id="490" name="s490"/>
          <p:cNvSpPr/>
          <p:nvPr/>
        </p:nvSpPr>
        <p:spPr>
          <a:xfrm>
            <a:off x="10883900" y="5219700"/>
            <a:ext cx="7112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1" name="s491"/>
          <p:cNvSpPr/>
          <p:nvPr/>
        </p:nvSpPr>
        <p:spPr>
          <a:xfrm>
            <a:off x="10883900" y="52197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Open</a:t>
            </a:r>
          </a:p>
        </p:txBody>
      </p:sp>
      <p:sp>
        <p:nvSpPr>
          <p:cNvPr id="492" name="s492"/>
          <p:cNvSpPr/>
          <p:nvPr/>
        </p:nvSpPr>
        <p:spPr>
          <a:xfrm>
            <a:off x="8623300" y="5410200"/>
            <a:ext cx="2971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Late delivery — PO-2026-0117 arrived 3 days after the promised date.</a:t>
            </a:r>
          </a:p>
        </p:txBody>
      </p:sp>
      <p:sp>
        <p:nvSpPr>
          <p:cNvPr id="493" name="s493"/>
          <p:cNvSpPr/>
          <p:nvPr/>
        </p:nvSpPr>
        <p:spPr>
          <a:xfrm>
            <a:off x="8473440" y="5791200"/>
            <a:ext cx="3276600" cy="558800"/>
          </a:xfrm>
          <a:prstGeom prst="roundRect">
            <a:avLst>
              <a:gd name="adj" fmla="val 6000"/>
            </a:avLst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4" name="s494"/>
          <p:cNvSpPr/>
          <p:nvPr/>
        </p:nvSpPr>
        <p:spPr>
          <a:xfrm>
            <a:off x="8473440" y="5791200"/>
            <a:ext cx="25400" cy="5588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8623300" y="58674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2559A8"/>
                </a:solidFill>
                <a:latin typeface="Arial"/>
              </a:rPr>
              <a:t>CLM-2025-014</a:t>
            </a:r>
          </a:p>
        </p:txBody>
      </p:sp>
      <p:sp>
        <p:nvSpPr>
          <p:cNvPr id="496" name="s496"/>
          <p:cNvSpPr/>
          <p:nvPr/>
        </p:nvSpPr>
        <p:spPr>
          <a:xfrm>
            <a:off x="10883900" y="5854700"/>
            <a:ext cx="7112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7" name="s497"/>
          <p:cNvSpPr/>
          <p:nvPr/>
        </p:nvSpPr>
        <p:spPr>
          <a:xfrm>
            <a:off x="10883900" y="58547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Resolved</a:t>
            </a:r>
          </a:p>
        </p:txBody>
      </p:sp>
      <p:sp>
        <p:nvSpPr>
          <p:cNvPr id="498" name="s498"/>
          <p:cNvSpPr/>
          <p:nvPr/>
        </p:nvSpPr>
        <p:spPr>
          <a:xfrm>
            <a:off x="8623300" y="6045200"/>
            <a:ext cx="2971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00" b="0" spc="0" dirty="0">
                <a:solidFill>
                  <a:srgbClr val="5B6572"/>
                </a:solidFill>
                <a:latin typeface="Calibri"/>
              </a:rPr>
              <a:t>4 units damaged in PO-2025-0109. Credit note $13.60 received.</a:t>
            </a:r>
          </a:p>
        </p:txBody>
      </p:sp>
      <p:graphicFrame>
        <p:nvGraphicFramePr>
          <p:cNvPr id="941" name="Chart 1"/>
          <p:cNvGraphicFramePr/>
          <p:nvPr/>
        </p:nvGraphicFramePr>
        <p:xfrm>
          <a:off x="2247900" y="3276600"/>
          <a:ext cx="5765800" cy="127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42" name="Chart 2"/>
          <p:cNvGraphicFramePr/>
          <p:nvPr/>
        </p:nvGraphicFramePr>
        <p:xfrm>
          <a:off x="8394700" y="3276600"/>
          <a:ext cx="3429000" cy="127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43" name="Chart 3"/>
          <p:cNvGraphicFramePr/>
          <p:nvPr/>
        </p:nvGraphicFramePr>
        <p:xfrm>
          <a:off x="2247900" y="5334000"/>
          <a:ext cx="5765800" cy="109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54329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401"/>
          <p:cNvSpPr/>
          <p:nvPr/>
        </p:nvSpPr>
        <p:spPr>
          <a:xfrm>
            <a:off x="0" y="0"/>
            <a:ext cx="1874520" cy="6858000"/>
          </a:xfrm>
          <a:prstGeom prst="rect">
            <a:avLst/>
          </a:prstGeom>
          <a:solidFill>
            <a:srgbClr val="14304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177800" y="165100"/>
            <a:ext cx="279400" cy="279400"/>
          </a:xfrm>
          <a:prstGeom prst="roundRect">
            <a:avLst>
              <a:gd name="adj" fmla="val 22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03" name="s403"/>
          <p:cNvSpPr/>
          <p:nvPr/>
        </p:nvSpPr>
        <p:spPr>
          <a:xfrm>
            <a:off x="533400" y="1651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FFFFFF"/>
                </a:solidFill>
                <a:latin typeface="Calibri"/>
              </a:rPr>
              <a:t>EduStock</a:t>
            </a:r>
          </a:p>
        </p:txBody>
      </p:sp>
      <p:sp>
        <p:nvSpPr>
          <p:cNvPr id="404" name="s404"/>
          <p:cNvSpPr/>
          <p:nvPr/>
        </p:nvSpPr>
        <p:spPr>
          <a:xfrm>
            <a:off x="533400" y="3175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Inventory Suite</a:t>
            </a:r>
          </a:p>
        </p:txBody>
      </p:sp>
      <p:sp>
        <p:nvSpPr>
          <p:cNvPr id="405" name="s405"/>
          <p:cNvSpPr/>
          <p:nvPr/>
        </p:nvSpPr>
        <p:spPr>
          <a:xfrm>
            <a:off x="330200" y="774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Dashboard</a:t>
            </a:r>
          </a:p>
        </p:txBody>
      </p:sp>
      <p:sp>
        <p:nvSpPr>
          <p:cNvPr id="406" name="s406"/>
          <p:cNvSpPr/>
          <p:nvPr/>
        </p:nvSpPr>
        <p:spPr>
          <a:xfrm>
            <a:off x="330200" y="1130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Inventory</a:t>
            </a:r>
          </a:p>
        </p:txBody>
      </p:sp>
      <p:sp>
        <p:nvSpPr>
          <p:cNvPr id="407" name="s407"/>
          <p:cNvSpPr/>
          <p:nvPr/>
        </p:nvSpPr>
        <p:spPr>
          <a:xfrm>
            <a:off x="330200" y="1485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Products</a:t>
            </a:r>
          </a:p>
        </p:txBody>
      </p:sp>
      <p:sp>
        <p:nvSpPr>
          <p:cNvPr id="408" name="s408"/>
          <p:cNvSpPr/>
          <p:nvPr/>
        </p:nvSpPr>
        <p:spPr>
          <a:xfrm>
            <a:off x="330200" y="1841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Orders</a:t>
            </a:r>
          </a:p>
        </p:txBody>
      </p:sp>
      <p:sp>
        <p:nvSpPr>
          <p:cNvPr id="409" name="s409"/>
          <p:cNvSpPr/>
          <p:nvPr/>
        </p:nvSpPr>
        <p:spPr>
          <a:xfrm>
            <a:off x="101600" y="2197100"/>
            <a:ext cx="1671320" cy="330200"/>
          </a:xfrm>
          <a:prstGeom prst="roundRect">
            <a:avLst>
              <a:gd name="adj" fmla="val 9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0" name="s410"/>
          <p:cNvSpPr/>
          <p:nvPr/>
        </p:nvSpPr>
        <p:spPr>
          <a:xfrm>
            <a:off x="101600" y="2197100"/>
            <a:ext cx="31750" cy="330200"/>
          </a:xfrm>
          <a:prstGeom prst="rect">
            <a:avLst/>
          </a:prstGeom>
          <a:solidFill>
            <a:srgbClr val="65C1B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1" name="s411"/>
          <p:cNvSpPr/>
          <p:nvPr/>
        </p:nvSpPr>
        <p:spPr>
          <a:xfrm>
            <a:off x="330200" y="2197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FFFFFF"/>
                </a:solidFill>
                <a:latin typeface="Calibri"/>
              </a:rPr>
              <a:t>Purchase Orders</a:t>
            </a:r>
          </a:p>
        </p:txBody>
      </p:sp>
      <p:sp>
        <p:nvSpPr>
          <p:cNvPr id="412" name="s412"/>
          <p:cNvSpPr/>
          <p:nvPr/>
        </p:nvSpPr>
        <p:spPr>
          <a:xfrm>
            <a:off x="330200" y="2552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Schools</a:t>
            </a:r>
          </a:p>
        </p:txBody>
      </p:sp>
      <p:sp>
        <p:nvSpPr>
          <p:cNvPr id="413" name="s413"/>
          <p:cNvSpPr/>
          <p:nvPr/>
        </p:nvSpPr>
        <p:spPr>
          <a:xfrm>
            <a:off x="330200" y="2908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Suppliers</a:t>
            </a:r>
          </a:p>
        </p:txBody>
      </p:sp>
      <p:sp>
        <p:nvSpPr>
          <p:cNvPr id="414" name="s414"/>
          <p:cNvSpPr/>
          <p:nvPr/>
        </p:nvSpPr>
        <p:spPr>
          <a:xfrm>
            <a:off x="330200" y="3263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Warehouses</a:t>
            </a:r>
          </a:p>
        </p:txBody>
      </p:sp>
      <p:sp>
        <p:nvSpPr>
          <p:cNvPr id="415" name="s415"/>
          <p:cNvSpPr/>
          <p:nvPr/>
        </p:nvSpPr>
        <p:spPr>
          <a:xfrm>
            <a:off x="330200" y="36195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Employees</a:t>
            </a:r>
          </a:p>
        </p:txBody>
      </p:sp>
      <p:sp>
        <p:nvSpPr>
          <p:cNvPr id="416" name="s416"/>
          <p:cNvSpPr/>
          <p:nvPr/>
        </p:nvSpPr>
        <p:spPr>
          <a:xfrm>
            <a:off x="330200" y="39751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Reports</a:t>
            </a:r>
          </a:p>
        </p:txBody>
      </p:sp>
      <p:sp>
        <p:nvSpPr>
          <p:cNvPr id="417" name="s417"/>
          <p:cNvSpPr/>
          <p:nvPr/>
        </p:nvSpPr>
        <p:spPr>
          <a:xfrm>
            <a:off x="330200" y="43307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Analytics</a:t>
            </a:r>
          </a:p>
        </p:txBody>
      </p:sp>
      <p:sp>
        <p:nvSpPr>
          <p:cNvPr id="418" name="s418"/>
          <p:cNvSpPr/>
          <p:nvPr/>
        </p:nvSpPr>
        <p:spPr>
          <a:xfrm>
            <a:off x="330200" y="46863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Notifications</a:t>
            </a:r>
          </a:p>
        </p:txBody>
      </p:sp>
      <p:sp>
        <p:nvSpPr>
          <p:cNvPr id="419" name="s419"/>
          <p:cNvSpPr/>
          <p:nvPr/>
        </p:nvSpPr>
        <p:spPr>
          <a:xfrm>
            <a:off x="330200" y="50419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Settings</a:t>
            </a:r>
          </a:p>
        </p:txBody>
      </p:sp>
      <p:sp>
        <p:nvSpPr>
          <p:cNvPr id="420" name="s420"/>
          <p:cNvSpPr/>
          <p:nvPr/>
        </p:nvSpPr>
        <p:spPr>
          <a:xfrm>
            <a:off x="177800" y="5435600"/>
            <a:ext cx="1518920" cy="660400"/>
          </a:xfrm>
          <a:prstGeom prst="roundRect">
            <a:avLst>
              <a:gd name="adj" fmla="val 8000"/>
            </a:avLst>
          </a:prstGeom>
          <a:solidFill>
            <a:srgbClr val="2559A8">
              <a:alpha val="35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1" name="s421"/>
          <p:cNvSpPr/>
          <p:nvPr/>
        </p:nvSpPr>
        <p:spPr>
          <a:xfrm>
            <a:off x="330200" y="5511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00" b="0" spc="0" dirty="0">
                <a:solidFill>
                  <a:srgbClr val="B4CDD2"/>
                </a:solidFill>
                <a:latin typeface="Calibri"/>
              </a:rPr>
              <a:t>Warehouse capacity</a:t>
            </a:r>
          </a:p>
        </p:txBody>
      </p:sp>
      <p:sp>
        <p:nvSpPr>
          <p:cNvPr id="422" name="s422"/>
          <p:cNvSpPr/>
          <p:nvPr/>
        </p:nvSpPr>
        <p:spPr>
          <a:xfrm>
            <a:off x="330200" y="56515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spc="0" dirty="0">
                <a:solidFill>
                  <a:srgbClr val="FFFFFF"/>
                </a:solidFill>
                <a:latin typeface="Arial"/>
              </a:rPr>
              <a:t>71%</a:t>
            </a:r>
          </a:p>
        </p:txBody>
      </p:sp>
      <p:sp>
        <p:nvSpPr>
          <p:cNvPr id="423" name="s423"/>
          <p:cNvSpPr/>
          <p:nvPr/>
        </p:nvSpPr>
        <p:spPr>
          <a:xfrm>
            <a:off x="330200" y="5892800"/>
            <a:ext cx="1206500" cy="50800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330200" y="5892800"/>
            <a:ext cx="857250" cy="50800"/>
          </a:xfrm>
          <a:prstGeom prst="rect">
            <a:avLst/>
          </a:prstGeom>
          <a:solidFill>
            <a:srgbClr val="24AA9D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5" name="s425"/>
          <p:cNvSpPr/>
          <p:nvPr/>
        </p:nvSpPr>
        <p:spPr>
          <a:xfrm>
            <a:off x="330200" y="5943600"/>
            <a:ext cx="1333500" cy="12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B4CDD2"/>
                </a:solidFill>
                <a:latin typeface="Calibri"/>
              </a:rPr>
              <a:t>18,450 of 26,000 units</a:t>
            </a:r>
          </a:p>
        </p:txBody>
      </p:sp>
      <p:sp>
        <p:nvSpPr>
          <p:cNvPr id="426" name="s426"/>
          <p:cNvSpPr/>
          <p:nvPr/>
        </p:nvSpPr>
        <p:spPr>
          <a:xfrm>
            <a:off x="177800" y="6248400"/>
            <a:ext cx="1518920" cy="9525"/>
          </a:xfrm>
          <a:prstGeom prst="rect">
            <a:avLst/>
          </a:prstGeom>
          <a:solidFill>
            <a:srgbClr val="1D3F63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7" name="s427"/>
          <p:cNvSpPr/>
          <p:nvPr/>
        </p:nvSpPr>
        <p:spPr>
          <a:xfrm>
            <a:off x="330200" y="635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0" spc="0" dirty="0">
                <a:solidFill>
                  <a:srgbClr val="B4CDD2"/>
                </a:solidFill>
                <a:latin typeface="Calibri"/>
              </a:rPr>
              <a:t>Log Out</a:t>
            </a:r>
          </a:p>
        </p:txBody>
      </p:sp>
      <p:sp>
        <p:nvSpPr>
          <p:cNvPr id="428" name="s428"/>
          <p:cNvSpPr/>
          <p:nvPr/>
        </p:nvSpPr>
        <p:spPr>
          <a:xfrm>
            <a:off x="1874520" y="0"/>
            <a:ext cx="10317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9" name="s429"/>
          <p:cNvSpPr/>
          <p:nvPr/>
        </p:nvSpPr>
        <p:spPr>
          <a:xfrm>
            <a:off x="1874520" y="557403"/>
            <a:ext cx="10317480" cy="9525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2148840" y="146050"/>
            <a:ext cx="2997200" cy="274320"/>
          </a:xfrm>
          <a:prstGeom prst="roundRect">
            <a:avLst>
              <a:gd name="adj" fmla="val 14000"/>
            </a:avLst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1" name="s431"/>
          <p:cNvSpPr/>
          <p:nvPr/>
        </p:nvSpPr>
        <p:spPr>
          <a:xfrm>
            <a:off x="2286000" y="146050"/>
            <a:ext cx="279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Search products, orders, schools…</a:t>
            </a:r>
          </a:p>
        </p:txBody>
      </p:sp>
      <p:sp>
        <p:nvSpPr>
          <p:cNvPr id="432" name="s432"/>
          <p:cNvSpPr/>
          <p:nvPr/>
        </p:nvSpPr>
        <p:spPr>
          <a:xfrm>
            <a:off x="9423400" y="146050"/>
            <a:ext cx="736600" cy="27432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1" spc="0" dirty="0">
                <a:solidFill>
                  <a:srgbClr val="FFFFFF"/>
                </a:solidFill>
                <a:latin typeface="Calibri"/>
              </a:rPr>
              <a:t>+  New</a:t>
            </a:r>
          </a:p>
        </p:txBody>
      </p:sp>
      <p:sp>
        <p:nvSpPr>
          <p:cNvPr id="433" name="s433"/>
          <p:cNvSpPr/>
          <p:nvPr/>
        </p:nvSpPr>
        <p:spPr>
          <a:xfrm>
            <a:off x="102870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102870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!</a:t>
            </a:r>
          </a:p>
        </p:txBody>
      </p:sp>
      <p:sp>
        <p:nvSpPr>
          <p:cNvPr id="435" name="s435"/>
          <p:cNvSpPr/>
          <p:nvPr/>
        </p:nvSpPr>
        <p:spPr>
          <a:xfrm>
            <a:off x="10477500" y="127000"/>
            <a:ext cx="127000" cy="127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600" b="1" spc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6" name="s436"/>
          <p:cNvSpPr/>
          <p:nvPr/>
        </p:nvSpPr>
        <p:spPr>
          <a:xfrm>
            <a:off x="10655300" y="152400"/>
            <a:ext cx="266700" cy="266700"/>
          </a:xfrm>
          <a:prstGeom prst="ellipse">
            <a:avLst/>
          </a:prstGeom>
          <a:solidFill>
            <a:srgbClr val="F0F2F5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7" name="s437"/>
          <p:cNvSpPr/>
          <p:nvPr/>
        </p:nvSpPr>
        <p:spPr>
          <a:xfrm>
            <a:off x="10655300" y="152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50" b="1" spc="0" dirty="0">
                <a:solidFill>
                  <a:srgbClr val="5B6572"/>
                </a:solidFill>
                <a:latin typeface="Calibri"/>
              </a:rPr>
              <a:t>?</a:t>
            </a:r>
          </a:p>
        </p:txBody>
      </p:sp>
      <p:sp>
        <p:nvSpPr>
          <p:cNvPr id="438" name="s438"/>
          <p:cNvSpPr/>
          <p:nvPr/>
        </p:nvSpPr>
        <p:spPr>
          <a:xfrm>
            <a:off x="11036300" y="139700"/>
            <a:ext cx="292100" cy="292100"/>
          </a:xfrm>
          <a:prstGeom prst="ellipse">
            <a:avLst/>
          </a:prstGeom>
          <a:solidFill>
            <a:srgbClr val="2559A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439" name="s439"/>
          <p:cNvSpPr/>
          <p:nvPr/>
        </p:nvSpPr>
        <p:spPr>
          <a:xfrm>
            <a:off x="11379200" y="1397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0" dirty="0">
                <a:solidFill>
                  <a:srgbClr val="10141A"/>
                </a:solidFill>
                <a:latin typeface="Calibri"/>
              </a:rPr>
              <a:t>Moses Kollie</a:t>
            </a:r>
          </a:p>
        </p:txBody>
      </p:sp>
      <p:sp>
        <p:nvSpPr>
          <p:cNvPr id="440" name="s440"/>
          <p:cNvSpPr/>
          <p:nvPr/>
        </p:nvSpPr>
        <p:spPr>
          <a:xfrm>
            <a:off x="11379200" y="279400"/>
            <a:ext cx="762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750" b="0" spc="0" dirty="0">
                <a:solidFill>
                  <a:srgbClr val="8A93A0"/>
                </a:solidFill>
                <a:latin typeface="Calibri"/>
              </a:rPr>
              <a:t>Administrator</a:t>
            </a:r>
          </a:p>
        </p:txBody>
      </p:sp>
      <p:sp>
        <p:nvSpPr>
          <p:cNvPr id="441" name="s441"/>
          <p:cNvSpPr/>
          <p:nvPr/>
        </p:nvSpPr>
        <p:spPr>
          <a:xfrm>
            <a:off x="2148840" y="6350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8A93A0"/>
                </a:solidFill>
                <a:latin typeface="Calibri"/>
              </a:rPr>
              <a:t>Home  ›  Purchase Orders</a:t>
            </a:r>
          </a:p>
        </p:txBody>
      </p:sp>
      <p:sp>
        <p:nvSpPr>
          <p:cNvPr id="442" name="s442"/>
          <p:cNvSpPr/>
          <p:nvPr/>
        </p:nvSpPr>
        <p:spPr>
          <a:xfrm>
            <a:off x="2148840" y="787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spc="0" dirty="0">
                <a:solidFill>
                  <a:srgbClr val="10141A"/>
                </a:solidFill>
                <a:latin typeface="Calibri"/>
              </a:rPr>
              <a:t>Purchase Orders</a:t>
            </a:r>
          </a:p>
        </p:txBody>
      </p:sp>
      <p:sp>
        <p:nvSpPr>
          <p:cNvPr id="443" name="s443"/>
          <p:cNvSpPr/>
          <p:nvPr/>
        </p:nvSpPr>
        <p:spPr>
          <a:xfrm>
            <a:off x="2148840" y="10922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0" spc="0" dirty="0">
                <a:solidFill>
                  <a:srgbClr val="5B6572"/>
                </a:solidFill>
                <a:latin typeface="Calibri"/>
              </a:rPr>
              <a:t>38 purchase orders  ·  3 awaiting approval  ·  $7,419 committed to suppliers  ·  1,020 units in transit</a:t>
            </a:r>
          </a:p>
        </p:txBody>
      </p:sp>
      <p:sp>
        <p:nvSpPr>
          <p:cNvPr id="444" name="s444"/>
          <p:cNvSpPr/>
          <p:nvPr/>
        </p:nvSpPr>
        <p:spPr>
          <a:xfrm>
            <a:off x="10256520" y="812800"/>
            <a:ext cx="1676400" cy="304800"/>
          </a:xfrm>
          <a:prstGeom prst="roundRect">
            <a:avLst>
              <a:gd name="adj" fmla="val 12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5" name="s445"/>
          <p:cNvSpPr/>
          <p:nvPr/>
        </p:nvSpPr>
        <p:spPr>
          <a:xfrm>
            <a:off x="10256520" y="812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FFFFFF"/>
                </a:solidFill>
                <a:latin typeface="Calibri"/>
              </a:rPr>
              <a:t>+ New Purchase Order</a:t>
            </a:r>
          </a:p>
        </p:txBody>
      </p:sp>
      <p:sp>
        <p:nvSpPr>
          <p:cNvPr id="446" name="s446"/>
          <p:cNvSpPr/>
          <p:nvPr/>
        </p:nvSpPr>
        <p:spPr>
          <a:xfrm>
            <a:off x="9413240" y="812800"/>
            <a:ext cx="71628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7" name="s447"/>
          <p:cNvSpPr/>
          <p:nvPr/>
        </p:nvSpPr>
        <p:spPr>
          <a:xfrm>
            <a:off x="9413240" y="812800"/>
            <a:ext cx="71628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spc="0" dirty="0">
                <a:solidFill>
                  <a:srgbClr val="2559A8"/>
                </a:solidFill>
                <a:latin typeface="Calibri"/>
              </a:rPr>
              <a:t>Export</a:t>
            </a:r>
          </a:p>
        </p:txBody>
      </p:sp>
      <p:sp>
        <p:nvSpPr>
          <p:cNvPr id="448" name="s448"/>
          <p:cNvSpPr/>
          <p:nvPr/>
        </p:nvSpPr>
        <p:spPr>
          <a:xfrm>
            <a:off x="2148840" y="1422400"/>
            <a:ext cx="740410" cy="27940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49" name="s449"/>
          <p:cNvSpPr/>
          <p:nvPr/>
        </p:nvSpPr>
        <p:spPr>
          <a:xfrm>
            <a:off x="2148840" y="1422400"/>
            <a:ext cx="74041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All  38</a:t>
            </a:r>
          </a:p>
        </p:txBody>
      </p:sp>
      <p:sp>
        <p:nvSpPr>
          <p:cNvPr id="450" name="s450"/>
          <p:cNvSpPr/>
          <p:nvPr/>
        </p:nvSpPr>
        <p:spPr>
          <a:xfrm>
            <a:off x="2965450" y="1422400"/>
            <a:ext cx="80264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1" name="s451"/>
          <p:cNvSpPr/>
          <p:nvPr/>
        </p:nvSpPr>
        <p:spPr>
          <a:xfrm>
            <a:off x="3079750" y="1524000"/>
            <a:ext cx="76200" cy="76200"/>
          </a:xfrm>
          <a:prstGeom prst="ellipse">
            <a:avLst/>
          </a:prstGeom>
          <a:solidFill>
            <a:srgbClr val="5B6572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2" name="s452"/>
          <p:cNvSpPr/>
          <p:nvPr/>
        </p:nvSpPr>
        <p:spPr>
          <a:xfrm>
            <a:off x="3067050" y="1422400"/>
            <a:ext cx="7010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Draft  4</a:t>
            </a:r>
          </a:p>
        </p:txBody>
      </p:sp>
      <p:sp>
        <p:nvSpPr>
          <p:cNvPr id="453" name="s453"/>
          <p:cNvSpPr/>
          <p:nvPr/>
        </p:nvSpPr>
        <p:spPr>
          <a:xfrm>
            <a:off x="3844290" y="1422400"/>
            <a:ext cx="148717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4" name="s454"/>
          <p:cNvSpPr/>
          <p:nvPr/>
        </p:nvSpPr>
        <p:spPr>
          <a:xfrm>
            <a:off x="3958590" y="1524000"/>
            <a:ext cx="76200" cy="762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5" name="s455"/>
          <p:cNvSpPr/>
          <p:nvPr/>
        </p:nvSpPr>
        <p:spPr>
          <a:xfrm>
            <a:off x="3945890" y="1422400"/>
            <a:ext cx="138557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Pending Approval  3</a:t>
            </a:r>
          </a:p>
        </p:txBody>
      </p:sp>
      <p:sp>
        <p:nvSpPr>
          <p:cNvPr id="456" name="s456"/>
          <p:cNvSpPr/>
          <p:nvPr/>
        </p:nvSpPr>
        <p:spPr>
          <a:xfrm>
            <a:off x="5407660" y="1422400"/>
            <a:ext cx="98933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7" name="s457"/>
          <p:cNvSpPr/>
          <p:nvPr/>
        </p:nvSpPr>
        <p:spPr>
          <a:xfrm>
            <a:off x="5521960" y="1524000"/>
            <a:ext cx="76200" cy="76200"/>
          </a:xfrm>
          <a:prstGeom prst="ellipse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58" name="s458"/>
          <p:cNvSpPr/>
          <p:nvPr/>
        </p:nvSpPr>
        <p:spPr>
          <a:xfrm>
            <a:off x="5509260" y="1422400"/>
            <a:ext cx="88773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Approved  5</a:t>
            </a:r>
          </a:p>
        </p:txBody>
      </p:sp>
      <p:sp>
        <p:nvSpPr>
          <p:cNvPr id="459" name="s459"/>
          <p:cNvSpPr/>
          <p:nvPr/>
        </p:nvSpPr>
        <p:spPr>
          <a:xfrm>
            <a:off x="6473190" y="1422400"/>
            <a:ext cx="161163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0" name="s460"/>
          <p:cNvSpPr/>
          <p:nvPr/>
        </p:nvSpPr>
        <p:spPr>
          <a:xfrm>
            <a:off x="6587490" y="1524000"/>
            <a:ext cx="76200" cy="76200"/>
          </a:xfrm>
          <a:prstGeom prst="ellipse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1" name="s461"/>
          <p:cNvSpPr/>
          <p:nvPr/>
        </p:nvSpPr>
        <p:spPr>
          <a:xfrm>
            <a:off x="6574790" y="1422400"/>
            <a:ext cx="151003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Partially Received  2</a:t>
            </a:r>
          </a:p>
        </p:txBody>
      </p:sp>
      <p:sp>
        <p:nvSpPr>
          <p:cNvPr id="462" name="s462"/>
          <p:cNvSpPr/>
          <p:nvPr/>
        </p:nvSpPr>
        <p:spPr>
          <a:xfrm>
            <a:off x="8161020" y="1422400"/>
            <a:ext cx="105156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3" name="s463"/>
          <p:cNvSpPr/>
          <p:nvPr/>
        </p:nvSpPr>
        <p:spPr>
          <a:xfrm>
            <a:off x="8275320" y="1524000"/>
            <a:ext cx="76200" cy="76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4" name="s464"/>
          <p:cNvSpPr/>
          <p:nvPr/>
        </p:nvSpPr>
        <p:spPr>
          <a:xfrm>
            <a:off x="8262620" y="1422400"/>
            <a:ext cx="94996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Received  22</a:t>
            </a:r>
          </a:p>
        </p:txBody>
      </p:sp>
      <p:sp>
        <p:nvSpPr>
          <p:cNvPr id="465" name="s465"/>
          <p:cNvSpPr/>
          <p:nvPr/>
        </p:nvSpPr>
        <p:spPr>
          <a:xfrm>
            <a:off x="9288780" y="1422400"/>
            <a:ext cx="1051560" cy="27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6" name="s466"/>
          <p:cNvSpPr/>
          <p:nvPr/>
        </p:nvSpPr>
        <p:spPr>
          <a:xfrm>
            <a:off x="9403080" y="1524000"/>
            <a:ext cx="76200" cy="762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7" name="s467"/>
          <p:cNvSpPr/>
          <p:nvPr/>
        </p:nvSpPr>
        <p:spPr>
          <a:xfrm>
            <a:off x="9390380" y="1422400"/>
            <a:ext cx="94996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Cancelled  2</a:t>
            </a:r>
          </a:p>
        </p:txBody>
      </p:sp>
      <p:sp>
        <p:nvSpPr>
          <p:cNvPr id="468" name="s468"/>
          <p:cNvSpPr/>
          <p:nvPr/>
        </p:nvSpPr>
        <p:spPr>
          <a:xfrm>
            <a:off x="2148840" y="1854200"/>
            <a:ext cx="9784080" cy="4648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69" name="s469"/>
          <p:cNvSpPr/>
          <p:nvPr/>
        </p:nvSpPr>
        <p:spPr>
          <a:xfrm>
            <a:off x="2326640" y="1993900"/>
            <a:ext cx="82092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spc="0" dirty="0">
                <a:solidFill>
                  <a:srgbClr val="10141A"/>
                </a:solidFill>
                <a:latin typeface="Calibri"/>
              </a:rPr>
              <a:t>All Purchase Orders</a:t>
            </a:r>
          </a:p>
        </p:txBody>
      </p:sp>
      <p:sp>
        <p:nvSpPr>
          <p:cNvPr id="470" name="s470"/>
          <p:cNvSpPr/>
          <p:nvPr/>
        </p:nvSpPr>
        <p:spPr>
          <a:xfrm>
            <a:off x="10358120" y="1993900"/>
            <a:ext cx="139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900" b="1" spc="0" dirty="0">
                <a:solidFill>
                  <a:srgbClr val="2559A8"/>
                </a:solidFill>
                <a:latin typeface="Calibri"/>
              </a:rPr>
              <a:t>Newest first</a:t>
            </a:r>
          </a:p>
        </p:txBody>
      </p:sp>
      <p:sp>
        <p:nvSpPr>
          <p:cNvPr id="471" name="s471"/>
          <p:cNvSpPr/>
          <p:nvPr/>
        </p:nvSpPr>
        <p:spPr>
          <a:xfrm>
            <a:off x="2148840" y="2362200"/>
            <a:ext cx="9784080" cy="2667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2" name="s472"/>
          <p:cNvSpPr/>
          <p:nvPr/>
        </p:nvSpPr>
        <p:spPr>
          <a:xfrm>
            <a:off x="2326640" y="23622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PO NUMBER</a:t>
            </a:r>
          </a:p>
        </p:txBody>
      </p:sp>
      <p:sp>
        <p:nvSpPr>
          <p:cNvPr id="473" name="s473"/>
          <p:cNvSpPr/>
          <p:nvPr/>
        </p:nvSpPr>
        <p:spPr>
          <a:xfrm>
            <a:off x="3596640" y="23622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SUPPLIER</a:t>
            </a:r>
          </a:p>
        </p:txBody>
      </p:sp>
      <p:sp>
        <p:nvSpPr>
          <p:cNvPr id="474" name="s474"/>
          <p:cNvSpPr/>
          <p:nvPr/>
        </p:nvSpPr>
        <p:spPr>
          <a:xfrm>
            <a:off x="5552440" y="2362200"/>
            <a:ext cx="863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RAISED</a:t>
            </a:r>
          </a:p>
        </p:txBody>
      </p:sp>
      <p:sp>
        <p:nvSpPr>
          <p:cNvPr id="475" name="s475"/>
          <p:cNvSpPr/>
          <p:nvPr/>
        </p:nvSpPr>
        <p:spPr>
          <a:xfrm>
            <a:off x="6466840" y="2362200"/>
            <a:ext cx="863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EXPECTED</a:t>
            </a:r>
          </a:p>
        </p:txBody>
      </p:sp>
      <p:sp>
        <p:nvSpPr>
          <p:cNvPr id="476" name="s476"/>
          <p:cNvSpPr/>
          <p:nvPr/>
        </p:nvSpPr>
        <p:spPr>
          <a:xfrm>
            <a:off x="7381240" y="2362200"/>
            <a:ext cx="558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ITEMS</a:t>
            </a:r>
          </a:p>
        </p:txBody>
      </p:sp>
      <p:sp>
        <p:nvSpPr>
          <p:cNvPr id="477" name="s477"/>
          <p:cNvSpPr/>
          <p:nvPr/>
        </p:nvSpPr>
        <p:spPr>
          <a:xfrm>
            <a:off x="7990840" y="2362200"/>
            <a:ext cx="660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UNITS</a:t>
            </a:r>
          </a:p>
        </p:txBody>
      </p:sp>
      <p:sp>
        <p:nvSpPr>
          <p:cNvPr id="478" name="s478"/>
          <p:cNvSpPr/>
          <p:nvPr/>
        </p:nvSpPr>
        <p:spPr>
          <a:xfrm>
            <a:off x="8702040" y="2362200"/>
            <a:ext cx="863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VALUE</a:t>
            </a:r>
          </a:p>
        </p:txBody>
      </p:sp>
      <p:sp>
        <p:nvSpPr>
          <p:cNvPr id="479" name="s479"/>
          <p:cNvSpPr/>
          <p:nvPr/>
        </p:nvSpPr>
        <p:spPr>
          <a:xfrm>
            <a:off x="9616440" y="2362200"/>
            <a:ext cx="76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RECEIVED</a:t>
            </a:r>
          </a:p>
        </p:txBody>
      </p:sp>
      <p:sp>
        <p:nvSpPr>
          <p:cNvPr id="480" name="s480"/>
          <p:cNvSpPr/>
          <p:nvPr/>
        </p:nvSpPr>
        <p:spPr>
          <a:xfrm>
            <a:off x="10429240" y="2362200"/>
            <a:ext cx="1320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50" b="1" spc="50" dirty="0">
                <a:solidFill>
                  <a:srgbClr val="5B6572"/>
                </a:solidFill>
                <a:latin typeface="Calibri"/>
              </a:rPr>
              <a:t>STATUS</a:t>
            </a:r>
          </a:p>
        </p:txBody>
      </p:sp>
      <p:sp>
        <p:nvSpPr>
          <p:cNvPr id="481" name="s481"/>
          <p:cNvSpPr/>
          <p:nvPr/>
        </p:nvSpPr>
        <p:spPr>
          <a:xfrm>
            <a:off x="2148840" y="2927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2" name="s482"/>
          <p:cNvSpPr/>
          <p:nvPr/>
        </p:nvSpPr>
        <p:spPr>
          <a:xfrm>
            <a:off x="2148840" y="26670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3" name="s483"/>
          <p:cNvSpPr/>
          <p:nvPr/>
        </p:nvSpPr>
        <p:spPr>
          <a:xfrm>
            <a:off x="2326640" y="2628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PO-2026-0119</a:t>
            </a:r>
          </a:p>
        </p:txBody>
      </p:sp>
      <p:sp>
        <p:nvSpPr>
          <p:cNvPr id="484" name="s484"/>
          <p:cNvSpPr/>
          <p:nvPr/>
        </p:nvSpPr>
        <p:spPr>
          <a:xfrm>
            <a:off x="3596640" y="26289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Monrovia Print Works</a:t>
            </a:r>
          </a:p>
        </p:txBody>
      </p:sp>
      <p:sp>
        <p:nvSpPr>
          <p:cNvPr id="485" name="s485"/>
          <p:cNvSpPr/>
          <p:nvPr/>
        </p:nvSpPr>
        <p:spPr>
          <a:xfrm>
            <a:off x="5552440" y="2628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7 Jan 2026</a:t>
            </a:r>
          </a:p>
        </p:txBody>
      </p:sp>
      <p:sp>
        <p:nvSpPr>
          <p:cNvPr id="486" name="s486"/>
          <p:cNvSpPr/>
          <p:nvPr/>
        </p:nvSpPr>
        <p:spPr>
          <a:xfrm>
            <a:off x="6466840" y="2628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19 Jan 2026</a:t>
            </a:r>
          </a:p>
        </p:txBody>
      </p:sp>
      <p:sp>
        <p:nvSpPr>
          <p:cNvPr id="487" name="s487"/>
          <p:cNvSpPr/>
          <p:nvPr/>
        </p:nvSpPr>
        <p:spPr>
          <a:xfrm>
            <a:off x="7381240" y="26289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3</a:t>
            </a:r>
          </a:p>
        </p:txBody>
      </p:sp>
      <p:sp>
        <p:nvSpPr>
          <p:cNvPr id="488" name="s488"/>
          <p:cNvSpPr/>
          <p:nvPr/>
        </p:nvSpPr>
        <p:spPr>
          <a:xfrm>
            <a:off x="7990840" y="26289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800</a:t>
            </a:r>
          </a:p>
        </p:txBody>
      </p:sp>
      <p:sp>
        <p:nvSpPr>
          <p:cNvPr id="489" name="s489"/>
          <p:cNvSpPr/>
          <p:nvPr/>
        </p:nvSpPr>
        <p:spPr>
          <a:xfrm>
            <a:off x="8702040" y="2628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$1,440</a:t>
            </a:r>
          </a:p>
        </p:txBody>
      </p:sp>
      <p:sp>
        <p:nvSpPr>
          <p:cNvPr id="490" name="s490"/>
          <p:cNvSpPr/>
          <p:nvPr/>
        </p:nvSpPr>
        <p:spPr>
          <a:xfrm>
            <a:off x="9616440" y="26289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8A93A0"/>
                </a:solidFill>
                <a:latin typeface="Arial"/>
              </a:rPr>
              <a:t>0</a:t>
            </a:r>
          </a:p>
        </p:txBody>
      </p:sp>
      <p:sp>
        <p:nvSpPr>
          <p:cNvPr id="491" name="s491"/>
          <p:cNvSpPr/>
          <p:nvPr/>
        </p:nvSpPr>
        <p:spPr>
          <a:xfrm>
            <a:off x="10429240" y="26924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2" name="s492"/>
          <p:cNvSpPr/>
          <p:nvPr/>
        </p:nvSpPr>
        <p:spPr>
          <a:xfrm>
            <a:off x="10429240" y="26924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Pending Approval</a:t>
            </a:r>
          </a:p>
        </p:txBody>
      </p:sp>
      <p:sp>
        <p:nvSpPr>
          <p:cNvPr id="493" name="s493"/>
          <p:cNvSpPr/>
          <p:nvPr/>
        </p:nvSpPr>
        <p:spPr>
          <a:xfrm>
            <a:off x="2148840" y="3232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4" name="s494"/>
          <p:cNvSpPr/>
          <p:nvPr/>
        </p:nvSpPr>
        <p:spPr>
          <a:xfrm>
            <a:off x="2148840" y="29718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95" name="s495"/>
          <p:cNvSpPr/>
          <p:nvPr/>
        </p:nvSpPr>
        <p:spPr>
          <a:xfrm>
            <a:off x="2326640" y="2933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PO-2026-0118</a:t>
            </a:r>
          </a:p>
        </p:txBody>
      </p:sp>
      <p:sp>
        <p:nvSpPr>
          <p:cNvPr id="496" name="s496"/>
          <p:cNvSpPr/>
          <p:nvPr/>
        </p:nvSpPr>
        <p:spPr>
          <a:xfrm>
            <a:off x="3596640" y="29337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Gbarnga Stationers</a:t>
            </a:r>
          </a:p>
        </p:txBody>
      </p:sp>
      <p:sp>
        <p:nvSpPr>
          <p:cNvPr id="497" name="s497"/>
          <p:cNvSpPr/>
          <p:nvPr/>
        </p:nvSpPr>
        <p:spPr>
          <a:xfrm>
            <a:off x="5552440" y="29337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6 Jan 2026</a:t>
            </a:r>
          </a:p>
        </p:txBody>
      </p:sp>
      <p:sp>
        <p:nvSpPr>
          <p:cNvPr id="498" name="s498"/>
          <p:cNvSpPr/>
          <p:nvPr/>
        </p:nvSpPr>
        <p:spPr>
          <a:xfrm>
            <a:off x="6466840" y="29337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20 Jan 2026</a:t>
            </a:r>
          </a:p>
        </p:txBody>
      </p:sp>
      <p:sp>
        <p:nvSpPr>
          <p:cNvPr id="499" name="s499"/>
          <p:cNvSpPr/>
          <p:nvPr/>
        </p:nvSpPr>
        <p:spPr>
          <a:xfrm>
            <a:off x="7381240" y="29337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</a:t>
            </a:r>
          </a:p>
        </p:txBody>
      </p:sp>
      <p:sp>
        <p:nvSpPr>
          <p:cNvPr id="500" name="s500"/>
          <p:cNvSpPr/>
          <p:nvPr/>
        </p:nvSpPr>
        <p:spPr>
          <a:xfrm>
            <a:off x="7990840" y="29337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660</a:t>
            </a:r>
          </a:p>
        </p:txBody>
      </p:sp>
      <p:sp>
        <p:nvSpPr>
          <p:cNvPr id="501" name="s501"/>
          <p:cNvSpPr/>
          <p:nvPr/>
        </p:nvSpPr>
        <p:spPr>
          <a:xfrm>
            <a:off x="8702040" y="29337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$1,254</a:t>
            </a:r>
          </a:p>
        </p:txBody>
      </p:sp>
      <p:sp>
        <p:nvSpPr>
          <p:cNvPr id="502" name="s502"/>
          <p:cNvSpPr/>
          <p:nvPr/>
        </p:nvSpPr>
        <p:spPr>
          <a:xfrm>
            <a:off x="9616440" y="29337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8A93A0"/>
                </a:solidFill>
                <a:latin typeface="Arial"/>
              </a:rPr>
              <a:t>0</a:t>
            </a:r>
          </a:p>
        </p:txBody>
      </p:sp>
      <p:sp>
        <p:nvSpPr>
          <p:cNvPr id="503" name="s503"/>
          <p:cNvSpPr/>
          <p:nvPr/>
        </p:nvSpPr>
        <p:spPr>
          <a:xfrm>
            <a:off x="10429240" y="29972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4" name="s504"/>
          <p:cNvSpPr/>
          <p:nvPr/>
        </p:nvSpPr>
        <p:spPr>
          <a:xfrm>
            <a:off x="10429240" y="29972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Pending Approval</a:t>
            </a:r>
          </a:p>
        </p:txBody>
      </p:sp>
      <p:sp>
        <p:nvSpPr>
          <p:cNvPr id="505" name="s505"/>
          <p:cNvSpPr/>
          <p:nvPr/>
        </p:nvSpPr>
        <p:spPr>
          <a:xfrm>
            <a:off x="2148840" y="3536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6" name="s506"/>
          <p:cNvSpPr/>
          <p:nvPr/>
        </p:nvSpPr>
        <p:spPr>
          <a:xfrm>
            <a:off x="2148840" y="32766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07" name="s507"/>
          <p:cNvSpPr/>
          <p:nvPr/>
        </p:nvSpPr>
        <p:spPr>
          <a:xfrm>
            <a:off x="2326640" y="3238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PO-2026-0117</a:t>
            </a:r>
          </a:p>
        </p:txBody>
      </p:sp>
      <p:sp>
        <p:nvSpPr>
          <p:cNvPr id="508" name="s508"/>
          <p:cNvSpPr/>
          <p:nvPr/>
        </p:nvSpPr>
        <p:spPr>
          <a:xfrm>
            <a:off x="3596640" y="32385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509" name="s509"/>
          <p:cNvSpPr/>
          <p:nvPr/>
        </p:nvSpPr>
        <p:spPr>
          <a:xfrm>
            <a:off x="5552440" y="32385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5 Jan 2026</a:t>
            </a:r>
          </a:p>
        </p:txBody>
      </p:sp>
      <p:sp>
        <p:nvSpPr>
          <p:cNvPr id="510" name="s510"/>
          <p:cNvSpPr/>
          <p:nvPr/>
        </p:nvSpPr>
        <p:spPr>
          <a:xfrm>
            <a:off x="6466840" y="32385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17 Jan 2026</a:t>
            </a:r>
          </a:p>
        </p:txBody>
      </p:sp>
      <p:sp>
        <p:nvSpPr>
          <p:cNvPr id="511" name="s511"/>
          <p:cNvSpPr/>
          <p:nvPr/>
        </p:nvSpPr>
        <p:spPr>
          <a:xfrm>
            <a:off x="7381240" y="32385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4</a:t>
            </a:r>
          </a:p>
        </p:txBody>
      </p:sp>
      <p:sp>
        <p:nvSpPr>
          <p:cNvPr id="512" name="s512"/>
          <p:cNvSpPr/>
          <p:nvPr/>
        </p:nvSpPr>
        <p:spPr>
          <a:xfrm>
            <a:off x="7990840" y="32385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1,200</a:t>
            </a:r>
          </a:p>
        </p:txBody>
      </p:sp>
      <p:sp>
        <p:nvSpPr>
          <p:cNvPr id="513" name="s513"/>
          <p:cNvSpPr/>
          <p:nvPr/>
        </p:nvSpPr>
        <p:spPr>
          <a:xfrm>
            <a:off x="8702040" y="32385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$3,180</a:t>
            </a:r>
          </a:p>
        </p:txBody>
      </p:sp>
      <p:sp>
        <p:nvSpPr>
          <p:cNvPr id="514" name="s514"/>
          <p:cNvSpPr/>
          <p:nvPr/>
        </p:nvSpPr>
        <p:spPr>
          <a:xfrm>
            <a:off x="9616440" y="3238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740</a:t>
            </a:r>
          </a:p>
        </p:txBody>
      </p:sp>
      <p:sp>
        <p:nvSpPr>
          <p:cNvPr id="515" name="s515"/>
          <p:cNvSpPr/>
          <p:nvPr/>
        </p:nvSpPr>
        <p:spPr>
          <a:xfrm>
            <a:off x="10429240" y="33020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6" name="s516"/>
          <p:cNvSpPr/>
          <p:nvPr/>
        </p:nvSpPr>
        <p:spPr>
          <a:xfrm>
            <a:off x="10429240" y="33020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Partially Received</a:t>
            </a:r>
          </a:p>
        </p:txBody>
      </p:sp>
      <p:sp>
        <p:nvSpPr>
          <p:cNvPr id="517" name="s517"/>
          <p:cNvSpPr/>
          <p:nvPr/>
        </p:nvSpPr>
        <p:spPr>
          <a:xfrm>
            <a:off x="2148840" y="3841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8" name="s518"/>
          <p:cNvSpPr/>
          <p:nvPr/>
        </p:nvSpPr>
        <p:spPr>
          <a:xfrm>
            <a:off x="2148840" y="35814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9" name="s519"/>
          <p:cNvSpPr/>
          <p:nvPr/>
        </p:nvSpPr>
        <p:spPr>
          <a:xfrm>
            <a:off x="2326640" y="35433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PO-2026-0116</a:t>
            </a:r>
          </a:p>
        </p:txBody>
      </p:sp>
      <p:sp>
        <p:nvSpPr>
          <p:cNvPr id="520" name="s520"/>
          <p:cNvSpPr/>
          <p:nvPr/>
        </p:nvSpPr>
        <p:spPr>
          <a:xfrm>
            <a:off x="3596640" y="35433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Atlantic Educational</a:t>
            </a:r>
          </a:p>
        </p:txBody>
      </p:sp>
      <p:sp>
        <p:nvSpPr>
          <p:cNvPr id="521" name="s521"/>
          <p:cNvSpPr/>
          <p:nvPr/>
        </p:nvSpPr>
        <p:spPr>
          <a:xfrm>
            <a:off x="5552440" y="35433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4 Jan 2026</a:t>
            </a:r>
          </a:p>
        </p:txBody>
      </p:sp>
      <p:sp>
        <p:nvSpPr>
          <p:cNvPr id="522" name="s522"/>
          <p:cNvSpPr/>
          <p:nvPr/>
        </p:nvSpPr>
        <p:spPr>
          <a:xfrm>
            <a:off x="6466840" y="35433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18 Feb 2026</a:t>
            </a:r>
          </a:p>
        </p:txBody>
      </p:sp>
      <p:sp>
        <p:nvSpPr>
          <p:cNvPr id="523" name="s523"/>
          <p:cNvSpPr/>
          <p:nvPr/>
        </p:nvSpPr>
        <p:spPr>
          <a:xfrm>
            <a:off x="7381240" y="35433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</a:t>
            </a:r>
          </a:p>
        </p:txBody>
      </p:sp>
      <p:sp>
        <p:nvSpPr>
          <p:cNvPr id="524" name="s524"/>
          <p:cNvSpPr/>
          <p:nvPr/>
        </p:nvSpPr>
        <p:spPr>
          <a:xfrm>
            <a:off x="7990840" y="35433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320</a:t>
            </a:r>
          </a:p>
        </p:txBody>
      </p:sp>
      <p:sp>
        <p:nvSpPr>
          <p:cNvPr id="525" name="s525"/>
          <p:cNvSpPr/>
          <p:nvPr/>
        </p:nvSpPr>
        <p:spPr>
          <a:xfrm>
            <a:off x="8702040" y="35433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$896</a:t>
            </a:r>
          </a:p>
        </p:txBody>
      </p:sp>
      <p:sp>
        <p:nvSpPr>
          <p:cNvPr id="526" name="s526"/>
          <p:cNvSpPr/>
          <p:nvPr/>
        </p:nvSpPr>
        <p:spPr>
          <a:xfrm>
            <a:off x="9616440" y="35433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8A93A0"/>
                </a:solidFill>
                <a:latin typeface="Arial"/>
              </a:rPr>
              <a:t>0</a:t>
            </a:r>
          </a:p>
        </p:txBody>
      </p:sp>
      <p:sp>
        <p:nvSpPr>
          <p:cNvPr id="527" name="s527"/>
          <p:cNvSpPr/>
          <p:nvPr/>
        </p:nvSpPr>
        <p:spPr>
          <a:xfrm>
            <a:off x="10429240" y="36068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8" name="s528"/>
          <p:cNvSpPr/>
          <p:nvPr/>
        </p:nvSpPr>
        <p:spPr>
          <a:xfrm>
            <a:off x="10429240" y="36068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2C6ECB"/>
                </a:solidFill>
                <a:latin typeface="Calibri"/>
              </a:rPr>
              <a:t>Approved</a:t>
            </a:r>
          </a:p>
        </p:txBody>
      </p:sp>
      <p:sp>
        <p:nvSpPr>
          <p:cNvPr id="529" name="s529"/>
          <p:cNvSpPr/>
          <p:nvPr/>
        </p:nvSpPr>
        <p:spPr>
          <a:xfrm>
            <a:off x="2148840" y="4146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0" name="s530"/>
          <p:cNvSpPr/>
          <p:nvPr/>
        </p:nvSpPr>
        <p:spPr>
          <a:xfrm>
            <a:off x="2148840" y="38862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1" name="s531"/>
          <p:cNvSpPr/>
          <p:nvPr/>
        </p:nvSpPr>
        <p:spPr>
          <a:xfrm>
            <a:off x="2326640" y="3848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PO-2026-0115</a:t>
            </a:r>
          </a:p>
        </p:txBody>
      </p:sp>
      <p:sp>
        <p:nvSpPr>
          <p:cNvPr id="532" name="s532"/>
          <p:cNvSpPr/>
          <p:nvPr/>
        </p:nvSpPr>
        <p:spPr>
          <a:xfrm>
            <a:off x="3596640" y="38481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Buchanan Craft Supplies</a:t>
            </a:r>
          </a:p>
        </p:txBody>
      </p:sp>
      <p:sp>
        <p:nvSpPr>
          <p:cNvPr id="533" name="s533"/>
          <p:cNvSpPr/>
          <p:nvPr/>
        </p:nvSpPr>
        <p:spPr>
          <a:xfrm>
            <a:off x="5552440" y="38481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3 Jan 2026</a:t>
            </a:r>
          </a:p>
        </p:txBody>
      </p:sp>
      <p:sp>
        <p:nvSpPr>
          <p:cNvPr id="534" name="s534"/>
          <p:cNvSpPr/>
          <p:nvPr/>
        </p:nvSpPr>
        <p:spPr>
          <a:xfrm>
            <a:off x="6466840" y="38481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15 Jan 2026</a:t>
            </a:r>
          </a:p>
        </p:txBody>
      </p:sp>
      <p:sp>
        <p:nvSpPr>
          <p:cNvPr id="535" name="s535"/>
          <p:cNvSpPr/>
          <p:nvPr/>
        </p:nvSpPr>
        <p:spPr>
          <a:xfrm>
            <a:off x="7381240" y="38481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</a:t>
            </a:r>
          </a:p>
        </p:txBody>
      </p:sp>
      <p:sp>
        <p:nvSpPr>
          <p:cNvPr id="536" name="s536"/>
          <p:cNvSpPr/>
          <p:nvPr/>
        </p:nvSpPr>
        <p:spPr>
          <a:xfrm>
            <a:off x="7990840" y="38481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240</a:t>
            </a:r>
          </a:p>
        </p:txBody>
      </p:sp>
      <p:sp>
        <p:nvSpPr>
          <p:cNvPr id="537" name="s537"/>
          <p:cNvSpPr/>
          <p:nvPr/>
        </p:nvSpPr>
        <p:spPr>
          <a:xfrm>
            <a:off x="8702040" y="38481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$612</a:t>
            </a:r>
          </a:p>
        </p:txBody>
      </p:sp>
      <p:sp>
        <p:nvSpPr>
          <p:cNvPr id="538" name="s538"/>
          <p:cNvSpPr/>
          <p:nvPr/>
        </p:nvSpPr>
        <p:spPr>
          <a:xfrm>
            <a:off x="9616440" y="38481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8A93A0"/>
                </a:solidFill>
                <a:latin typeface="Arial"/>
              </a:rPr>
              <a:t>0</a:t>
            </a:r>
          </a:p>
        </p:txBody>
      </p:sp>
      <p:sp>
        <p:nvSpPr>
          <p:cNvPr id="539" name="s539"/>
          <p:cNvSpPr/>
          <p:nvPr/>
        </p:nvSpPr>
        <p:spPr>
          <a:xfrm>
            <a:off x="10429240" y="39116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0" name="s540"/>
          <p:cNvSpPr/>
          <p:nvPr/>
        </p:nvSpPr>
        <p:spPr>
          <a:xfrm>
            <a:off x="10429240" y="39116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2C6ECB"/>
                </a:solidFill>
                <a:latin typeface="Calibri"/>
              </a:rPr>
              <a:t>Approved</a:t>
            </a:r>
          </a:p>
        </p:txBody>
      </p:sp>
      <p:sp>
        <p:nvSpPr>
          <p:cNvPr id="541" name="s541"/>
          <p:cNvSpPr/>
          <p:nvPr/>
        </p:nvSpPr>
        <p:spPr>
          <a:xfrm>
            <a:off x="2148840" y="4451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2" name="s542"/>
          <p:cNvSpPr/>
          <p:nvPr/>
        </p:nvSpPr>
        <p:spPr>
          <a:xfrm>
            <a:off x="2148840" y="4191000"/>
            <a:ext cx="25400" cy="2286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3" name="s543"/>
          <p:cNvSpPr/>
          <p:nvPr/>
        </p:nvSpPr>
        <p:spPr>
          <a:xfrm>
            <a:off x="2326640" y="4152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PO-2026-0114</a:t>
            </a:r>
          </a:p>
        </p:txBody>
      </p:sp>
      <p:sp>
        <p:nvSpPr>
          <p:cNvPr id="544" name="s544"/>
          <p:cNvSpPr/>
          <p:nvPr/>
        </p:nvSpPr>
        <p:spPr>
          <a:xfrm>
            <a:off x="3596640" y="41529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Monrovia Print Works</a:t>
            </a:r>
          </a:p>
        </p:txBody>
      </p:sp>
      <p:sp>
        <p:nvSpPr>
          <p:cNvPr id="545" name="s545"/>
          <p:cNvSpPr/>
          <p:nvPr/>
        </p:nvSpPr>
        <p:spPr>
          <a:xfrm>
            <a:off x="5552440" y="4152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 Jan 2026</a:t>
            </a:r>
          </a:p>
        </p:txBody>
      </p:sp>
      <p:sp>
        <p:nvSpPr>
          <p:cNvPr id="546" name="s546"/>
          <p:cNvSpPr/>
          <p:nvPr/>
        </p:nvSpPr>
        <p:spPr>
          <a:xfrm>
            <a:off x="6466840" y="4152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14 Jan 2026</a:t>
            </a:r>
          </a:p>
        </p:txBody>
      </p:sp>
      <p:sp>
        <p:nvSpPr>
          <p:cNvPr id="547" name="s547"/>
          <p:cNvSpPr/>
          <p:nvPr/>
        </p:nvSpPr>
        <p:spPr>
          <a:xfrm>
            <a:off x="7381240" y="41529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3</a:t>
            </a:r>
          </a:p>
        </p:txBody>
      </p:sp>
      <p:sp>
        <p:nvSpPr>
          <p:cNvPr id="548" name="s548"/>
          <p:cNvSpPr/>
          <p:nvPr/>
        </p:nvSpPr>
        <p:spPr>
          <a:xfrm>
            <a:off x="7990840" y="41529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900</a:t>
            </a:r>
          </a:p>
        </p:txBody>
      </p:sp>
      <p:sp>
        <p:nvSpPr>
          <p:cNvPr id="549" name="s549"/>
          <p:cNvSpPr/>
          <p:nvPr/>
        </p:nvSpPr>
        <p:spPr>
          <a:xfrm>
            <a:off x="8702040" y="4152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$1,620</a:t>
            </a:r>
          </a:p>
        </p:txBody>
      </p:sp>
      <p:sp>
        <p:nvSpPr>
          <p:cNvPr id="550" name="s550"/>
          <p:cNvSpPr/>
          <p:nvPr/>
        </p:nvSpPr>
        <p:spPr>
          <a:xfrm>
            <a:off x="9616440" y="41529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8A93A0"/>
                </a:solidFill>
                <a:latin typeface="Arial"/>
              </a:rPr>
              <a:t>0</a:t>
            </a:r>
          </a:p>
        </p:txBody>
      </p:sp>
      <p:sp>
        <p:nvSpPr>
          <p:cNvPr id="551" name="s551"/>
          <p:cNvSpPr/>
          <p:nvPr/>
        </p:nvSpPr>
        <p:spPr>
          <a:xfrm>
            <a:off x="10429240" y="42164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2C6ECB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2" name="s552"/>
          <p:cNvSpPr/>
          <p:nvPr/>
        </p:nvSpPr>
        <p:spPr>
          <a:xfrm>
            <a:off x="10429240" y="42164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2C6ECB"/>
                </a:solidFill>
                <a:latin typeface="Calibri"/>
              </a:rPr>
              <a:t>Approved</a:t>
            </a:r>
          </a:p>
        </p:txBody>
      </p:sp>
      <p:sp>
        <p:nvSpPr>
          <p:cNvPr id="553" name="s553"/>
          <p:cNvSpPr/>
          <p:nvPr/>
        </p:nvSpPr>
        <p:spPr>
          <a:xfrm>
            <a:off x="2148840" y="47561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4" name="s554"/>
          <p:cNvSpPr/>
          <p:nvPr/>
        </p:nvSpPr>
        <p:spPr>
          <a:xfrm>
            <a:off x="2148840" y="4495800"/>
            <a:ext cx="25400" cy="228600"/>
          </a:xfrm>
          <a:prstGeom prst="rect">
            <a:avLst/>
          </a:prstGeom>
          <a:solidFill>
            <a:srgbClr val="D08700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5" name="s555"/>
          <p:cNvSpPr/>
          <p:nvPr/>
        </p:nvSpPr>
        <p:spPr>
          <a:xfrm>
            <a:off x="2326640" y="44577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PO-2026-0113</a:t>
            </a:r>
          </a:p>
        </p:txBody>
      </p:sp>
      <p:sp>
        <p:nvSpPr>
          <p:cNvPr id="556" name="s556"/>
          <p:cNvSpPr/>
          <p:nvPr/>
        </p:nvSpPr>
        <p:spPr>
          <a:xfrm>
            <a:off x="3596640" y="44577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557" name="s557"/>
          <p:cNvSpPr/>
          <p:nvPr/>
        </p:nvSpPr>
        <p:spPr>
          <a:xfrm>
            <a:off x="5552440" y="44577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 Jan 2026</a:t>
            </a:r>
          </a:p>
        </p:txBody>
      </p:sp>
      <p:sp>
        <p:nvSpPr>
          <p:cNvPr id="558" name="s558"/>
          <p:cNvSpPr/>
          <p:nvPr/>
        </p:nvSpPr>
        <p:spPr>
          <a:xfrm>
            <a:off x="6466840" y="44577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12 Jan 2026</a:t>
            </a:r>
          </a:p>
        </p:txBody>
      </p:sp>
      <p:sp>
        <p:nvSpPr>
          <p:cNvPr id="559" name="s559"/>
          <p:cNvSpPr/>
          <p:nvPr/>
        </p:nvSpPr>
        <p:spPr>
          <a:xfrm>
            <a:off x="7381240" y="44577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1</a:t>
            </a:r>
          </a:p>
        </p:txBody>
      </p:sp>
      <p:sp>
        <p:nvSpPr>
          <p:cNvPr id="560" name="s560"/>
          <p:cNvSpPr/>
          <p:nvPr/>
        </p:nvSpPr>
        <p:spPr>
          <a:xfrm>
            <a:off x="7990840" y="44577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180</a:t>
            </a:r>
          </a:p>
        </p:txBody>
      </p:sp>
      <p:sp>
        <p:nvSpPr>
          <p:cNvPr id="561" name="s561"/>
          <p:cNvSpPr/>
          <p:nvPr/>
        </p:nvSpPr>
        <p:spPr>
          <a:xfrm>
            <a:off x="8702040" y="44577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$378</a:t>
            </a:r>
          </a:p>
        </p:txBody>
      </p:sp>
      <p:sp>
        <p:nvSpPr>
          <p:cNvPr id="562" name="s562"/>
          <p:cNvSpPr/>
          <p:nvPr/>
        </p:nvSpPr>
        <p:spPr>
          <a:xfrm>
            <a:off x="9616440" y="44577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8A93A0"/>
                </a:solidFill>
                <a:latin typeface="Arial"/>
              </a:rPr>
              <a:t>0</a:t>
            </a:r>
          </a:p>
        </p:txBody>
      </p:sp>
      <p:sp>
        <p:nvSpPr>
          <p:cNvPr id="563" name="s563"/>
          <p:cNvSpPr/>
          <p:nvPr/>
        </p:nvSpPr>
        <p:spPr>
          <a:xfrm>
            <a:off x="10429240" y="45212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D08700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4" name="s564"/>
          <p:cNvSpPr/>
          <p:nvPr/>
        </p:nvSpPr>
        <p:spPr>
          <a:xfrm>
            <a:off x="10429240" y="45212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D08700"/>
                </a:solidFill>
                <a:latin typeface="Calibri"/>
              </a:rPr>
              <a:t>Pending Approval</a:t>
            </a:r>
          </a:p>
        </p:txBody>
      </p:sp>
      <p:sp>
        <p:nvSpPr>
          <p:cNvPr id="565" name="s565"/>
          <p:cNvSpPr/>
          <p:nvPr/>
        </p:nvSpPr>
        <p:spPr>
          <a:xfrm>
            <a:off x="2148840" y="50609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6" name="s566"/>
          <p:cNvSpPr/>
          <p:nvPr/>
        </p:nvSpPr>
        <p:spPr>
          <a:xfrm>
            <a:off x="2148840" y="4800600"/>
            <a:ext cx="25400" cy="2286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7" name="s567"/>
          <p:cNvSpPr/>
          <p:nvPr/>
        </p:nvSpPr>
        <p:spPr>
          <a:xfrm>
            <a:off x="2326640" y="47625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PO-2025-0112</a:t>
            </a:r>
          </a:p>
        </p:txBody>
      </p:sp>
      <p:sp>
        <p:nvSpPr>
          <p:cNvPr id="568" name="s568"/>
          <p:cNvSpPr/>
          <p:nvPr/>
        </p:nvSpPr>
        <p:spPr>
          <a:xfrm>
            <a:off x="3596640" y="47625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Voinjama Trading Co.</a:t>
            </a:r>
          </a:p>
        </p:txBody>
      </p:sp>
      <p:sp>
        <p:nvSpPr>
          <p:cNvPr id="569" name="s569"/>
          <p:cNvSpPr/>
          <p:nvPr/>
        </p:nvSpPr>
        <p:spPr>
          <a:xfrm>
            <a:off x="5552440" y="47625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30 Dec 2025</a:t>
            </a:r>
          </a:p>
        </p:txBody>
      </p:sp>
      <p:sp>
        <p:nvSpPr>
          <p:cNvPr id="570" name="s570"/>
          <p:cNvSpPr/>
          <p:nvPr/>
        </p:nvSpPr>
        <p:spPr>
          <a:xfrm>
            <a:off x="6466840" y="47625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13 Jan 2026</a:t>
            </a:r>
          </a:p>
        </p:txBody>
      </p:sp>
      <p:sp>
        <p:nvSpPr>
          <p:cNvPr id="571" name="s571"/>
          <p:cNvSpPr/>
          <p:nvPr/>
        </p:nvSpPr>
        <p:spPr>
          <a:xfrm>
            <a:off x="7381240" y="47625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</a:t>
            </a:r>
          </a:p>
        </p:txBody>
      </p:sp>
      <p:sp>
        <p:nvSpPr>
          <p:cNvPr id="572" name="s572"/>
          <p:cNvSpPr/>
          <p:nvPr/>
        </p:nvSpPr>
        <p:spPr>
          <a:xfrm>
            <a:off x="7990840" y="47625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140</a:t>
            </a:r>
          </a:p>
        </p:txBody>
      </p:sp>
      <p:sp>
        <p:nvSpPr>
          <p:cNvPr id="573" name="s573"/>
          <p:cNvSpPr/>
          <p:nvPr/>
        </p:nvSpPr>
        <p:spPr>
          <a:xfrm>
            <a:off x="8702040" y="47625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$364</a:t>
            </a:r>
          </a:p>
        </p:txBody>
      </p:sp>
      <p:sp>
        <p:nvSpPr>
          <p:cNvPr id="574" name="s574"/>
          <p:cNvSpPr/>
          <p:nvPr/>
        </p:nvSpPr>
        <p:spPr>
          <a:xfrm>
            <a:off x="9616440" y="4762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8A93A0"/>
                </a:solidFill>
                <a:latin typeface="Arial"/>
              </a:rPr>
              <a:t>0</a:t>
            </a:r>
          </a:p>
        </p:txBody>
      </p:sp>
      <p:sp>
        <p:nvSpPr>
          <p:cNvPr id="575" name="s575"/>
          <p:cNvSpPr/>
          <p:nvPr/>
        </p:nvSpPr>
        <p:spPr>
          <a:xfrm>
            <a:off x="10429240" y="48260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B3261E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6" name="s576"/>
          <p:cNvSpPr/>
          <p:nvPr/>
        </p:nvSpPr>
        <p:spPr>
          <a:xfrm>
            <a:off x="10429240" y="48260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B3261E"/>
                </a:solidFill>
                <a:latin typeface="Calibri"/>
              </a:rPr>
              <a:t>Cancelled</a:t>
            </a:r>
          </a:p>
        </p:txBody>
      </p:sp>
      <p:sp>
        <p:nvSpPr>
          <p:cNvPr id="577" name="s577"/>
          <p:cNvSpPr/>
          <p:nvPr/>
        </p:nvSpPr>
        <p:spPr>
          <a:xfrm>
            <a:off x="2148840" y="53657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8" name="s578"/>
          <p:cNvSpPr/>
          <p:nvPr/>
        </p:nvSpPr>
        <p:spPr>
          <a:xfrm>
            <a:off x="2148840" y="51054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79" name="s579"/>
          <p:cNvSpPr/>
          <p:nvPr/>
        </p:nvSpPr>
        <p:spPr>
          <a:xfrm>
            <a:off x="2326640" y="50673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PO-2025-0109</a:t>
            </a:r>
          </a:p>
        </p:txBody>
      </p:sp>
      <p:sp>
        <p:nvSpPr>
          <p:cNvPr id="580" name="s580"/>
          <p:cNvSpPr/>
          <p:nvPr/>
        </p:nvSpPr>
        <p:spPr>
          <a:xfrm>
            <a:off x="3596640" y="50673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581" name="s581"/>
          <p:cNvSpPr/>
          <p:nvPr/>
        </p:nvSpPr>
        <p:spPr>
          <a:xfrm>
            <a:off x="5552440" y="50673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27 Dec 2025</a:t>
            </a:r>
          </a:p>
        </p:txBody>
      </p:sp>
      <p:sp>
        <p:nvSpPr>
          <p:cNvPr id="582" name="s582"/>
          <p:cNvSpPr/>
          <p:nvPr/>
        </p:nvSpPr>
        <p:spPr>
          <a:xfrm>
            <a:off x="6466840" y="50673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8 Jan 2026</a:t>
            </a:r>
          </a:p>
        </p:txBody>
      </p:sp>
      <p:sp>
        <p:nvSpPr>
          <p:cNvPr id="583" name="s583"/>
          <p:cNvSpPr/>
          <p:nvPr/>
        </p:nvSpPr>
        <p:spPr>
          <a:xfrm>
            <a:off x="7381240" y="50673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3</a:t>
            </a:r>
          </a:p>
        </p:txBody>
      </p:sp>
      <p:sp>
        <p:nvSpPr>
          <p:cNvPr id="584" name="s584"/>
          <p:cNvSpPr/>
          <p:nvPr/>
        </p:nvSpPr>
        <p:spPr>
          <a:xfrm>
            <a:off x="7990840" y="50673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800</a:t>
            </a:r>
          </a:p>
        </p:txBody>
      </p:sp>
      <p:sp>
        <p:nvSpPr>
          <p:cNvPr id="585" name="s585"/>
          <p:cNvSpPr/>
          <p:nvPr/>
        </p:nvSpPr>
        <p:spPr>
          <a:xfrm>
            <a:off x="8702040" y="50673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$1,680</a:t>
            </a:r>
          </a:p>
        </p:txBody>
      </p:sp>
      <p:sp>
        <p:nvSpPr>
          <p:cNvPr id="586" name="s586"/>
          <p:cNvSpPr/>
          <p:nvPr/>
        </p:nvSpPr>
        <p:spPr>
          <a:xfrm>
            <a:off x="9616440" y="50673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800</a:t>
            </a:r>
          </a:p>
        </p:txBody>
      </p:sp>
      <p:sp>
        <p:nvSpPr>
          <p:cNvPr id="587" name="s587"/>
          <p:cNvSpPr/>
          <p:nvPr/>
        </p:nvSpPr>
        <p:spPr>
          <a:xfrm>
            <a:off x="10429240" y="51308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8" name="s588"/>
          <p:cNvSpPr/>
          <p:nvPr/>
        </p:nvSpPr>
        <p:spPr>
          <a:xfrm>
            <a:off x="10429240" y="51308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Received</a:t>
            </a:r>
          </a:p>
        </p:txBody>
      </p:sp>
      <p:sp>
        <p:nvSpPr>
          <p:cNvPr id="589" name="s589"/>
          <p:cNvSpPr/>
          <p:nvPr/>
        </p:nvSpPr>
        <p:spPr>
          <a:xfrm>
            <a:off x="2148840" y="56705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0" name="s590"/>
          <p:cNvSpPr/>
          <p:nvPr/>
        </p:nvSpPr>
        <p:spPr>
          <a:xfrm>
            <a:off x="2148840" y="54102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1" name="s591"/>
          <p:cNvSpPr/>
          <p:nvPr/>
        </p:nvSpPr>
        <p:spPr>
          <a:xfrm>
            <a:off x="2326640" y="53721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PO-2025-0106</a:t>
            </a:r>
          </a:p>
        </p:txBody>
      </p:sp>
      <p:sp>
        <p:nvSpPr>
          <p:cNvPr id="592" name="s592"/>
          <p:cNvSpPr/>
          <p:nvPr/>
        </p:nvSpPr>
        <p:spPr>
          <a:xfrm>
            <a:off x="3596640" y="53721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Gbarnga Stationers</a:t>
            </a:r>
          </a:p>
        </p:txBody>
      </p:sp>
      <p:sp>
        <p:nvSpPr>
          <p:cNvPr id="593" name="s593"/>
          <p:cNvSpPr/>
          <p:nvPr/>
        </p:nvSpPr>
        <p:spPr>
          <a:xfrm>
            <a:off x="5552440" y="53721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22 Dec 2025</a:t>
            </a:r>
          </a:p>
        </p:txBody>
      </p:sp>
      <p:sp>
        <p:nvSpPr>
          <p:cNvPr id="594" name="s594"/>
          <p:cNvSpPr/>
          <p:nvPr/>
        </p:nvSpPr>
        <p:spPr>
          <a:xfrm>
            <a:off x="6466840" y="53721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5 Jan 2026</a:t>
            </a:r>
          </a:p>
        </p:txBody>
      </p:sp>
      <p:sp>
        <p:nvSpPr>
          <p:cNvPr id="595" name="s595"/>
          <p:cNvSpPr/>
          <p:nvPr/>
        </p:nvSpPr>
        <p:spPr>
          <a:xfrm>
            <a:off x="7381240" y="53721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</a:t>
            </a:r>
          </a:p>
        </p:txBody>
      </p:sp>
      <p:sp>
        <p:nvSpPr>
          <p:cNvPr id="596" name="s596"/>
          <p:cNvSpPr/>
          <p:nvPr/>
        </p:nvSpPr>
        <p:spPr>
          <a:xfrm>
            <a:off x="7990840" y="53721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520</a:t>
            </a:r>
          </a:p>
        </p:txBody>
      </p:sp>
      <p:sp>
        <p:nvSpPr>
          <p:cNvPr id="597" name="s597"/>
          <p:cNvSpPr/>
          <p:nvPr/>
        </p:nvSpPr>
        <p:spPr>
          <a:xfrm>
            <a:off x="8702040" y="53721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$988</a:t>
            </a:r>
          </a:p>
        </p:txBody>
      </p:sp>
      <p:sp>
        <p:nvSpPr>
          <p:cNvPr id="598" name="s598"/>
          <p:cNvSpPr/>
          <p:nvPr/>
        </p:nvSpPr>
        <p:spPr>
          <a:xfrm>
            <a:off x="9616440" y="53721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520</a:t>
            </a:r>
          </a:p>
        </p:txBody>
      </p:sp>
      <p:sp>
        <p:nvSpPr>
          <p:cNvPr id="599" name="s599"/>
          <p:cNvSpPr/>
          <p:nvPr/>
        </p:nvSpPr>
        <p:spPr>
          <a:xfrm>
            <a:off x="10429240" y="54356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0" name="s600"/>
          <p:cNvSpPr/>
          <p:nvPr/>
        </p:nvSpPr>
        <p:spPr>
          <a:xfrm>
            <a:off x="10429240" y="54356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Received</a:t>
            </a:r>
          </a:p>
        </p:txBody>
      </p:sp>
      <p:sp>
        <p:nvSpPr>
          <p:cNvPr id="601" name="s601"/>
          <p:cNvSpPr/>
          <p:nvPr/>
        </p:nvSpPr>
        <p:spPr>
          <a:xfrm>
            <a:off x="2148840" y="5975350"/>
            <a:ext cx="9784080" cy="635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2" name="s602"/>
          <p:cNvSpPr/>
          <p:nvPr/>
        </p:nvSpPr>
        <p:spPr>
          <a:xfrm>
            <a:off x="2148840" y="5715000"/>
            <a:ext cx="25400" cy="228600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3" name="s603"/>
          <p:cNvSpPr/>
          <p:nvPr/>
        </p:nvSpPr>
        <p:spPr>
          <a:xfrm>
            <a:off x="2326640" y="56769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50" b="1" spc="0" dirty="0">
                <a:solidFill>
                  <a:srgbClr val="2559A8"/>
                </a:solidFill>
                <a:latin typeface="Arial"/>
              </a:rPr>
              <a:t>PO-2025-0101</a:t>
            </a:r>
          </a:p>
        </p:txBody>
      </p:sp>
      <p:sp>
        <p:nvSpPr>
          <p:cNvPr id="604" name="s604"/>
          <p:cNvSpPr/>
          <p:nvPr/>
        </p:nvSpPr>
        <p:spPr>
          <a:xfrm>
            <a:off x="3596640" y="56769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0" spc="0" dirty="0">
                <a:solidFill>
                  <a:srgbClr val="10141A"/>
                </a:solidFill>
                <a:latin typeface="Calibri"/>
              </a:rPr>
              <a:t>Kakata Paper Mills</a:t>
            </a:r>
          </a:p>
        </p:txBody>
      </p:sp>
      <p:sp>
        <p:nvSpPr>
          <p:cNvPr id="605" name="s605"/>
          <p:cNvSpPr/>
          <p:nvPr/>
        </p:nvSpPr>
        <p:spPr>
          <a:xfrm>
            <a:off x="5552440" y="5676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8 Dec 2025</a:t>
            </a:r>
          </a:p>
        </p:txBody>
      </p:sp>
      <p:sp>
        <p:nvSpPr>
          <p:cNvPr id="606" name="s606"/>
          <p:cNvSpPr/>
          <p:nvPr/>
        </p:nvSpPr>
        <p:spPr>
          <a:xfrm>
            <a:off x="6466840" y="5676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20 Dec 2025</a:t>
            </a:r>
          </a:p>
        </p:txBody>
      </p:sp>
      <p:sp>
        <p:nvSpPr>
          <p:cNvPr id="607" name="s607"/>
          <p:cNvSpPr/>
          <p:nvPr/>
        </p:nvSpPr>
        <p:spPr>
          <a:xfrm>
            <a:off x="7381240" y="56769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5B6572"/>
                </a:solidFill>
                <a:latin typeface="Arial"/>
              </a:rPr>
              <a:t>2</a:t>
            </a:r>
          </a:p>
        </p:txBody>
      </p:sp>
      <p:sp>
        <p:nvSpPr>
          <p:cNvPr id="608" name="s608"/>
          <p:cNvSpPr/>
          <p:nvPr/>
        </p:nvSpPr>
        <p:spPr>
          <a:xfrm>
            <a:off x="7990840" y="56769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0" spc="0" dirty="0">
                <a:solidFill>
                  <a:srgbClr val="10141A"/>
                </a:solidFill>
                <a:latin typeface="Arial"/>
              </a:rPr>
              <a:t>640</a:t>
            </a:r>
          </a:p>
        </p:txBody>
      </p:sp>
      <p:sp>
        <p:nvSpPr>
          <p:cNvPr id="609" name="s609"/>
          <p:cNvSpPr/>
          <p:nvPr/>
        </p:nvSpPr>
        <p:spPr>
          <a:xfrm>
            <a:off x="8702040" y="5676900"/>
            <a:ext cx="86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0141A"/>
                </a:solidFill>
                <a:latin typeface="Arial"/>
              </a:rPr>
              <a:t>$1,344</a:t>
            </a:r>
          </a:p>
        </p:txBody>
      </p:sp>
      <p:sp>
        <p:nvSpPr>
          <p:cNvPr id="610" name="s610"/>
          <p:cNvSpPr/>
          <p:nvPr/>
        </p:nvSpPr>
        <p:spPr>
          <a:xfrm>
            <a:off x="9616440" y="56769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000" b="1" spc="0" dirty="0">
                <a:solidFill>
                  <a:srgbClr val="1E8E5A"/>
                </a:solidFill>
                <a:latin typeface="Arial"/>
              </a:rPr>
              <a:t>640</a:t>
            </a:r>
          </a:p>
        </p:txBody>
      </p:sp>
      <p:sp>
        <p:nvSpPr>
          <p:cNvPr id="611" name="s611"/>
          <p:cNvSpPr/>
          <p:nvPr/>
        </p:nvSpPr>
        <p:spPr>
          <a:xfrm>
            <a:off x="10429240" y="5740400"/>
            <a:ext cx="1320800" cy="190500"/>
          </a:xfrm>
          <a:prstGeom prst="roundRect">
            <a:avLst>
              <a:gd name="adj" fmla="val 26000"/>
            </a:avLst>
          </a:prstGeom>
          <a:solidFill>
            <a:srgbClr val="1E8E5A">
              <a:alpha val="12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2" name="s612"/>
          <p:cNvSpPr/>
          <p:nvPr/>
        </p:nvSpPr>
        <p:spPr>
          <a:xfrm>
            <a:off x="10429240" y="5740400"/>
            <a:ext cx="1320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50" b="1" spc="0" dirty="0">
                <a:solidFill>
                  <a:srgbClr val="1E8E5A"/>
                </a:solidFill>
                <a:latin typeface="Calibri"/>
              </a:rPr>
              <a:t>Received</a:t>
            </a:r>
          </a:p>
        </p:txBody>
      </p:sp>
      <p:sp>
        <p:nvSpPr>
          <p:cNvPr id="613" name="s613"/>
          <p:cNvSpPr/>
          <p:nvPr/>
        </p:nvSpPr>
        <p:spPr>
          <a:xfrm>
            <a:off x="2326640" y="6070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0" spc="0" dirty="0">
                <a:solidFill>
                  <a:srgbClr val="5B6572"/>
                </a:solidFill>
                <a:latin typeface="Calibri"/>
              </a:rPr>
              <a:t>Showing 11 of 38 purchase orders  ·  sorted by date raised</a:t>
            </a:r>
          </a:p>
        </p:txBody>
      </p:sp>
      <p:sp>
        <p:nvSpPr>
          <p:cNvPr id="614" name="s614"/>
          <p:cNvSpPr/>
          <p:nvPr/>
        </p:nvSpPr>
        <p:spPr>
          <a:xfrm>
            <a:off x="10883900" y="60198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5" name="s615"/>
          <p:cNvSpPr/>
          <p:nvPr/>
        </p:nvSpPr>
        <p:spPr>
          <a:xfrm>
            <a:off x="10883900" y="60198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4</a:t>
            </a:r>
          </a:p>
        </p:txBody>
      </p:sp>
      <p:sp>
        <p:nvSpPr>
          <p:cNvPr id="616" name="s616"/>
          <p:cNvSpPr/>
          <p:nvPr/>
        </p:nvSpPr>
        <p:spPr>
          <a:xfrm>
            <a:off x="10591800" y="60198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7" name="s617"/>
          <p:cNvSpPr/>
          <p:nvPr/>
        </p:nvSpPr>
        <p:spPr>
          <a:xfrm>
            <a:off x="10591800" y="60198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…</a:t>
            </a:r>
          </a:p>
        </p:txBody>
      </p:sp>
      <p:sp>
        <p:nvSpPr>
          <p:cNvPr id="618" name="s618"/>
          <p:cNvSpPr/>
          <p:nvPr/>
        </p:nvSpPr>
        <p:spPr>
          <a:xfrm>
            <a:off x="10299700" y="60198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19" name="s619"/>
          <p:cNvSpPr/>
          <p:nvPr/>
        </p:nvSpPr>
        <p:spPr>
          <a:xfrm>
            <a:off x="10299700" y="60198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3</a:t>
            </a:r>
          </a:p>
        </p:txBody>
      </p:sp>
      <p:sp>
        <p:nvSpPr>
          <p:cNvPr id="620" name="s620"/>
          <p:cNvSpPr/>
          <p:nvPr/>
        </p:nvSpPr>
        <p:spPr>
          <a:xfrm>
            <a:off x="10007600" y="60198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1" name="s621"/>
          <p:cNvSpPr/>
          <p:nvPr/>
        </p:nvSpPr>
        <p:spPr>
          <a:xfrm>
            <a:off x="10007600" y="60198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5B6572"/>
                </a:solidFill>
                <a:latin typeface="Calibri"/>
              </a:rPr>
              <a:t>2</a:t>
            </a:r>
          </a:p>
        </p:txBody>
      </p:sp>
      <p:sp>
        <p:nvSpPr>
          <p:cNvPr id="622" name="s622"/>
          <p:cNvSpPr/>
          <p:nvPr/>
        </p:nvSpPr>
        <p:spPr>
          <a:xfrm>
            <a:off x="9715500" y="6019800"/>
            <a:ext cx="228600" cy="254000"/>
          </a:xfrm>
          <a:prstGeom prst="roundRect">
            <a:avLst>
              <a:gd name="adj" fmla="val 14000"/>
            </a:avLst>
          </a:prstGeom>
          <a:solidFill>
            <a:srgbClr val="2559A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3" name="s623"/>
          <p:cNvSpPr/>
          <p:nvPr/>
        </p:nvSpPr>
        <p:spPr>
          <a:xfrm>
            <a:off x="9715500" y="6019800"/>
            <a:ext cx="22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850" b="1" spc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24" name="s624"/>
          <p:cNvSpPr/>
          <p:nvPr/>
        </p:nvSpPr>
        <p:spPr>
          <a:xfrm>
            <a:off x="11379200" y="6019800"/>
            <a:ext cx="368300" cy="254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1" spc="0" dirty="0">
                <a:solidFill>
                  <a:srgbClr val="2559A8"/>
                </a:solidFill>
                <a:latin typeface="Calibri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53382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86134708705]">
  <a:themeElements>
    <a:clrScheme name="Office">
      <a:dk1>
        <a:srgbClr val="10141A"/>
      </a:dk1>
      <a:lt1>
        <a:srgbClr val="F6F7F9"/>
      </a:lt1>
      <a:dk2>
        <a:srgbClr val="0E2C2A"/>
      </a:dk2>
      <a:lt2>
        <a:srgbClr val="F0F2F5"/>
      </a:lt2>
      <a:accent1>
        <a:srgbClr val="12564E"/>
      </a:accent1>
      <a:accent2>
        <a:srgbClr val="4E9E8F"/>
      </a:accent2>
      <a:accent3>
        <a:srgbClr val="9DC7BE"/>
      </a:accent3>
      <a:accent4>
        <a:srgbClr val="D08700"/>
      </a:accent4>
      <a:accent5>
        <a:srgbClr val="B3261E"/>
      </a:accent5>
      <a:accent6>
        <a:srgbClr val="2C6ECB"/>
      </a:accent6>
      <a:hlink>
        <a:srgbClr val="467886"/>
      </a:hlink>
      <a:folHlink>
        <a:srgbClr val="96607D"/>
      </a:folHlink>
    </a:clrScheme>
    <a:fontScheme name="Office">
      <a:majorFont>
        <a:latin typeface="Cambr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 [1786135798130]">
  <a:themeElements>
    <a:clrScheme name="Office">
      <a:dk1>
        <a:srgbClr val="10141A"/>
      </a:dk1>
      <a:lt1>
        <a:srgbClr val="F6F7F9"/>
      </a:lt1>
      <a:dk2>
        <a:srgbClr val="0E2C2A"/>
      </a:dk2>
      <a:lt2>
        <a:srgbClr val="F0F2F5"/>
      </a:lt2>
      <a:accent1>
        <a:srgbClr val="12564E"/>
      </a:accent1>
      <a:accent2>
        <a:srgbClr val="4E9E8F"/>
      </a:accent2>
      <a:accent3>
        <a:srgbClr val="9DC7BE"/>
      </a:accent3>
      <a:accent4>
        <a:srgbClr val="D08700"/>
      </a:accent4>
      <a:accent5>
        <a:srgbClr val="B3261E"/>
      </a:accent5>
      <a:accent6>
        <a:srgbClr val="2C6ECB"/>
      </a:accent6>
      <a:hlink>
        <a:srgbClr val="467886"/>
      </a:hlink>
      <a:folHlink>
        <a:srgbClr val="96607D"/>
      </a:folHlink>
    </a:clrScheme>
    <a:fontScheme name="Office">
      <a:majorFont>
        <a:latin typeface="Cambr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 [1786154812144]">
  <a:themeElements>
    <a:clrScheme name="Office">
      <a:dk1>
        <a:srgbClr val="10141A"/>
      </a:dk1>
      <a:lt1>
        <a:srgbClr val="F6F7F9"/>
      </a:lt1>
      <a:dk2>
        <a:srgbClr val="14304F"/>
      </a:dk2>
      <a:lt2>
        <a:srgbClr val="F0F2F5"/>
      </a:lt2>
      <a:accent1>
        <a:srgbClr val="2559A8"/>
      </a:accent1>
      <a:accent2>
        <a:srgbClr val="24AA9D"/>
      </a:accent2>
      <a:accent3>
        <a:srgbClr val="65C1BA"/>
      </a:accent3>
      <a:accent4>
        <a:srgbClr val="D08700"/>
      </a:accent4>
      <a:accent5>
        <a:srgbClr val="B3261E"/>
      </a:accent5>
      <a:accent6>
        <a:srgbClr val="2C6ECB"/>
      </a:accent6>
      <a:hlink>
        <a:srgbClr val="467886"/>
      </a:hlink>
      <a:folHlink>
        <a:srgbClr val="96607D"/>
      </a:folHlink>
    </a:clrScheme>
    <a:fontScheme name="Office">
      <a:majorFont>
        <a:latin typeface="Cambr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F259525-A386-4B5D-83CC-2C2E5AFFAA1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6c1ba17-08e8-4147-a07a-82b1aff593d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1B47932-1CDD-434F-84F2-2417FB5EE061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f7d34300-850e-4ad1-a0d7-1cf78e5caf9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7016</Words>
  <Application>Microsoft Office PowerPoint</Application>
  <PresentationFormat>Widescreen</PresentationFormat>
  <Paragraphs>3219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Cambria</vt:lpstr>
      <vt:lpstr>Office Theme</vt:lpstr>
      <vt:lpstr>Office Theme [1786134708705]</vt:lpstr>
      <vt:lpstr>Office Theme</vt:lpstr>
      <vt:lpstr>Office Theme [1786135798130]</vt:lpstr>
      <vt:lpstr>Office Theme [1786154812144]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Tahlo Kpui</dc:creator>
  <cp:lastModifiedBy>Alexander Tahlo Kpui</cp:lastModifiedBy>
  <cp:revision>6</cp:revision>
  <dcterms:created xsi:type="dcterms:W3CDTF">2026-08-07T15:50:23Z</dcterms:created>
  <dcterms:modified xsi:type="dcterms:W3CDTF">2026-08-08T02:47:47Z</dcterms:modified>
</cp:coreProperties>
</file>